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1e71196f82349d4" /><Relationship Type="http://schemas.openxmlformats.org/officeDocument/2006/relationships/extended-properties" Target="/docProps/app.xml" Id="R7b4c28c881a9446f" /><Relationship Type="http://schemas.openxmlformats.org/officeDocument/2006/relationships/officeDocument" Target="/ppt/presentation.xml" Id="R994d7de299bd498e" /></Relationships>
</file>

<file path=ppt/presentation.xml><?xml version="1.0" encoding="utf-8"?>
<p:presentation xmlns:p="http://schemas.openxmlformats.org/presentationml/2006/main">
  <p:sldMasterIdLst>
    <p:sldMasterId xmlns:r="http://schemas.openxmlformats.org/officeDocument/2006/relationships" id="2147483648" r:id="Re0e5654751a44434"/>
  </p:sldMasterIdLst>
  <p:notesMasterIdLst>
    <p:notesMasterId xmlns:r="http://schemas.openxmlformats.org/officeDocument/2006/relationships" r:id="R9594dc42b8374b02"/>
  </p:notesMasterIdLst>
  <p:sldIdLst>
    <p:sldId xmlns:r="http://schemas.openxmlformats.org/officeDocument/2006/relationships" id="256" r:id="Rd80115d0bed544f0"/>
    <p:sldId xmlns:r="http://schemas.openxmlformats.org/officeDocument/2006/relationships" id="257" r:id="R16b2a5144e6c4a43"/>
    <p:sldId xmlns:r="http://schemas.openxmlformats.org/officeDocument/2006/relationships" id="258" r:id="R9f68e0a425394e73"/>
    <p:sldId xmlns:r="http://schemas.openxmlformats.org/officeDocument/2006/relationships" id="259" r:id="R9002573fe6d845d7"/>
    <p:sldId xmlns:r="http://schemas.openxmlformats.org/officeDocument/2006/relationships" id="260" r:id="R6405e9a664154d18"/>
    <p:sldId xmlns:r="http://schemas.openxmlformats.org/officeDocument/2006/relationships" id="261" r:id="Rc3755a4c61a74553"/>
    <p:sldId xmlns:r="http://schemas.openxmlformats.org/officeDocument/2006/relationships" id="262" r:id="R11c5182fde644b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7dea4bcf16423c" /><Relationship Type="http://schemas.openxmlformats.org/officeDocument/2006/relationships/slideMaster" Target="/ppt/slideMasters/slideMaster1.xml" Id="Re0e5654751a44434" /><Relationship Type="http://schemas.openxmlformats.org/officeDocument/2006/relationships/notesMaster" Target="/ppt/notesMasters/notesMaster1.xml" Id="R9594dc42b8374b02" /><Relationship Type="http://schemas.openxmlformats.org/officeDocument/2006/relationships/presProps" Target="/ppt/presProps.xml" Id="Rcf33f14397584bfe" /><Relationship Type="http://schemas.openxmlformats.org/officeDocument/2006/relationships/tableStyles" Target="/ppt/tableStyles.xml" Id="R948a3b299b4147fb" /><Relationship Type="http://schemas.openxmlformats.org/officeDocument/2006/relationships/slide" Target="/ppt/slides/slide1.xml" Id="Rd80115d0bed544f0" /><Relationship Type="http://schemas.openxmlformats.org/officeDocument/2006/relationships/slide" Target="/ppt/slides/slide2.xml" Id="R16b2a5144e6c4a43" /><Relationship Type="http://schemas.openxmlformats.org/officeDocument/2006/relationships/slide" Target="/ppt/slides/slide3.xml" Id="R9f68e0a425394e73" /><Relationship Type="http://schemas.openxmlformats.org/officeDocument/2006/relationships/slide" Target="/ppt/slides/slide4.xml" Id="R9002573fe6d845d7" /><Relationship Type="http://schemas.openxmlformats.org/officeDocument/2006/relationships/slide" Target="/ppt/slides/slide5.xml" Id="R6405e9a664154d18" /><Relationship Type="http://schemas.openxmlformats.org/officeDocument/2006/relationships/slide" Target="/ppt/slides/slide6.xml" Id="Rc3755a4c61a74553" /><Relationship Type="http://schemas.openxmlformats.org/officeDocument/2006/relationships/slide" Target="/ppt/slides/slide7.xml" Id="R11c5182fde644b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17539fcdaf48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9ef55a99ac4036" /><Relationship Type="http://schemas.openxmlformats.org/officeDocument/2006/relationships/notesMaster" Target="/ppt/notesMasters/notesMaster1.xml" Id="R0c695902a1254d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54e3dc638e4c26" /><Relationship Type="http://schemas.openxmlformats.org/officeDocument/2006/relationships/notesMaster" Target="/ppt/notesMasters/notesMaster1.xml" Id="R7a0900717eea44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a42e6c4881442b" /><Relationship Type="http://schemas.openxmlformats.org/officeDocument/2006/relationships/notesMaster" Target="/ppt/notesMasters/notesMaster1.xml" Id="R8ec189b49a7543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9f47be49444bf4" /><Relationship Type="http://schemas.openxmlformats.org/officeDocument/2006/relationships/notesMaster" Target="/ppt/notesMasters/notesMaster1.xml" Id="Rf89ea3adeb8545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220bca09e44e46" /><Relationship Type="http://schemas.openxmlformats.org/officeDocument/2006/relationships/notesMaster" Target="/ppt/notesMasters/notesMaster1.xml" Id="R43ee42b8eb4e4d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764f96598f4095" /><Relationship Type="http://schemas.openxmlformats.org/officeDocument/2006/relationships/notesMaster" Target="/ppt/notesMasters/notesMaster1.xml" Id="R7d5b4dfaf58841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d5ea90a8724306" /><Relationship Type="http://schemas.openxmlformats.org/officeDocument/2006/relationships/notesMaster" Target="/ppt/notesMasters/notesMaster1.xml" Id="R68d3c302c63a4b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0:55.</a:t>
            </a:r>
          </a:p>
          <a:p xmlns:a="http://schemas.openxmlformats.org/drawingml/2006/main">
            <a:r>
              <a:t/>
            </a:r>
          </a:p>
          <a:p xmlns:a="http://schemas.openxmlformats.org/drawingml/2006/main">
            <a:r>
              <a:t>Our deliverable is a reproducible benchmark and research paper for vision practitioners deciding which predictions to accept or send for review. We ask what coverage is attainable at a target accepted accuracy, and when SDM adds value beyond calibrated softmax. We compare policies on the same checkpoint and evaluation images within each task, and report negative results alongside positive ones. Calibration quality, error ranking and useful admission coverage can disagree. Today’s conclusions cover completed clean tasks; matched corruption and OOD evaluation remains unfinished.</a:t>
            </a:r>
          </a:p>
          <a:p xmlns:a="http://schemas.openxmlformats.org/drawingml/2006/main">
            <a:r>
              <a:t/>
            </a:r>
          </a:p>
          <a:p xmlns:a="http://schemas.openxmlformats.org/drawingml/2006/main">
            <a:r>
              <a:t>Allen Schmaltz feedback: [TEAM: add his key advice and the changes made in response. Feedback was confirmed by Karim; do not infer endorsement.]</a:t>
            </a:r>
          </a:p>
          <a:p xmlns:a="http://schemas.openxmlformats.org/drawingml/2006/main">
            <a:r>
              <a:t/>
            </a:r>
          </a:p>
          <a:p xmlns:a="http://schemas.openxmlformats.org/drawingml/2006/main">
            <a:r>
              <a:t>Sources: docs/research-writeup.md; docs/experiment-design.md; docs/assets/clean-analysis-2026-10-29/evidence.json.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0:50.</a:t>
            </a:r>
          </a:p>
          <a:p xmlns:a="http://schemas.openxmlformats.org/drawingml/2006/main">
            <a:r>
              <a:t/>
            </a:r>
          </a:p>
          <a:p xmlns:a="http://schemas.openxmlformats.org/drawingml/2006/main">
            <a:r>
              <a:t>Positive scalar temperature scaling changes probabilities without changing the predicted class. It improves ECE on all five completed ConvNeXt tasks shown here, using 25 calibration images per class. ECE is shown as a percentage with 15 bins. CIFAR-100 changes from 5.96% to 3.36%; EMNIST from 6.29% to 2.94%. Lower clean ECE is useful, but it does not imply that every other probability metric improves or that behavior remains reliable under distribution shift. We retain raw softmax because it is the simplest baseline and use calibration-only temperature fitting rather than fitting against test labels.</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0:45.</a:t>
            </a:r>
          </a:p>
          <a:p xmlns:a="http://schemas.openxmlformats.org/drawingml/2006/main">
            <a:r>
              <a:t/>
            </a:r>
          </a:p>
          <a:p xmlns:a="http://schemas.openxmlformats.org/drawingml/2006/main">
            <a:r>
              <a:t>Here the thresholds come from calibration only, with at least 100 admitted calibration examples and whole tied-confidence groups. The displayed values apply to saved official-test predictions. EMNIST’s 25/class temperature rule admits 84.63% at 96.17% accepted accuracy, while its 100/class rule admits 89.81% at 94.56%. The latter misses the 95% target. This is evidence of the behavior of these empirical policies, not evidence that more calibration data causes lower reliability. Exact counts and Wilson intervals are in the paper. A global empirical accuracy threshold also differs from SDM’s class-conditional region construction.</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0:40.</a:t>
            </a:r>
          </a:p>
          <a:p xmlns:a="http://schemas.openxmlformats.org/drawingml/2006/main">
            <a:r>
              <a:t/>
            </a:r>
          </a:p>
          <a:p xmlns:a="http://schemas.openxmlformats.org/drawingml/2006/main">
            <a:r>
              <a:t>These are the three highest standard-track temperature-confidence errors in CIFAR-100, selected deterministically with test ID as the tie-breaker. They illustrate remaining confident mistakes even after aggregate calibration improves. The otter is predicted as seal at approximately 0.992 confidence, the baby as girl at 0.986, and the kangaroo as rabbit at 0.983. We checked the IDs and labels against the cached dataset. These selected cases are not an estimate of overall error frequency or proof of label noise.</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0:45.</a:t>
            </a:r>
          </a:p>
          <a:p xmlns:a="http://schemas.openxmlformats.org/drawingml/2006/main">
            <a:r>
              <a:t/>
            </a:r>
          </a:p>
          <a:p xmlns:a="http://schemas.openxmlformats.org/drawingml/2006/main">
            <a:r>
              <a:t>The audit keeps the comparison interpretable: equal confidence scores enter together; calibration-only matching does not use validation coverage; saved SDM fits must match the calibration population. Historical source repairs do not by themselves validate old numerical results. The main scientific limitations remain one seed, different backbone recipes and reporting populations, historical test exploration, and unfinished matched corruption/OOD evaluation. We can describe the clean findings today without claiming that they establish deployment safety or robustness.</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0:30.</a:t>
            </a:r>
          </a:p>
          <a:p xmlns:a="http://schemas.openxmlformats.org/drawingml/2006/main">
            <a:r>
              <a:t/>
            </a:r>
          </a:p>
          <a:p xmlns:a="http://schemas.openxmlformats.org/drawingml/2006/main">
            <a:r>
              <a:t>My remaining work is to reconcile source artifacts and exact counts, freeze baseline comparison populations and policies, and integrate the figures, limitations and Allen feedback notes into the paper. The matched corruption/OOD evaluation remains future work. Full experiments remain paused. Other team members retain their existing work and speaking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speaker: Karim. Rehearsal target: 0:30.</a:t>
            </a:r>
          </a:p>
          <a:p xmlns:a="http://schemas.openxmlformats.org/drawingml/2006/main">
            <a:r>
              <a:t/>
            </a:r>
          </a:p>
          <a:p xmlns:a="http://schemas.openxmlformats.org/drawingml/2006/main">
            <a:r>
              <a:t>Our mission is to give vision practitioners reproducible evidence for when a classifier should answer, abstain or defer to review. Useful coverage and reliable accepted predictions must occur together. Our completed clean experiments show mixed SDM transfer behavior, including empty regions, and a clear role for calibrated baselines. The final paper will report those findings and the remaining evaluation honestly. Invite questions without adding a thank-you slide.</a:t>
            </a:r>
          </a:p>
          <a:p xmlns:a="http://schemas.openxmlformats.org/drawingml/2006/main">
            <a:r>
              <a:t/>
            </a:r>
          </a:p>
          <a:p xmlns:a="http://schemas.openxmlformats.org/drawingml/2006/main">
            <a:r>
              <a:t>Sources: docs/assets/clean-analysis-2026-10-29/evidence.json (SHA256 b90dc4b3c7c64bd6dd8fe37307f7d9f1f9df264eb480d5e86703fc76efe74a44); docs/research-writeup.md; docs/experiment-design.md. Presentation 2 guidance supplied by the team, pages 1–5. Speaking assignments and timings are suggestions based on the chat, not confirmed team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4172a47f5f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678cb0410b45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d06864f5e048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5e068fc19c45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e9c707898d44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4cd615d7e04c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6FC6EC-309E-4707-96B2-31C9DB7CCF7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B97E41-894F-4F84-9E53-16477546A2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927155-5644-437E-9972-DFB450F8D8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1A84D8-BB02-4AE2-8E05-6769BCABB3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8C9244-AAEA-43F3-9C09-7E7A04E61B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E480369-AF82-4134-9728-BCE6C8E592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2C7D80-4596-4A81-A052-68F527A80F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759D9F-D46D-45CB-B4A4-8FD5EAD7C0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FCAE94-393A-4A27-8AF5-BC0C315787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951598-235B-4CFA-8EF6-D395AAEE86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8229866d40432e" /><Relationship Type="http://schemas.openxmlformats.org/officeDocument/2006/relationships/slideLayout" Target="/ppt/slideLayouts/slideLayout1.xml" Id="Rc8efb26977264549" /><Relationship Type="http://schemas.openxmlformats.org/officeDocument/2006/relationships/slideLayout" Target="/ppt/slideLayouts/slideLayout2.xml" Id="Rea2b2260673a4f50" /><Relationship Type="http://schemas.openxmlformats.org/officeDocument/2006/relationships/slideLayout" Target="/ppt/slideLayouts/slideLayout3.xml" Id="Rea6a4dd778404c72" /><Relationship Type="http://schemas.openxmlformats.org/officeDocument/2006/relationships/slideLayout" Target="/ppt/slideLayouts/slideLayout4.xml" Id="R60a2b09ca90042f5" /><Relationship Type="http://schemas.openxmlformats.org/officeDocument/2006/relationships/slideLayout" Target="/ppt/slideLayouts/slideLayout5.xml" Id="R4f46f01a885e4c5a" /><Relationship Type="http://schemas.openxmlformats.org/officeDocument/2006/relationships/slideLayout" Target="/ppt/slideLayouts/slideLayout6.xml" Id="R695f1db914ef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efb26977264549"/>
    <p:sldLayoutId xmlns:r="http://schemas.openxmlformats.org/officeDocument/2006/relationships" id="2147483650" r:id="Rea2b2260673a4f50"/>
    <p:sldLayoutId xmlns:r="http://schemas.openxmlformats.org/officeDocument/2006/relationships" id="2147483651" r:id="Rea6a4dd778404c72"/>
    <p:sldLayoutId xmlns:r="http://schemas.openxmlformats.org/officeDocument/2006/relationships" id="2147483652" r:id="R60a2b09ca90042f5"/>
    <p:sldLayoutId xmlns:r="http://schemas.openxmlformats.org/officeDocument/2006/relationships" id="2147483653" r:id="R4f46f01a885e4c5a"/>
    <p:sldLayoutId xmlns:r="http://schemas.openxmlformats.org/officeDocument/2006/relationships" id="2147483654" r:id="R695f1db914ef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4b420916d2452b" /><Relationship Type="http://schemas.openxmlformats.org/officeDocument/2006/relationships/notesSlide" Target="/ppt/notesSlides/notesSlide1.xml" Id="R179523963e5042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a25c5bedb143e6" /><Relationship Type="http://schemas.openxmlformats.org/officeDocument/2006/relationships/chart" Target="/ppt/slides/charts/chart1.xml" Id="Rbf9a536475bc4e42" /><Relationship Type="http://schemas.openxmlformats.org/officeDocument/2006/relationships/notesSlide" Target="/ppt/notesSlides/notesSlide2.xml" Id="R9938ff3fc6164f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e1c3385f484148" /><Relationship Type="http://schemas.openxmlformats.org/officeDocument/2006/relationships/notesSlide" Target="/ppt/notesSlides/notesSlide3.xml" Id="R4fe7c4d7a62e4c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c5b689a12c4a6a" /><Relationship Type="http://schemas.openxmlformats.org/officeDocument/2006/relationships/image" Target="/ppt/media/image.png" Id="Rbf99abc73cdd45a3" /><Relationship Type="http://schemas.openxmlformats.org/officeDocument/2006/relationships/notesSlide" Target="/ppt/notesSlides/notesSlide4.xml" Id="R45212bd2a72146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8e787df2344b26" /><Relationship Type="http://schemas.openxmlformats.org/officeDocument/2006/relationships/notesSlide" Target="/ppt/notesSlides/notesSlide5.xml" Id="R477ea65e849843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6eb6a1ad554b36" /><Relationship Type="http://schemas.openxmlformats.org/officeDocument/2006/relationships/notesSlide" Target="/ppt/notesSlides/notesSlide6.xml" Id="R21965cb1aea546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271ca0914d4ee3" /><Relationship Type="http://schemas.openxmlformats.org/officeDocument/2006/relationships/notesSlide" Target="/ppt/notesSlides/notesSlide7.xml" Id="R9f20f1885d554e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Raw softmax</c:v>
          </c:tx>
          <c:spPr>
            <a:solidFill xmlns:a="http://schemas.openxmlformats.org/drawingml/2006/main">
              <a:srgbClr val="002676"/>
            </a:solidFill>
          </c:spPr>
          <c:invertIfNegative val="0"/>
          <c:cat>
            <c:strRef>
              <c:f>'Chart Data'!$A$2:$A$6</c:f>
              <c:strCache>
                <c:ptCount val="5"/>
                <c:pt idx="0">
                  <c:v>CIFAR-100</c:v>
                </c:pt>
                <c:pt idx="1">
                  <c:v>MNIST</c:v>
                </c:pt>
                <c:pt idx="2">
                  <c:v>Fashion-MNIST</c:v>
                </c:pt>
                <c:pt idx="3">
                  <c:v>KMNIST</c:v>
                </c:pt>
                <c:pt idx="4">
                  <c:v>EMNIST</c:v>
                </c:pt>
              </c:strCache>
            </c:strRef>
          </c:cat>
          <c:val>
            <c:numRef>
              <c:f>'Chart Data'!$B$2:$B$6</c:f>
              <c:numCache>
                <c:formatCode>0.0</c:formatCode>
                <c:ptCount val="5"/>
                <c:pt idx="0">
                  <c:v>5.96</c:v>
                </c:pt>
                <c:pt idx="1">
                  <c:v>8.72</c:v>
                </c:pt>
                <c:pt idx="2">
                  <c:v>6.85</c:v>
                </c:pt>
                <c:pt idx="3">
                  <c:v>8.17</c:v>
                </c:pt>
                <c:pt idx="4">
                  <c:v>6.29</c:v>
                </c:pt>
              </c:numCache>
            </c:numRef>
          </c:val>
        </c:ser>
        <c:ser>
          <c:idx val="1"/>
          <c:order val="1"/>
          <c:tx>
            <c:v>Temperature, 25/class</c:v>
          </c:tx>
          <c:spPr>
            <a:solidFill xmlns:a="http://schemas.openxmlformats.org/drawingml/2006/main">
              <a:srgbClr val="FDB515"/>
            </a:solidFill>
          </c:spPr>
          <c:invertIfNegative val="0"/>
          <c:cat>
            <c:strRef>
              <c:f>'Chart Data'!$C$2:$C$6</c:f>
              <c:strCache>
                <c:ptCount val="5"/>
                <c:pt idx="0">
                  <c:v>CIFAR-100</c:v>
                </c:pt>
                <c:pt idx="1">
                  <c:v>MNIST</c:v>
                </c:pt>
                <c:pt idx="2">
                  <c:v>Fashion-MNIST</c:v>
                </c:pt>
                <c:pt idx="3">
                  <c:v>KMNIST</c:v>
                </c:pt>
                <c:pt idx="4">
                  <c:v>EMNIST</c:v>
                </c:pt>
              </c:strCache>
            </c:strRef>
          </c:cat>
          <c:val>
            <c:numRef>
              <c:f>'Chart Data'!$D$2:$D$6</c:f>
              <c:numCache>
                <c:formatCode>0.0</c:formatCode>
                <c:ptCount val="5"/>
                <c:pt idx="0">
                  <c:v>3.36</c:v>
                </c:pt>
                <c:pt idx="1">
                  <c:v>0.18</c:v>
                </c:pt>
                <c:pt idx="2">
                  <c:v>1.74</c:v>
                </c:pt>
                <c:pt idx="3">
                  <c:v>0.52</c:v>
                </c:pt>
                <c:pt idx="4">
                  <c:v>2.94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EEE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CD5FF3-492E-403F-BB19-DC16B2FE923B}"/>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F12776-AA7A-42E9-B20C-EDAA2AA19B91}"/>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A reproducible benchmark and paper</a:t>
            </a:r>
          </a:p>
        </p:txBody>
      </p:sp>
      <p:sp>
        <p:nvSpPr>
          <p:cNvPr id="3" name="">
            <a:extLst xmlns:a="http://schemas.openxmlformats.org/drawingml/2006/main">
              <a:ext uri="{FF2B5EF4-FFF2-40B4-BE49-F238E27FC236}">
                <a16:creationId xmlns:a16="http://schemas.microsoft.com/office/drawing/2014/main" id="{2333FF13-E2FA-44DC-8243-0E3D9B744092}"/>
              </a:ext>
            </a:extLst>
          </p:cNvPr>
          <p:cNvSpPr>
            <a:spLocks xmlns:a="http://schemas.openxmlformats.org/drawingml/2006/main" noGrp="1"/>
          </p:cNvSpPr>
          <p:nvPr/>
        </p:nvSpPr>
        <p:spPr>
          <a:xfrm xmlns:a="http://schemas.openxmlformats.org/drawingml/2006/main">
            <a:off x="666750" y="1762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Research deliverable</a:t>
            </a:r>
          </a:p>
        </p:txBody>
      </p:sp>
      <p:sp>
        <p:nvSpPr>
          <p:cNvPr id="4" name="">
            <a:extLst xmlns:a="http://schemas.openxmlformats.org/drawingml/2006/main">
              <a:ext uri="{FF2B5EF4-FFF2-40B4-BE49-F238E27FC236}">
                <a16:creationId xmlns:a16="http://schemas.microsoft.com/office/drawing/2014/main" id="{8CDCF5B2-8897-4AF5-A581-91B46E3B0D65}"/>
              </a:ext>
            </a:extLst>
          </p:cNvPr>
          <p:cNvSpPr>
            <a:spLocks xmlns:a="http://schemas.openxmlformats.org/drawingml/2006/main" noGrp="1"/>
          </p:cNvSpPr>
          <p:nvPr/>
        </p:nvSpPr>
        <p:spPr>
          <a:xfrm xmlns:a="http://schemas.openxmlformats.org/drawingml/2006/main">
            <a:off x="666750" y="2619375"/>
            <a:ext cx="51435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Matched-checkpoint comparisons</a:t>
            </a:r>
            <a:br>
              <a:rPr sz="2250" b="0">
                <a:solidFill>
                  <a:srgbClr val="595959"/>
                </a:solidFill>
                <a:latin typeface="Arial"/>
                <a:ea typeface="Arial"/>
                <a:cs typeface="Arial"/>
              </a:rPr>
            </a:br>
            <a:r>
              <a:rPr sz="2250" b="0">
                <a:solidFill>
                  <a:srgbClr val="595959"/>
                </a:solidFill>
                <a:latin typeface="Arial"/>
                <a:ea typeface="Arial"/>
                <a:cs typeface="Arial"/>
              </a:rPr>
              <a:t>Runnable evaluation notebooks</a:t>
            </a:r>
            <a:br>
              <a:rPr sz="2250" b="0">
                <a:solidFill>
                  <a:srgbClr val="595959"/>
                </a:solidFill>
                <a:latin typeface="Arial"/>
                <a:ea typeface="Arial"/>
                <a:cs typeface="Arial"/>
              </a:rPr>
            </a:br>
            <a:r>
              <a:rPr sz="2250" b="0">
                <a:solidFill>
                  <a:srgbClr val="595959"/>
                </a:solidFill>
                <a:latin typeface="Arial"/>
                <a:ea typeface="Arial"/>
                <a:cs typeface="Arial"/>
              </a:rPr>
              <a:t>Coverage and error-analysis tables</a:t>
            </a:r>
            <a:br>
              <a:rPr sz="2250" b="0">
                <a:solidFill>
                  <a:srgbClr val="595959"/>
                </a:solidFill>
                <a:latin typeface="Arial"/>
                <a:ea typeface="Arial"/>
                <a:cs typeface="Arial"/>
              </a:rPr>
            </a:br>
            <a:r>
              <a:rPr sz="2250" b="0">
                <a:solidFill>
                  <a:srgbClr val="595959"/>
                </a:solidFill>
                <a:latin typeface="Arial"/>
                <a:ea typeface="Arial"/>
                <a:cs typeface="Arial"/>
              </a:rPr>
              <a:t>A paper reporting positive and negative results</a:t>
            </a:r>
          </a:p>
        </p:txBody>
      </p:sp>
      <p:sp>
        <p:nvSpPr>
          <p:cNvPr id="5" name="">
            <a:extLst xmlns:a="http://schemas.openxmlformats.org/drawingml/2006/main">
              <a:ext uri="{FF2B5EF4-FFF2-40B4-BE49-F238E27FC236}">
                <a16:creationId xmlns:a16="http://schemas.microsoft.com/office/drawing/2014/main" id="{8FAF52A0-74D4-410C-BBE8-B105ECEA6ECC}"/>
              </a:ext>
            </a:extLst>
          </p:cNvPr>
          <p:cNvSpPr>
            <a:spLocks xmlns:a="http://schemas.openxmlformats.org/drawingml/2006/main" noGrp="1"/>
          </p:cNvSpPr>
          <p:nvPr/>
        </p:nvSpPr>
        <p:spPr>
          <a:xfrm xmlns:a="http://schemas.openxmlformats.org/drawingml/2006/main">
            <a:off x="6477000" y="1762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Practitioner questions</a:t>
            </a:r>
          </a:p>
        </p:txBody>
      </p:sp>
      <p:sp>
        <p:nvSpPr>
          <p:cNvPr id="6" name="">
            <a:extLst xmlns:a="http://schemas.openxmlformats.org/drawingml/2006/main">
              <a:ext uri="{FF2B5EF4-FFF2-40B4-BE49-F238E27FC236}">
                <a16:creationId xmlns:a16="http://schemas.microsoft.com/office/drawing/2014/main" id="{7744484D-347A-445E-BB4A-58311C48B39F}"/>
              </a:ext>
            </a:extLst>
          </p:cNvPr>
          <p:cNvSpPr>
            <a:spLocks xmlns:a="http://schemas.openxmlformats.org/drawingml/2006/main" noGrp="1"/>
          </p:cNvSpPr>
          <p:nvPr/>
        </p:nvSpPr>
        <p:spPr>
          <a:xfrm xmlns:a="http://schemas.openxmlformats.org/drawingml/2006/main">
            <a:off x="6477000" y="2619375"/>
            <a:ext cx="4857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What coverage is attainable at a target accepted accuracy?</a:t>
            </a:r>
            <a:br>
              <a:rPr sz="2250" b="0">
                <a:solidFill>
                  <a:srgbClr val="595959"/>
                </a:solidFill>
                <a:latin typeface="Arial"/>
                <a:ea typeface="Arial"/>
                <a:cs typeface="Arial"/>
              </a:rPr>
            </a:br>
            <a:br>
              <a:rPr sz="2250" b="0">
                <a:solidFill>
                  <a:srgbClr val="595959"/>
                </a:solidFill>
                <a:latin typeface="Arial"/>
                <a:ea typeface="Arial"/>
                <a:cs typeface="Arial"/>
              </a:rPr>
            </a:br>
            <a:r>
              <a:rPr sz="2250" b="0">
                <a:solidFill>
                  <a:srgbClr val="595959"/>
                </a:solidFill>
                <a:latin typeface="Arial"/>
                <a:ea typeface="Arial"/>
                <a:cs typeface="Arial"/>
              </a:rPr>
              <a:t>When does SDM add value beyond calibrated softmax?</a:t>
            </a:r>
          </a:p>
        </p:txBody>
      </p:sp>
      <p:sp>
        <p:nvSpPr>
          <p:cNvPr id="7" name="">
            <a:extLst xmlns:a="http://schemas.openxmlformats.org/drawingml/2006/main">
              <a:ext uri="{FF2B5EF4-FFF2-40B4-BE49-F238E27FC236}">
                <a16:creationId xmlns:a16="http://schemas.microsoft.com/office/drawing/2014/main" id="{1545B52A-DF26-4CA9-880B-99D4F3A7897F}"/>
              </a:ext>
            </a:extLst>
          </p:cNvPr>
          <p:cNvSpPr>
            <a:spLocks xmlns:a="http://schemas.openxmlformats.org/drawingml/2006/main" noGrp="1"/>
          </p:cNvSpPr>
          <p:nvPr/>
        </p:nvSpPr>
        <p:spPr>
          <a:xfrm xmlns:a="http://schemas.openxmlformats.org/drawingml/2006/main">
            <a:off x="666750" y="5715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Allen Schmaltz feedback: [add key advice and resulting changes].</a:t>
            </a:r>
          </a:p>
        </p:txBody>
      </p:sp>
    </p:spTree>
    <p:extLst>
      <p:ext uri="{BB962C8B-B14F-4D97-AF65-F5344CB8AC3E}">
        <p14:creationId xmlns:p14="http://schemas.microsoft.com/office/powerpoint/2010/main" val="1305725059"/>
      </p:ext>
    </p:extLst>
  </p:cSld>
</p:sld>
</file>

<file path=ppt/slides/slide2.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25B678-D19E-4DEA-BA55-A6D4045F9E25}"/>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428D60-AB4C-4F3E-B9F9-51DBC20E3E4D}"/>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Temperature scaling lowers clean calibration error</a:t>
            </a:r>
          </a:p>
        </p:txBody>
      </p:sp>
      <p:graphicFrame>
        <p:nvGraphicFramePr>
          <p:cNvPr id="3" name="Chart">
            <a:extLst xmlns:a="http://schemas.openxmlformats.org/drawingml/2006/main">
              <a:ext uri="{FF2B5EF4-FFF2-40B4-BE49-F238E27FC236}">
                <a16:creationId xmlns:a16="http://schemas.microsoft.com/office/drawing/2014/main" id="{DC58EFE1-AC19-48FE-BE7C-0F8BF6E695B3}"/>
              </a:ext>
            </a:extLst>
          </p:cNvPr>
          <p:cNvGraphicFramePr/>
          <p:nvPr/>
        </p:nvGraphicFramePr>
        <p:xfrm>
          <a:off xmlns:a="http://schemas.openxmlformats.org/drawingml/2006/main" x="666750" y="1666875"/>
          <a:ext xmlns:a="http://schemas.openxmlformats.org/drawingml/2006/main" cx="10763250" cy="3905250"/>
        </p:xfrm>
        <a:graphic xmlns:a="http://schemas.openxmlformats.org/drawingml/2006/main">
          <a:graphicData uri="http://schemas.openxmlformats.org/drawingml/2006/chart">
            <c:chart xmlns:r="http://schemas.openxmlformats.org/officeDocument/2006/relationships" xmlns:c="http://schemas.openxmlformats.org/drawingml/2006/chart" r:id="Rbf9a536475bc4e42"/>
          </a:graphicData>
        </a:graphic>
      </p:graphicFrame>
      <p:sp>
        <p:nvSpPr>
          <p:cNvPr id="4" name="">
            <a:extLst xmlns:a="http://schemas.openxmlformats.org/drawingml/2006/main">
              <a:ext uri="{FF2B5EF4-FFF2-40B4-BE49-F238E27FC236}">
                <a16:creationId xmlns:a16="http://schemas.microsoft.com/office/drawing/2014/main" id="{BB7DA1FD-C597-4E77-B670-23F67BA5BFBF}"/>
              </a:ext>
            </a:extLst>
          </p:cNvPr>
          <p:cNvSpPr>
            <a:spLocks xmlns:a="http://schemas.openxmlformats.org/drawingml/2006/main" noGrp="1"/>
          </p:cNvSpPr>
          <p:nvPr/>
        </p:nvSpPr>
        <p:spPr>
          <a:xfrm xmlns:a="http://schemas.openxmlformats.org/drawingml/2006/main">
            <a:off x="666750"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ConvNeXt-Tiny · clean official tests · seed 42 · 15-bin ECE (%)</a:t>
            </a:r>
          </a:p>
        </p:txBody>
      </p:sp>
    </p:spTree>
    <p:extLst>
      <p:ext uri="{BB962C8B-B14F-4D97-AF65-F5344CB8AC3E}">
        <p14:creationId xmlns:p14="http://schemas.microsoft.com/office/powerpoint/2010/main" val="1696222842"/>
      </p:ext>
    </p:extLst>
  </p:cSld>
</p:sld>
</file>

<file path=ppt/slides/slide3.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D2DD9C-C76E-4DA9-A75A-D20073891C8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2DF568-CF51-4005-B53D-C1FF57A5BBC9}"/>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A 95% calibration target can miss on held-out data</a:t>
            </a:r>
          </a:p>
        </p:txBody>
      </p:sp>
      <p:graphicFrame>
        <p:nvGraphicFramePr>
          <p:cNvPr id="3" name="">
            <a:extLst xmlns:a="http://schemas.openxmlformats.org/drawingml/2006/main">
              <a:ext uri="{FF2B5EF4-FFF2-40B4-BE49-F238E27FC236}">
                <a16:creationId xmlns:a16="http://schemas.microsoft.com/office/drawing/2014/main" id="{F20F0394-EB46-4078-807D-BE8CADC85DA9}"/>
              </a:ext>
            </a:extLst>
          </p:cNvPr>
          <p:cNvGraphicFramePr/>
          <p:nvPr/>
        </p:nvGraphicFramePr>
        <p:xfrm>
          <a:off xmlns:a="http://schemas.openxmlformats.org/drawingml/2006/main" x="666750" y="1714500"/>
          <a:ext xmlns:a="http://schemas.openxmlformats.org/drawingml/2006/main" cx="10858500" cy="3714750"/>
        </p:xfrm>
        <a:graphic xmlns:a="http://schemas.openxmlformats.org/drawingml/2006/main">
          <a:graphicData uri="http://schemas.openxmlformats.org/drawingml/2006/table">
            <a:tbl>
              <a:tblPr/>
              <a:tblGrid>
                <a:gridCol w="2762250"/>
                <a:gridCol w="2000250"/>
                <a:gridCol w="2000250"/>
                <a:gridCol w="2047875"/>
                <a:gridCol w="2047875"/>
              </a:tblGrid>
              <a:tr h="619125">
                <a:tc>
                  <a:txBody>
                    <a:bodyPr lIns="114300" tIns="114300" rIns="114300" bIns="114300"/>
                    <a:lstStyle/>
                    <a:p>
                      <a:r>
                        <a:rPr sz="1725" b="1">
                          <a:solidFill>
                            <a:srgbClr val="FFFFFF"/>
                          </a:solidFill>
                          <a:latin typeface="Arial"/>
                          <a:ea typeface="Arial"/>
                          <a:cs typeface="Arial"/>
                        </a:rPr>
                        <a:t>Dataset</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Coverage</a:t>
                      </a:r>
                      <a:br>
                        <a:rPr sz="1725" b="1">
                          <a:solidFill>
                            <a:srgbClr val="FFFFFF"/>
                          </a:solidFill>
                          <a:latin typeface="Arial"/>
                          <a:ea typeface="Arial"/>
                          <a:cs typeface="Arial"/>
                        </a:rPr>
                      </a:br>
                      <a:r>
                        <a:rPr sz="1725" b="1">
                          <a:solidFill>
                            <a:srgbClr val="FFFFFF"/>
                          </a:solidFill>
                          <a:latin typeface="Arial"/>
                          <a:ea typeface="Arial"/>
                          <a:cs typeface="Arial"/>
                        </a:rPr>
                        <a:t>25/class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br>
                        <a:rPr sz="1725" b="1">
                          <a:solidFill>
                            <a:srgbClr val="FFFFFF"/>
                          </a:solidFill>
                          <a:latin typeface="Arial"/>
                          <a:ea typeface="Arial"/>
                          <a:cs typeface="Arial"/>
                        </a:rPr>
                      </a:br>
                      <a:r>
                        <a:rPr sz="1725" b="1">
                          <a:solidFill>
                            <a:srgbClr val="FFFFFF"/>
                          </a:solidFill>
                          <a:latin typeface="Arial"/>
                          <a:ea typeface="Arial"/>
                          <a:cs typeface="Arial"/>
                        </a:rPr>
                        <a:t>25/class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Coverage</a:t>
                      </a:r>
                      <a:br>
                        <a:rPr sz="1725" b="1">
                          <a:solidFill>
                            <a:srgbClr val="FFFFFF"/>
                          </a:solidFill>
                          <a:latin typeface="Arial"/>
                          <a:ea typeface="Arial"/>
                          <a:cs typeface="Arial"/>
                        </a:rPr>
                      </a:br>
                      <a:r>
                        <a:rPr sz="1725" b="1">
                          <a:solidFill>
                            <a:srgbClr val="FFFFFF"/>
                          </a:solidFill>
                          <a:latin typeface="Arial"/>
                          <a:ea typeface="Arial"/>
                          <a:cs typeface="Arial"/>
                        </a:rPr>
                        <a:t>100/class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br>
                        <a:rPr sz="1725" b="1">
                          <a:solidFill>
                            <a:srgbClr val="FFFFFF"/>
                          </a:solidFill>
                          <a:latin typeface="Arial"/>
                          <a:ea typeface="Arial"/>
                          <a:cs typeface="Arial"/>
                        </a:rPr>
                      </a:br>
                      <a:r>
                        <a:rPr sz="1725" b="1">
                          <a:solidFill>
                            <a:srgbClr val="FFFFFF"/>
                          </a:solidFill>
                          <a:latin typeface="Arial"/>
                          <a:ea typeface="Arial"/>
                          <a:cs typeface="Arial"/>
                        </a:rPr>
                        <a:t>100/class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619125">
                <a:tc>
                  <a:txBody>
                    <a:bodyPr lIns="114300" tIns="114300" rIns="114300" bIns="114300"/>
                    <a:lstStyle/>
                    <a:p>
                      <a:r>
                        <a:rPr sz="1725" b="0">
                          <a:solidFill>
                            <a:srgbClr val="222222"/>
                          </a:solidFill>
                          <a:latin typeface="Arial"/>
                          <a:ea typeface="Arial"/>
                          <a:cs typeface="Arial"/>
                        </a:rPr>
                        <a:t>CIFAR-100</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85.09%</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95.06%</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84.88%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95.11%</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99.70%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99.97%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99.66%</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Fashion-MNIST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95.24%</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98.05%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96.03%</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KMNIST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99.48%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98.73%</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99.85%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98.57%</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EMNIST Balanced</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84.63%</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96.17%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94.56%</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75992E6-E76E-4019-9344-0E23D1832ADB}"/>
              </a:ext>
            </a:extLst>
          </p:cNvPr>
          <p:cNvSpPr>
            <a:spLocks xmlns:a="http://schemas.openxmlformats.org/drawingml/2006/main" noGrp="1"/>
          </p:cNvSpPr>
          <p:nvPr/>
        </p:nvSpPr>
        <p:spPr>
          <a:xfrm xmlns:a="http://schemas.openxmlformats.org/drawingml/2006/main">
            <a:off x="66675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ConvNeXt official tests · accuracy among accepted predictions · calibration-only thresholds</a:t>
            </a:r>
          </a:p>
        </p:txBody>
      </p:sp>
    </p:spTree>
    <p:extLst>
      <p:ext uri="{BB962C8B-B14F-4D97-AF65-F5344CB8AC3E}">
        <p14:creationId xmlns:p14="http://schemas.microsoft.com/office/powerpoint/2010/main" val="1936945281"/>
      </p:ext>
    </p:extLst>
  </p:cSld>
</p:sld>
</file>

<file path=ppt/slides/slide4.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935E734-C770-417C-B1F2-637FE28C514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DFF06C-F118-4920-A8B2-B37AA81827BD}"/>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High-confidence CIFAR errors remain after temperature scaling</a:t>
            </a:r>
          </a:p>
        </p:txBody>
      </p:sp>
      <p:pic>
        <p:nvPicPr>
          <p:cNvPr id="3" name="">
            <a:extLst xmlns:a="http://schemas.openxmlformats.org/drawingml/2006/main">
              <a:ext uri="{FF2B5EF4-FFF2-40B4-BE49-F238E27FC236}">
                <a16:creationId xmlns:a16="http://schemas.microsoft.com/office/drawing/2014/main" id="{2A6440A4-6CBC-4316-B301-79D840C7C7FC}"/>
              </a:ext>
            </a:extLst>
          </p:cNvPr>
          <p:cNvPicPr>
            <a:picLocks xmlns:a="http://schemas.openxmlformats.org/drawingml/2006/main" noChangeAspect="1"/>
          </p:cNvPicPr>
          <p:nvPr/>
        </p:nvPicPr>
        <p:blipFill>
          <a:blip xmlns:r="http://schemas.openxmlformats.org/officeDocument/2006/relationships" xmlns:a="http://schemas.openxmlformats.org/drawingml/2006/main" r:embed="Rbf99abc73cdd45a3"/>
          <a:stretch xmlns:a="http://schemas.openxmlformats.org/drawingml/2006/main"/>
        </p:blipFill>
        <p:spPr>
          <a:xfrm xmlns:a="http://schemas.openxmlformats.org/drawingml/2006/main">
            <a:off x="738188" y="1666875"/>
            <a:ext cx="10715625" cy="4048125"/>
          </a:xfrm>
          <a:prstGeom xmlns:a="http://schemas.openxmlformats.org/drawingml/2006/main" prst="rect">
            <a:avLst/>
          </a:prstGeom>
        </p:spPr>
      </p:pic>
    </p:spTree>
    <p:extLst>
      <p:ext uri="{BB962C8B-B14F-4D97-AF65-F5344CB8AC3E}">
        <p14:creationId xmlns:p14="http://schemas.microsoft.com/office/powerpoint/2010/main" val="637975573"/>
      </p:ext>
    </p:extLst>
  </p:cSld>
</p:sld>
</file>

<file path=ppt/slides/slide5.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4D3C06-5501-47CF-81FE-F72DBC9AFA8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CCCA3D-0976-4B48-B2E3-CFCB66156B29}"/>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The audit changed how the evidence can be used</a:t>
            </a:r>
          </a:p>
        </p:txBody>
      </p:sp>
      <p:sp>
        <p:nvSpPr>
          <p:cNvPr id="3" name="">
            <a:extLst xmlns:a="http://schemas.openxmlformats.org/drawingml/2006/main">
              <a:ext uri="{FF2B5EF4-FFF2-40B4-BE49-F238E27FC236}">
                <a16:creationId xmlns:a16="http://schemas.microsoft.com/office/drawing/2014/main" id="{7C021B7F-774B-47B1-A796-43B2FC8176FC}"/>
              </a:ext>
            </a:extLst>
          </p:cNvPr>
          <p:cNvSpPr>
            <a:spLocks xmlns:a="http://schemas.openxmlformats.org/drawingml/2006/main" noGrp="1"/>
          </p:cNvSpPr>
          <p:nvPr/>
        </p:nvSpPr>
        <p:spPr>
          <a:xfrm xmlns:a="http://schemas.openxmlformats.org/drawingml/2006/main">
            <a:off x="66675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Corrected</a:t>
            </a:r>
          </a:p>
        </p:txBody>
      </p:sp>
      <p:sp>
        <p:nvSpPr>
          <p:cNvPr id="4" name="">
            <a:extLst xmlns:a="http://schemas.openxmlformats.org/drawingml/2006/main">
              <a:ext uri="{FF2B5EF4-FFF2-40B4-BE49-F238E27FC236}">
                <a16:creationId xmlns:a16="http://schemas.microsoft.com/office/drawing/2014/main" id="{D64385BC-B1D6-46BF-9254-30DB7A4694FD}"/>
              </a:ext>
            </a:extLst>
          </p:cNvPr>
          <p:cNvSpPr>
            <a:spLocks xmlns:a="http://schemas.openxmlformats.org/drawingml/2006/main" noGrp="1"/>
          </p:cNvSpPr>
          <p:nvPr/>
        </p:nvSpPr>
        <p:spPr>
          <a:xfrm xmlns:a="http://schemas.openxmlformats.org/drawingml/2006/main">
            <a:off x="666750" y="2667000"/>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Whole-score-group thresholds and risk curves</a:t>
            </a:r>
            <a:br>
              <a:rPr sz="2175" b="0">
                <a:solidFill>
                  <a:srgbClr val="595959"/>
                </a:solidFill>
                <a:latin typeface="Arial"/>
                <a:ea typeface="Arial"/>
                <a:cs typeface="Arial"/>
              </a:rPr>
            </a:br>
            <a:r>
              <a:rPr sz="2175" b="0">
                <a:solidFill>
                  <a:srgbClr val="595959"/>
                </a:solidFill>
                <a:latin typeface="Arial"/>
                <a:ea typeface="Arial"/>
                <a:cs typeface="Arial"/>
              </a:rPr>
              <a:t>Calibration-only matched coverage</a:t>
            </a:r>
            <a:br>
              <a:rPr sz="2175" b="0">
                <a:solidFill>
                  <a:srgbClr val="595959"/>
                </a:solidFill>
                <a:latin typeface="Arial"/>
                <a:ea typeface="Arial"/>
                <a:cs typeface="Arial"/>
              </a:rPr>
            </a:br>
            <a:r>
              <a:rPr sz="2175" b="0">
                <a:solidFill>
                  <a:srgbClr val="595959"/>
                </a:solidFill>
                <a:latin typeface="Arial"/>
                <a:ea typeface="Arial"/>
                <a:cs typeface="Arial"/>
              </a:rPr>
              <a:t>Cached calibration identity checks</a:t>
            </a:r>
            <a:br>
              <a:rPr sz="2175" b="0">
                <a:solidFill>
                  <a:srgbClr val="595959"/>
                </a:solidFill>
                <a:latin typeface="Arial"/>
                <a:ea typeface="Arial"/>
                <a:cs typeface="Arial"/>
              </a:rPr>
            </a:br>
            <a:r>
              <a:rPr sz="2175" b="0">
                <a:solidFill>
                  <a:srgbClr val="595959"/>
                </a:solidFill>
                <a:latin typeface="Arial"/>
                <a:ea typeface="Arial"/>
                <a:cs typeface="Arial"/>
              </a:rPr>
              <a:t>Empty regions and small galleries</a:t>
            </a:r>
          </a:p>
        </p:txBody>
      </p:sp>
      <p:sp>
        <p:nvSpPr>
          <p:cNvPr id="5" name="">
            <a:extLst xmlns:a="http://schemas.openxmlformats.org/drawingml/2006/main">
              <a:ext uri="{FF2B5EF4-FFF2-40B4-BE49-F238E27FC236}">
                <a16:creationId xmlns:a16="http://schemas.microsoft.com/office/drawing/2014/main" id="{100B97C0-CD7B-4B88-9540-627203E524C3}"/>
              </a:ext>
            </a:extLst>
          </p:cNvPr>
          <p:cNvSpPr>
            <a:spLocks xmlns:a="http://schemas.openxmlformats.org/drawingml/2006/main" noGrp="1"/>
          </p:cNvSpPr>
          <p:nvPr/>
        </p:nvSpPr>
        <p:spPr>
          <a:xfrm xmlns:a="http://schemas.openxmlformats.org/drawingml/2006/main">
            <a:off x="647700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Still limited</a:t>
            </a:r>
          </a:p>
        </p:txBody>
      </p:sp>
      <p:sp>
        <p:nvSpPr>
          <p:cNvPr id="6" name="">
            <a:extLst xmlns:a="http://schemas.openxmlformats.org/drawingml/2006/main">
              <a:ext uri="{FF2B5EF4-FFF2-40B4-BE49-F238E27FC236}">
                <a16:creationId xmlns:a16="http://schemas.microsoft.com/office/drawing/2014/main" id="{B2C35B6D-AB0B-4BEE-9176-57450627FF0C}"/>
              </a:ext>
            </a:extLst>
          </p:cNvPr>
          <p:cNvSpPr>
            <a:spLocks xmlns:a="http://schemas.openxmlformats.org/drawingml/2006/main" noGrp="1"/>
          </p:cNvSpPr>
          <p:nvPr/>
        </p:nvSpPr>
        <p:spPr>
          <a:xfrm xmlns:a="http://schemas.openxmlformats.org/drawingml/2006/main">
            <a:off x="647700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One seed per completed task</a:t>
            </a:r>
            <a:br>
              <a:rPr sz="2175" b="0">
                <a:solidFill>
                  <a:srgbClr val="595959"/>
                </a:solidFill>
                <a:latin typeface="Arial"/>
                <a:ea typeface="Arial"/>
                <a:cs typeface="Arial"/>
              </a:rPr>
            </a:br>
            <a:r>
              <a:rPr sz="2175" b="0">
                <a:solidFill>
                  <a:srgbClr val="595959"/>
                </a:solidFill>
                <a:latin typeface="Arial"/>
                <a:ea typeface="Arial"/>
                <a:cs typeface="Arial"/>
              </a:rPr>
              <a:t>Different ResNet / ConvNeXt populations</a:t>
            </a:r>
            <a:br>
              <a:rPr sz="2175" b="0">
                <a:solidFill>
                  <a:srgbClr val="595959"/>
                </a:solidFill>
                <a:latin typeface="Arial"/>
                <a:ea typeface="Arial"/>
                <a:cs typeface="Arial"/>
              </a:rPr>
            </a:br>
            <a:r>
              <a:rPr sz="2175" b="0">
                <a:solidFill>
                  <a:srgbClr val="595959"/>
                </a:solidFill>
                <a:latin typeface="Arial"/>
                <a:ea typeface="Arial"/>
                <a:cs typeface="Arial"/>
              </a:rPr>
              <a:t>Historical test exploration</a:t>
            </a:r>
            <a:br>
              <a:rPr sz="2175" b="0">
                <a:solidFill>
                  <a:srgbClr val="595959"/>
                </a:solidFill>
                <a:latin typeface="Arial"/>
                <a:ea typeface="Arial"/>
                <a:cs typeface="Arial"/>
              </a:rPr>
            </a:br>
            <a:r>
              <a:rPr sz="2175" b="0">
                <a:solidFill>
                  <a:srgbClr val="595959"/>
                </a:solidFill>
                <a:latin typeface="Arial"/>
                <a:ea typeface="Arial"/>
                <a:cs typeface="Arial"/>
              </a:rPr>
              <a:t>No completed matched shift benchmark</a:t>
            </a:r>
          </a:p>
        </p:txBody>
      </p:sp>
    </p:spTree>
    <p:extLst>
      <p:ext uri="{BB962C8B-B14F-4D97-AF65-F5344CB8AC3E}">
        <p14:creationId xmlns:p14="http://schemas.microsoft.com/office/powerpoint/2010/main" val="940850814"/>
      </p:ext>
    </p:extLst>
  </p:cSld>
</p:sld>
</file>

<file path=ppt/slides/slide6.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88DC07-D184-444E-9D08-62B6FD341E66}"/>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98A24E-5E6E-41A7-800D-FA21454C0C66}"/>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Baselines and paper: remaining work</a:t>
            </a:r>
          </a:p>
        </p:txBody>
      </p:sp>
      <p:graphicFrame>
        <p:nvGraphicFramePr>
          <p:cNvPr id="3" name="">
            <a:extLst xmlns:a="http://schemas.openxmlformats.org/drawingml/2006/main">
              <a:ext uri="{FF2B5EF4-FFF2-40B4-BE49-F238E27FC236}">
                <a16:creationId xmlns:a16="http://schemas.microsoft.com/office/drawing/2014/main" id="{419B8E7F-4F77-4AC4-9E0F-DDFA60B0F9F0}"/>
              </a:ext>
            </a:extLst>
          </p:cNvPr>
          <p:cNvGraphicFramePr/>
          <p:nvPr/>
        </p:nvGraphicFramePr>
        <p:xfrm>
          <a:off xmlns:a="http://schemas.openxmlformats.org/drawingml/2006/main" x="666750" y="1809750"/>
          <a:ext xmlns:a="http://schemas.openxmlformats.org/drawingml/2006/main" cx="10858500" cy="3048000"/>
        </p:xfrm>
        <a:graphic xmlns:a="http://schemas.openxmlformats.org/drawingml/2006/main">
          <a:graphicData uri="http://schemas.openxmlformats.org/drawingml/2006/table">
            <a:tbl>
              <a:tblPr/>
              <a:tblGrid>
                <a:gridCol w="2762250"/>
                <a:gridCol w="2095500"/>
                <a:gridCol w="6000750"/>
              </a:tblGrid>
              <a:tr h="762000">
                <a:tc>
                  <a:txBody>
                    <a:bodyPr lIns="114300" tIns="114300" rIns="114300" bIns="114300"/>
                    <a:lstStyle/>
                    <a:p>
                      <a:r>
                        <a:rPr sz="1725" b="1">
                          <a:solidFill>
                            <a:srgbClr val="FFFFFF"/>
                          </a:solidFill>
                          <a:latin typeface="Arial"/>
                          <a:ea typeface="Arial"/>
                          <a:cs typeface="Arial"/>
                        </a:rPr>
                        <a:t>Workstream</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Owner</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Next deliverable</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762000">
                <a:tc>
                  <a:txBody>
                    <a:bodyPr lIns="114300" tIns="114300" rIns="114300" bIns="114300"/>
                    <a:lstStyle/>
                    <a:p>
                      <a:r>
                        <a:rPr sz="1725" b="0">
                          <a:solidFill>
                            <a:srgbClr val="222222"/>
                          </a:solidFill>
                          <a:latin typeface="Arial"/>
                          <a:ea typeface="Arial"/>
                          <a:cs typeface="Arial"/>
                        </a:rPr>
                        <a:t>Evidence</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Karim</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Reconcile source artifacts and exact counts</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762000">
                <a:tc>
                  <a:txBody>
                    <a:bodyPr lIns="114300" tIns="114300" rIns="114300" bIns="114300"/>
                    <a:lstStyle/>
                    <a:p>
                      <a:r>
                        <a:rPr sz="1725" b="0">
                          <a:solidFill>
                            <a:srgbClr val="222222"/>
                          </a:solidFill>
                          <a:latin typeface="Arial"/>
                          <a:ea typeface="Arial"/>
                          <a:cs typeface="Arial"/>
                        </a:rPr>
                        <a:t>Baselines</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Karim</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Freeze comparison populations and policies</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762000">
                <a:tc>
                  <a:txBody>
                    <a:bodyPr lIns="114300" tIns="114300" rIns="114300" bIns="114300"/>
                    <a:lstStyle/>
                    <a:p>
                      <a:r>
                        <a:rPr sz="1725" b="0">
                          <a:solidFill>
                            <a:srgbClr val="222222"/>
                          </a:solidFill>
                          <a:latin typeface="Arial"/>
                          <a:ea typeface="Arial"/>
                          <a:cs typeface="Arial"/>
                        </a:rPr>
                        <a:t>Paper</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Karim</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Integrate figures, limitations and expert notes</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886CE8-E8B3-4638-A557-88E3064B19A8}"/>
              </a:ext>
            </a:extLst>
          </p:cNvPr>
          <p:cNvSpPr>
            <a:spLocks xmlns:a="http://schemas.openxmlformats.org/drawingml/2006/main" noGrp="1"/>
          </p:cNvSpPr>
          <p:nvPr/>
        </p:nvSpPr>
        <p:spPr>
          <a:xfrm xmlns:a="http://schemas.openxmlformats.org/drawingml/2006/main">
            <a:off x="666750" y="52387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a:defPPr>
            <a:lvl1pPr algn="l">
              <a:defRPr sz="2025"/>
            </a:lvl1pPr>
            <a:lvl2pPr algn="l">
              <a:defRPr sz="2025"/>
            </a:lvl2pPr>
            <a:lvl3pPr algn="l">
              <a:defRPr sz="2025"/>
            </a:lvl3pPr>
            <a:lvl4pPr algn="l">
              <a:defRPr sz="2025"/>
            </a:lvl4pPr>
            <a:lvl5pPr algn="l">
              <a:defRPr sz="2025"/>
            </a:lvl5pPr>
            <a:lvl6pPr algn="l">
              <a:defRPr sz="2025"/>
            </a:lvl6pPr>
            <a:lvl7pPr algn="l">
              <a:defRPr sz="2025"/>
            </a:lvl7pPr>
            <a:lvl8pPr algn="l">
              <a:defRPr sz="2025"/>
            </a:lvl8pPr>
            <a:lvl9pPr algn="l">
              <a:defRPr sz="2025"/>
            </a:lvl9pPr>
          </a:lstStyle>
          <a:p xmlns:a="http://schemas.openxmlformats.org/drawingml/2006/main">
            <a:pPr algn="l">
              <a:defRPr sz="2025"/>
            </a:pPr>
            <a:r>
              <a:rPr sz="2025" b="0">
                <a:solidFill>
                  <a:srgbClr val="595959"/>
                </a:solidFill>
                <a:latin typeface="Arial"/>
                <a:ea typeface="Arial"/>
                <a:cs typeface="Arial"/>
              </a:rPr>
              <a:t>Next: matched corruption/OOD evaluation. Heavy experiments remain paused.</a:t>
            </a:r>
          </a:p>
        </p:txBody>
      </p:sp>
    </p:spTree>
    <p:extLst>
      <p:ext uri="{BB962C8B-B14F-4D97-AF65-F5344CB8AC3E}">
        <p14:creationId xmlns:p14="http://schemas.microsoft.com/office/powerpoint/2010/main" val="1760383582"/>
      </p:ext>
    </p:extLst>
  </p:cSld>
</p:sld>
</file>

<file path=ppt/slides/slide7.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C83031-14A6-4FE1-AC4F-837CD461B9A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002E55-B3A5-40E6-AD5A-08584432EE34}"/>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Our mission</a:t>
            </a:r>
          </a:p>
        </p:txBody>
      </p:sp>
      <p:sp>
        <p:nvSpPr>
          <p:cNvPr id="3" name="">
            <a:extLst xmlns:a="http://schemas.openxmlformats.org/drawingml/2006/main">
              <a:ext uri="{FF2B5EF4-FFF2-40B4-BE49-F238E27FC236}">
                <a16:creationId xmlns:a16="http://schemas.microsoft.com/office/drawing/2014/main" id="{29BCDC7A-6737-4134-913F-444DECC9B81E}"/>
              </a:ext>
            </a:extLst>
          </p:cNvPr>
          <p:cNvSpPr>
            <a:spLocks xmlns:a="http://schemas.openxmlformats.org/drawingml/2006/main" noGrp="1"/>
          </p:cNvSpPr>
          <p:nvPr/>
        </p:nvSpPr>
        <p:spPr>
          <a:xfrm xmlns:a="http://schemas.openxmlformats.org/drawingml/2006/main">
            <a:off x="857250" y="2190750"/>
            <a:ext cx="10287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450"/>
            </a:defPPr>
            <a:lvl1pPr algn="l">
              <a:defRPr sz="3450"/>
            </a:lvl1pPr>
            <a:lvl2pPr algn="l">
              <a:defRPr sz="3450"/>
            </a:lvl2pPr>
            <a:lvl3pPr algn="l">
              <a:defRPr sz="3450"/>
            </a:lvl3pPr>
            <a:lvl4pPr algn="l">
              <a:defRPr sz="3450"/>
            </a:lvl4pPr>
            <a:lvl5pPr algn="l">
              <a:defRPr sz="3450"/>
            </a:lvl5pPr>
            <a:lvl6pPr algn="l">
              <a:defRPr sz="3450"/>
            </a:lvl6pPr>
            <a:lvl7pPr algn="l">
              <a:defRPr sz="3450"/>
            </a:lvl7pPr>
            <a:lvl8pPr algn="l">
              <a:defRPr sz="3450"/>
            </a:lvl8pPr>
            <a:lvl9pPr algn="l">
              <a:defRPr sz="3450"/>
            </a:lvl9pPr>
          </a:lstStyle>
          <a:p xmlns:a="http://schemas.openxmlformats.org/drawingml/2006/main">
            <a:pPr algn="l">
              <a:defRPr sz="3450"/>
            </a:pPr>
            <a:r>
              <a:rPr sz="3450" b="0">
                <a:solidFill>
                  <a:srgbClr val="002676"/>
                </a:solidFill>
                <a:latin typeface="Arial"/>
                <a:ea typeface="Arial"/>
                <a:cs typeface="Arial"/>
              </a:rPr>
              <a:t>Give vision practitioners reproducible evidence for when a classifier should answer, abstain, or defer to human review.</a:t>
            </a:r>
          </a:p>
        </p:txBody>
      </p:sp>
      <p:sp>
        <p:nvSpPr>
          <p:cNvPr id="4" name="">
            <a:extLst xmlns:a="http://schemas.openxmlformats.org/drawingml/2006/main">
              <a:ext uri="{FF2B5EF4-FFF2-40B4-BE49-F238E27FC236}">
                <a16:creationId xmlns:a16="http://schemas.microsoft.com/office/drawing/2014/main" id="{38661FE9-8F16-4234-A94D-B3168DDE5BF9}"/>
              </a:ext>
            </a:extLst>
          </p:cNvPr>
          <p:cNvSpPr>
            <a:spLocks xmlns:a="http://schemas.openxmlformats.org/drawingml/2006/main" noGrp="1"/>
          </p:cNvSpPr>
          <p:nvPr/>
        </p:nvSpPr>
        <p:spPr>
          <a:xfrm xmlns:a="http://schemas.openxmlformats.org/drawingml/2006/main">
            <a:off x="857250" y="528637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0">
                <a:solidFill>
                  <a:srgbClr val="595959"/>
                </a:solidFill>
                <a:latin typeface="Arial"/>
                <a:ea typeface="Arial"/>
                <a:cs typeface="Arial"/>
              </a:rPr>
              <a:t>Reliable accepted predictions at useful coverage</a:t>
            </a:r>
          </a:p>
        </p:txBody>
      </p:sp>
    </p:spTree>
    <p:extLst>
      <p:ext uri="{BB962C8B-B14F-4D97-AF65-F5344CB8AC3E}">
        <p14:creationId xmlns:p14="http://schemas.microsoft.com/office/powerpoint/2010/main" val="7336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2026-10-29T20:48:23.1220000Z</dcterms:created>
  <dcterms:modified xsi:type="dcterms:W3CDTF">2026-10-29T20:48:23.1230000Z</dcterms:modified>
</coreProperties>
</file>