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016dbb907a046ae" /><Relationship Type="http://schemas.openxmlformats.org/officeDocument/2006/relationships/extended-properties" Target="/docProps/app.xml" Id="Rc18cc208b4c4497a" /><Relationship Type="http://schemas.openxmlformats.org/officeDocument/2006/relationships/officeDocument" Target="/ppt/presentation.xml" Id="Ra81dd8097e1c4ab7" /></Relationships>
</file>

<file path=ppt/presentation.xml><?xml version="1.0" encoding="utf-8"?>
<p:presentation xmlns:p="http://schemas.openxmlformats.org/presentationml/2006/main">
  <p:sldMasterIdLst>
    <p:sldMasterId xmlns:r="http://schemas.openxmlformats.org/officeDocument/2006/relationships" id="2147483648" r:id="R1304f013e22041ce"/>
  </p:sldMasterIdLst>
  <p:notesMasterIdLst>
    <p:notesMasterId xmlns:r="http://schemas.openxmlformats.org/officeDocument/2006/relationships" r:id="Re4383f6cbb834e78"/>
  </p:notesMasterIdLst>
  <p:sldIdLst>
    <p:sldId xmlns:r="http://schemas.openxmlformats.org/officeDocument/2006/relationships" id="256" r:id="R7356a3e3d33f4786"/>
    <p:sldId xmlns:r="http://schemas.openxmlformats.org/officeDocument/2006/relationships" id="257" r:id="R9328e78ac4174def"/>
    <p:sldId xmlns:r="http://schemas.openxmlformats.org/officeDocument/2006/relationships" id="258" r:id="R6c627add87274030"/>
    <p:sldId xmlns:r="http://schemas.openxmlformats.org/officeDocument/2006/relationships" id="259" r:id="Rec0dd87bb41f4aa3"/>
    <p:sldId xmlns:r="http://schemas.openxmlformats.org/officeDocument/2006/relationships" id="260" r:id="R73f2d0f6fd7f42ec"/>
    <p:sldId xmlns:r="http://schemas.openxmlformats.org/officeDocument/2006/relationships" id="261" r:id="R73833c2c61664852"/>
    <p:sldId xmlns:r="http://schemas.openxmlformats.org/officeDocument/2006/relationships" id="262" r:id="R4ea2a0f46e2a4539"/>
    <p:sldId xmlns:r="http://schemas.openxmlformats.org/officeDocument/2006/relationships" id="263" r:id="R3bb4255a29884305"/>
    <p:sldId xmlns:r="http://schemas.openxmlformats.org/officeDocument/2006/relationships" id="264" r:id="R0f38857fe3bd4c4e"/>
    <p:sldId xmlns:r="http://schemas.openxmlformats.org/officeDocument/2006/relationships" id="265" r:id="R9d2c1dc975584586"/>
    <p:sldId xmlns:r="http://schemas.openxmlformats.org/officeDocument/2006/relationships" id="266" r:id="R8258f89748a045cd"/>
    <p:sldId xmlns:r="http://schemas.openxmlformats.org/officeDocument/2006/relationships" id="267" r:id="R56ec194502fc42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fed9f3771a47cb" /><Relationship Type="http://schemas.openxmlformats.org/officeDocument/2006/relationships/slideMaster" Target="/ppt/slideMasters/slideMaster1.xml" Id="R1304f013e22041ce" /><Relationship Type="http://schemas.openxmlformats.org/officeDocument/2006/relationships/notesMaster" Target="/ppt/notesMasters/notesMaster1.xml" Id="Re4383f6cbb834e78" /><Relationship Type="http://schemas.openxmlformats.org/officeDocument/2006/relationships/presProps" Target="/ppt/presProps.xml" Id="R1533d2a41b2c4932" /><Relationship Type="http://schemas.openxmlformats.org/officeDocument/2006/relationships/tableStyles" Target="/ppt/tableStyles.xml" Id="Rbc0e2a641a7d4256" /><Relationship Type="http://schemas.openxmlformats.org/officeDocument/2006/relationships/slide" Target="/ppt/slides/slide1.xml" Id="R7356a3e3d33f4786" /><Relationship Type="http://schemas.openxmlformats.org/officeDocument/2006/relationships/slide" Target="/ppt/slides/slide2.xml" Id="R9328e78ac4174def" /><Relationship Type="http://schemas.openxmlformats.org/officeDocument/2006/relationships/slide" Target="/ppt/slides/slide3.xml" Id="R6c627add87274030" /><Relationship Type="http://schemas.openxmlformats.org/officeDocument/2006/relationships/slide" Target="/ppt/slides/slide4.xml" Id="Rec0dd87bb41f4aa3" /><Relationship Type="http://schemas.openxmlformats.org/officeDocument/2006/relationships/slide" Target="/ppt/slides/slide5.xml" Id="R73f2d0f6fd7f42ec" /><Relationship Type="http://schemas.openxmlformats.org/officeDocument/2006/relationships/slide" Target="/ppt/slides/slide6.xml" Id="R73833c2c61664852" /><Relationship Type="http://schemas.openxmlformats.org/officeDocument/2006/relationships/slide" Target="/ppt/slides/slide7.xml" Id="R4ea2a0f46e2a4539" /><Relationship Type="http://schemas.openxmlformats.org/officeDocument/2006/relationships/slide" Target="/ppt/slides/slide8.xml" Id="R3bb4255a29884305" /><Relationship Type="http://schemas.openxmlformats.org/officeDocument/2006/relationships/slide" Target="/ppt/slides/slide9.xml" Id="R0f38857fe3bd4c4e" /><Relationship Type="http://schemas.openxmlformats.org/officeDocument/2006/relationships/slide" Target="/ppt/slides/slide10.xml" Id="R9d2c1dc975584586" /><Relationship Type="http://schemas.openxmlformats.org/officeDocument/2006/relationships/slide" Target="/ppt/slides/slide11.xml" Id="R8258f89748a045cd" /><Relationship Type="http://schemas.openxmlformats.org/officeDocument/2006/relationships/slide" Target="/ppt/slides/slide12.xml" Id="R56ec194502fc42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8ca4fe813e4b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2240a4d6dd4b8c" /><Relationship Type="http://schemas.openxmlformats.org/officeDocument/2006/relationships/notesMaster" Target="/ppt/notesMasters/notesMaster1.xml" Id="R3a2936db2c9342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277114f7ff463e" /><Relationship Type="http://schemas.openxmlformats.org/officeDocument/2006/relationships/notesMaster" Target="/ppt/notesMasters/notesMaster1.xml" Id="Rf0d5240a23104f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fd672f569047ae" /><Relationship Type="http://schemas.openxmlformats.org/officeDocument/2006/relationships/notesMaster" Target="/ppt/notesMasters/notesMaster1.xml" Id="R9a80a6261b7249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f61ca7970547a8" /><Relationship Type="http://schemas.openxmlformats.org/officeDocument/2006/relationships/notesMaster" Target="/ppt/notesMasters/notesMaster1.xml" Id="R63c0d07c1a1542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2e6c802d1c43a0" /><Relationship Type="http://schemas.openxmlformats.org/officeDocument/2006/relationships/notesMaster" Target="/ppt/notesMasters/notesMaster1.xml" Id="Rb63c14e4a7f44f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330bab248643f3" /><Relationship Type="http://schemas.openxmlformats.org/officeDocument/2006/relationships/notesMaster" Target="/ppt/notesMasters/notesMaster1.xml" Id="R0d55acec849047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c4f48381954e60" /><Relationship Type="http://schemas.openxmlformats.org/officeDocument/2006/relationships/notesMaster" Target="/ppt/notesMasters/notesMaster1.xml" Id="R13c3c6d8afb44f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4c5ad350df4587" /><Relationship Type="http://schemas.openxmlformats.org/officeDocument/2006/relationships/notesMaster" Target="/ppt/notesMasters/notesMaster1.xml" Id="Rf0b8230bc2d048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335240c4324a85" /><Relationship Type="http://schemas.openxmlformats.org/officeDocument/2006/relationships/notesMaster" Target="/ppt/notesMasters/notesMaster1.xml" Id="R6e84ef9c63b041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4850ceb9724420" /><Relationship Type="http://schemas.openxmlformats.org/officeDocument/2006/relationships/notesMaster" Target="/ppt/notesMasters/notesMaster1.xml" Id="R34d82d577dec44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1d529bb4a44db2" /><Relationship Type="http://schemas.openxmlformats.org/officeDocument/2006/relationships/notesMaster" Target="/ppt/notesMasters/notesMaster1.xml" Id="R4b3909a47011413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08af5f2551d4515" /><Relationship Type="http://schemas.openxmlformats.org/officeDocument/2006/relationships/notesMaster" Target="/ppt/notesMasters/notesMaster1.xml" Id="R8d8b5eccf1e04d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present this as a progress report, not a final robustness claim. The work asks when an image classifier should abstain. Distinguish the original proposal from the measured clean results. The experiment campaign is paused; all new analysis reads existing artifacts. Suggested time: 45 seconds.</a:t>
            </a:r>
          </a:p>
          <a:p xmlns:a="http://schemas.openxmlformats.org/drawingml/2006/main">
            <a:r>
              <a:t/>
            </a:r>
          </a:p>
          <a:p xmlns:a="http://schemas.openxmlformats.org/drawingml/2006/main">
            <a:r>
              <a:t>Source: docs/assets/clean-analysis-2026-10-29/evidence.json; SHA256 b90dc4b3c7c64bd6dd8fe37307f7d9f1f9df264eb480d5e86703fc76efe74a44. Campaign source 782d99ac9e17f38b06e256ced6f58dda2006d0fc.</a:t>
            </a:r>
          </a:p>
          <a:p xmlns:a="http://schemas.openxmlformats.org/drawingml/2006/main">
            <a:r>
              <a:t>Additional sources: docs/research-writeup.md; docs/experiment-design.md. Visual reference: team SDM deck, https://docs.google.com/presentation/d/1aMHqcsG_W8iX00KrW3dlTW-E8DPxAxeZ/edit (September 29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accuracy as correctness across all examples, ranking as whether confidence orders errors below correct predictions, and admission as the behavior of a fixed abstention policy. An empty region has zero coverage and undefined accepted accuracy. These distinctions explain why a ranking improvement can coexist with an unusable deployed rule. Suggested time: 70 seconds.</a:t>
            </a:r>
          </a:p>
          <a:p xmlns:a="http://schemas.openxmlformats.org/drawingml/2006/main">
            <a:r>
              <a:t/>
            </a:r>
          </a:p>
          <a:p xmlns:a="http://schemas.openxmlformats.org/drawingml/2006/main">
            <a:r>
              <a:t>Source: docs/assets/clean-analysis-2026-10-29/evidence.json; SHA256 b90dc4b3c7c64bd6dd8fe37307f7d9f1f9df264eb480d5e86703fc76efe74a44. Campaign source 782d99ac9e17f38b06e256ced6f58dda2006d0fc.</a:t>
            </a:r>
          </a:p>
          <a:p xmlns:a="http://schemas.openxmlformats.org/drawingml/2006/main">
            <a:r>
              <a:t>Additional sources: docs/research-writeup.md; docs/experiment-design.md. Visual reference: team SDM deck, https://docs.google.com/presentation/d/1aMHqcsG_W8iX00KrW3dlTW-E8DPxAxeZ/edit (September 29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share one checkpoint and evaluation population within each block. ResNet is from scratch and reports validation; ConvNeXt is pretrained and reports official test. Training support, transforms, and selection rules differ. Do not treat the architecture comparison as a controlled uncertainty-method ablation. The numbers shown here are the EMNIST protocol. Suggested time: 75 seconds.</a:t>
            </a:r>
          </a:p>
          <a:p xmlns:a="http://schemas.openxmlformats.org/drawingml/2006/main">
            <a:r>
              <a:t/>
            </a:r>
          </a:p>
          <a:p xmlns:a="http://schemas.openxmlformats.org/drawingml/2006/main">
            <a:r>
              <a:t>Source: docs/assets/clean-analysis-2026-10-29/evidence.json; SHA256 b90dc4b3c7c64bd6dd8fe37307f7d9f1f9df264eb480d5e86703fc76efe74a44. Campaign source 782d99ac9e17f38b06e256ced6f58dda2006d0fc.</a:t>
            </a:r>
          </a:p>
          <a:p xmlns:a="http://schemas.openxmlformats.org/drawingml/2006/main">
            <a:r>
              <a:t>Additional sources: docs/research-writeup.md; docs/experiment-design.md. Visual reference: team SDM deck, https://docs.google.com/presentation/d/1aMHqcsG_W8iX00KrW3dlTW-E8DPxAxeZ/edit (September 29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official-test populations are separate tasks, each with its own model. All use one backbone seed. Also completed: a from-scratch ResNet CIFAR-100 classifier and learned SDM fits; those use a different clean reporting population. Do not rank models across the rows. No-region outcomes are retained. Suggested time: 70 seconds.</a:t>
            </a:r>
          </a:p>
          <a:p xmlns:a="http://schemas.openxmlformats.org/drawingml/2006/main">
            <a:r>
              <a:t/>
            </a:r>
          </a:p>
          <a:p xmlns:a="http://schemas.openxmlformats.org/drawingml/2006/main">
            <a:r>
              <a:t>Source: docs/assets/clean-analysis-2026-10-29/evidence.json; SHA256 b90dc4b3c7c64bd6dd8fe37307f7d9f1f9df264eb480d5e86703fc76efe74a44. Campaign source 782d99ac9e17f38b06e256ced6f58dda2006d0fc.</a:t>
            </a:r>
          </a:p>
          <a:p xmlns:a="http://schemas.openxmlformats.org/drawingml/2006/main">
            <a:r>
              <a:t>Additional sources: docs/research-writeup.md; docs/experiment-design.md. Visual reference: team SDM deck, https://docs.google.com/presentation/d/1aMHqcsG_W8iX00KrW3dlTW-E8DPxAxeZ/edit (September 29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ECE in percentage points. Raw softmax and temperature-25 predictions share the same labels and checkpoint; temperature changes confidence rather than top-1 decisions. These are descriptive single-seed results. Lower ECE does not establish robustness or imply every metric improves. Suggested time: 70 seconds.</a:t>
            </a:r>
          </a:p>
          <a:p xmlns:a="http://schemas.openxmlformats.org/drawingml/2006/main">
            <a:r>
              <a:t/>
            </a:r>
          </a:p>
          <a:p xmlns:a="http://schemas.openxmlformats.org/drawingml/2006/main">
            <a:r>
              <a:t>Source: docs/assets/clean-analysis-2026-10-29/evidence.json; SHA256 b90dc4b3c7c64bd6dd8fe37307f7d9f1f9df264eb480d5e86703fc76efe74a44. Campaign source 782d99ac9e17f38b06e256ced6f58dda2006d0fc.</a:t>
            </a:r>
          </a:p>
          <a:p xmlns:a="http://schemas.openxmlformats.org/drawingml/2006/main">
            <a:r>
              <a:t>Additional sources: docs/research-writeup.md; docs/experiment-design.md. Visual reference: team SDM deck, https://docs.google.com/presentation/d/1aMHqcsG_W8iX00KrW3dlTW-E8DPxAxeZ/edit (September 29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EMNIST has 47 classes and 18,800 test examples. SDM-100 has lower AURC than raw softmax, but its probability calibration is worse and no qualifying region forms. ECE values on this figure use rates, unlike the previous slide percentages. SDM probability metrics are reconciled native exports; ranking and admissions were independently recomputed from per-image saved scores. Suggested time: 80 seconds.</a:t>
            </a:r>
          </a:p>
          <a:p xmlns:a="http://schemas.openxmlformats.org/drawingml/2006/main">
            <a:r>
              <a:t/>
            </a:r>
          </a:p>
          <a:p xmlns:a="http://schemas.openxmlformats.org/drawingml/2006/main">
            <a:r>
              <a:t>Source: docs/assets/clean-analysis-2026-10-29/evidence.json; SHA256 b90dc4b3c7c64bd6dd8fe37307f7d9f1f9df264eb480d5e86703fc76efe74a44. Campaign source 782d99ac9e17f38b06e256ced6f58dda2006d0fc.</a:t>
            </a:r>
          </a:p>
          <a:p xmlns:a="http://schemas.openxmlformats.org/drawingml/2006/main">
            <a:r>
              <a:t>Additional sources: docs/research-writeup.md; docs/experiment-design.md. Visual reference: team SDM deck, https://docs.google.com/presentation/d/1aMHqcsG_W8iX00KrW3dlTW-E8DPxAxeZ/edit (September 29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reports calibration-selected global temperature rules, not retrospective threshold tuning on test labels. The minimum admitted calibration count is 100. Larger calibration support does not guarantee higher test accepted accuracy under this empirical selection procedure. EMNIST-100 misses the target while admitting more test images. The comparison is retrospective and single-seed; it is not evidence that more calibration data causes worse performance. Suggested time: 80 seconds.</a:t>
            </a:r>
          </a:p>
          <a:p xmlns:a="http://schemas.openxmlformats.org/drawingml/2006/main">
            <a:r>
              <a:t/>
            </a:r>
          </a:p>
          <a:p xmlns:a="http://schemas.openxmlformats.org/drawingml/2006/main">
            <a:r>
              <a:t>Source: docs/assets/clean-analysis-2026-10-29/evidence.json; SHA256 b90dc4b3c7c64bd6dd8fe37307f7d9f1f9df264eb480d5e86703fc76efe74a44. Campaign source 782d99ac9e17f38b06e256ced6f58dda2006d0fc.</a:t>
            </a:r>
          </a:p>
          <a:p xmlns:a="http://schemas.openxmlformats.org/drawingml/2006/main">
            <a:r>
              <a:t>Additional sources: docs/research-writeup.md; docs/experiment-design.md. Visual reference: team SDM deck, https://docs.google.com/presentation/d/1aMHqcsG_W8iX00KrW3dlTW-E8DPxAxeZ/edit (September 29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Directed confusions count true class to predicted class separately; reciprocal errors are separate entries. Select pairs by largest error count, then class IDs for ties. This selection is descriptive after test exploration. Visual ambiguity is a hypothesis; it is not proof of incorrect annotation or the cause of SDM region failure. Suggested time: 60 seconds.</a:t>
            </a:r>
          </a:p>
          <a:p xmlns:a="http://schemas.openxmlformats.org/drawingml/2006/main">
            <a:r>
              <a:t/>
            </a:r>
          </a:p>
          <a:p xmlns:a="http://schemas.openxmlformats.org/drawingml/2006/main">
            <a:r>
              <a:t>Source: docs/assets/clean-analysis-2026-10-29/evidence.json; SHA256 b90dc4b3c7c64bd6dd8fe37307f7d9f1f9df264eb480d5e86703fc76efe74a44. Campaign source 782d99ac9e17f38b06e256ced6f58dda2006d0fc.</a:t>
            </a:r>
          </a:p>
          <a:p xmlns:a="http://schemas.openxmlformats.org/drawingml/2006/main">
            <a:r>
              <a:t>Additional sources: docs/research-writeup.md; docs/experiment-design.md. Visual reference: team SDM deck, https://docs.google.com/presentation/d/1aMHqcsG_W8iX00KrW3dlTW-E8DPxAxeZ/edit (September 29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are the three highest temperature-standard confidence errors, with dataset ID breaking ties. They are deliberately selected errors and do not estimate the frequency of all errors. The image labels and predictions are checked against the saved official-test arrays and local dataset cache. Do not treat softmax confidence as an individual error guarantee. Suggested time: 60 seconds.</a:t>
            </a:r>
          </a:p>
          <a:p xmlns:a="http://schemas.openxmlformats.org/drawingml/2006/main">
            <a:r>
              <a:t/>
            </a:r>
          </a:p>
          <a:p xmlns:a="http://schemas.openxmlformats.org/drawingml/2006/main">
            <a:r>
              <a:t>Source: docs/assets/clean-analysis-2026-10-29/evidence.json; SHA256 b90dc4b3c7c64bd6dd8fe37307f7d9f1f9df264eb480d5e86703fc76efe74a44. Campaign source 782d99ac9e17f38b06e256ced6f58dda2006d0fc.</a:t>
            </a:r>
          </a:p>
          <a:p xmlns:a="http://schemas.openxmlformats.org/drawingml/2006/main">
            <a:r>
              <a:t>Additional sources: docs/research-writeup.md; docs/experiment-design.md. Visual reference: team SDM deck, https://docs.google.com/presentation/d/1aMHqcsG_W8iX00KrW3dlTW-E8DPxAxeZ/edit (September 29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deterministic example selection is applied to EMNIST. The images are displayed upright using the same transpose as the experiment. The examples are qualitative illustrations, not independent evidence of label noise or a class-count mechanism. Suggested time: 60 seconds.</a:t>
            </a:r>
          </a:p>
          <a:p xmlns:a="http://schemas.openxmlformats.org/drawingml/2006/main">
            <a:r>
              <a:t/>
            </a:r>
          </a:p>
          <a:p xmlns:a="http://schemas.openxmlformats.org/drawingml/2006/main">
            <a:r>
              <a:t>Source: docs/assets/clean-analysis-2026-10-29/evidence.json; SHA256 b90dc4b3c7c64bd6dd8fe37307f7d9f1f9df264eb480d5e86703fc76efe74a44. Campaign source 782d99ac9e17f38b06e256ced6f58dda2006d0fc.</a:t>
            </a:r>
          </a:p>
          <a:p xmlns:a="http://schemas.openxmlformats.org/drawingml/2006/main">
            <a:r>
              <a:t>Additional sources: docs/research-writeup.md; docs/experiment-design.md. Visual reference: team SDM deck, https://docs.google.com/presentation/d/1aMHqcsG_W8iX00KrW3dlTW-E8DPxAxeZ/edit (September 29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tied-score threshold defect was reproduced in older ResNet notebooks 04–10. Coverage matching in 07/09/10 and class sweep had depended on validation coverage. Those code paths are repaired in PR 33, but source repair alone cannot revalidate the historical results. We retain negative findings and reject stale artifacts. Suggested time: 70 seconds.</a:t>
            </a:r>
          </a:p>
          <a:p xmlns:a="http://schemas.openxmlformats.org/drawingml/2006/main">
            <a:r>
              <a:t/>
            </a:r>
          </a:p>
          <a:p xmlns:a="http://schemas.openxmlformats.org/drawingml/2006/main">
            <a:r>
              <a:t>Source: docs/assets/clean-analysis-2026-10-29/evidence.json; SHA256 b90dc4b3c7c64bd6dd8fe37307f7d9f1f9df264eb480d5e86703fc76efe74a44. Campaign source 782d99ac9e17f38b06e256ced6f58dda2006d0fc.</a:t>
            </a:r>
          </a:p>
          <a:p xmlns:a="http://schemas.openxmlformats.org/drawingml/2006/main">
            <a:r>
              <a:t>Additional sources: docs/research-writeup.md; docs/experiment-design.md. Visual reference: team SDM deck, https://docs.google.com/presentation/d/1aMHqcsG_W8iX00KrW3dlTW-E8DPxAxeZ/edit (September 29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research question. Temperature scaling improves clean probability calibration on the completed tasks. SDM ranking and admission behavior must be reported separately, including no-region outcomes. Heavy experiments remain paused. Needed for the older teammate comparisons: exact checkpoint, split membership/class map, SDM artifact, and saved calibration/evaluation logits or scores. No expert meeting, new seed run, corruption result or OOD robustness result is implied. Suggested time: 60 seconds; then questions.</a:t>
            </a:r>
          </a:p>
          <a:p xmlns:a="http://schemas.openxmlformats.org/drawingml/2006/main">
            <a:r>
              <a:t/>
            </a:r>
          </a:p>
          <a:p xmlns:a="http://schemas.openxmlformats.org/drawingml/2006/main">
            <a:r>
              <a:t>Source: docs/assets/clean-analysis-2026-10-29/evidence.json; SHA256 b90dc4b3c7c64bd6dd8fe37307f7d9f1f9df264eb480d5e86703fc76efe74a44. Campaign source 782d99ac9e17f38b06e256ced6f58dda2006d0fc.</a:t>
            </a:r>
          </a:p>
          <a:p xmlns:a="http://schemas.openxmlformats.org/drawingml/2006/main">
            <a:r>
              <a:t>Additional sources: docs/research-writeup.md; docs/experiment-design.md. Visual reference: team SDM deck, https://docs.google.com/presentation/d/1aMHqcsG_W8iX00KrW3dlTW-E8DPxAxeZ/edit (September 29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2cad46e43d429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a9bb0cb1d2a4f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740053722144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70560badf646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03f8fc687946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5debc9171342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64934-C8BF-44EF-AFDC-11E2834FBF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891E9BA-912D-4C26-B6C6-5EFCCFE96DD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B574E9A-FEC1-4B67-B495-601839BCB42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3890B6-4EEF-4A2C-85F9-81FB65BD23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82BC5DF-00C1-48BF-8031-DFFD7B59B19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0F2C54-0433-41A1-8E83-B3FEB320A6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CF016F-9264-4981-A198-BC3E13DACF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028F954-C482-4618-B230-6B1BADE24CA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3BB7B4-716D-4893-993B-1EA01D5DBF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D83811-CE54-4AA3-8954-CE01724E92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5a303c0f67430e" /><Relationship Type="http://schemas.openxmlformats.org/officeDocument/2006/relationships/slideLayout" Target="/ppt/slideLayouts/slideLayout1.xml" Id="R35f26896607541d7" /><Relationship Type="http://schemas.openxmlformats.org/officeDocument/2006/relationships/slideLayout" Target="/ppt/slideLayouts/slideLayout2.xml" Id="Ra057dbc1d8ba4e68" /><Relationship Type="http://schemas.openxmlformats.org/officeDocument/2006/relationships/slideLayout" Target="/ppt/slideLayouts/slideLayout3.xml" Id="R78f9362d8975499c" /><Relationship Type="http://schemas.openxmlformats.org/officeDocument/2006/relationships/slideLayout" Target="/ppt/slideLayouts/slideLayout4.xml" Id="R40a57bb60377451f" /><Relationship Type="http://schemas.openxmlformats.org/officeDocument/2006/relationships/slideLayout" Target="/ppt/slideLayouts/slideLayout5.xml" Id="Rd1f0f3ea002446a5" /><Relationship Type="http://schemas.openxmlformats.org/officeDocument/2006/relationships/slideLayout" Target="/ppt/slideLayouts/slideLayout6.xml" Id="Ra9d27ab464a54d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f26896607541d7"/>
    <p:sldLayoutId xmlns:r="http://schemas.openxmlformats.org/officeDocument/2006/relationships" id="2147483650" r:id="Ra057dbc1d8ba4e68"/>
    <p:sldLayoutId xmlns:r="http://schemas.openxmlformats.org/officeDocument/2006/relationships" id="2147483651" r:id="R78f9362d8975499c"/>
    <p:sldLayoutId xmlns:r="http://schemas.openxmlformats.org/officeDocument/2006/relationships" id="2147483652" r:id="R40a57bb60377451f"/>
    <p:sldLayoutId xmlns:r="http://schemas.openxmlformats.org/officeDocument/2006/relationships" id="2147483653" r:id="Rd1f0f3ea002446a5"/>
    <p:sldLayoutId xmlns:r="http://schemas.openxmlformats.org/officeDocument/2006/relationships" id="2147483654" r:id="Ra9d27ab464a54d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e9a040eec1b4f73" /><Relationship Type="http://schemas.openxmlformats.org/officeDocument/2006/relationships/notesSlide" Target="/ppt/notesSlides/notesSlide1.xml" Id="Rdef9088c85b94d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b904c645eef4fe6" /><Relationship Type="http://schemas.openxmlformats.org/officeDocument/2006/relationships/notesSlide" Target="/ppt/notesSlides/notesSlide2.xml" Id="Rb772c912622d4a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e584014e2af402e" /><Relationship Type="http://schemas.openxmlformats.org/officeDocument/2006/relationships/notesSlide" Target="/ppt/notesSlides/notesSlide3.xml" Id="R2142e33ec65b45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8f348a848a42ee" /><Relationship Type="http://schemas.openxmlformats.org/officeDocument/2006/relationships/notesSlide" Target="/ppt/notesSlides/notesSlide4.xml" Id="R6580fac812fc4a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0972804c5b416c" /><Relationship Type="http://schemas.openxmlformats.org/officeDocument/2006/relationships/chart" Target="/ppt/slides/charts/chart1.xml" Id="R43b715ceb0a34d37" /><Relationship Type="http://schemas.openxmlformats.org/officeDocument/2006/relationships/notesSlide" Target="/ppt/notesSlides/notesSlide5.xml" Id="Rcf603659f62a48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d955d6177234fc2" /><Relationship Type="http://schemas.openxmlformats.org/officeDocument/2006/relationships/image" Target="/ppt/media/image.png" Id="Rcd4de4ed88304184" /><Relationship Type="http://schemas.openxmlformats.org/officeDocument/2006/relationships/notesSlide" Target="/ppt/notesSlides/notesSlide6.xml" Id="Rb6e8b6f64a464e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8ac77f276c44b5a" /><Relationship Type="http://schemas.openxmlformats.org/officeDocument/2006/relationships/notesSlide" Target="/ppt/notesSlides/notesSlide7.xml" Id="Rb29238971ff840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ac00faa271d4021" /><Relationship Type="http://schemas.openxmlformats.org/officeDocument/2006/relationships/notesSlide" Target="/ppt/notesSlides/notesSlide8.xml" Id="R40b49e0aeac34a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e51e27c01c4ddd" /><Relationship Type="http://schemas.openxmlformats.org/officeDocument/2006/relationships/image" Target="/ppt/media/image2.png" Id="Rd5dd844c0feb47a1" /><Relationship Type="http://schemas.openxmlformats.org/officeDocument/2006/relationships/notesSlide" Target="/ppt/notesSlides/notesSlide9.xml" Id="R9c7f235e459d4e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c700c0348944e5b" /><Relationship Type="http://schemas.openxmlformats.org/officeDocument/2006/relationships/image" Target="/ppt/media/image3.png" Id="R4f1dedc335dd4754" /><Relationship Type="http://schemas.openxmlformats.org/officeDocument/2006/relationships/notesSlide" Target="/ppt/notesSlides/notesSlide10.xml" Id="Rd2c741315f6341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d652a962d6849b9" /><Relationship Type="http://schemas.openxmlformats.org/officeDocument/2006/relationships/notesSlide" Target="/ppt/notesSlides/notesSlide11.xml" Id="R3d59ed3b8eca48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6cac26ae2d148f0" /><Relationship Type="http://schemas.openxmlformats.org/officeDocument/2006/relationships/notesSlide" Target="/ppt/notesSlides/notesSlide12.xml" Id="Rc153eb799ec740c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Raw softmax</c:v>
          </c:tx>
          <c:spPr>
            <a:solidFill xmlns:a="http://schemas.openxmlformats.org/drawingml/2006/main">
              <a:srgbClr val="002676"/>
            </a:solidFill>
          </c:spPr>
          <c:invertIfNegative val="0"/>
          <c:cat>
            <c:strRef>
              <c:f>'Chart Data'!$A$2:$A$6</c:f>
              <c:strCache>
                <c:ptCount val="5"/>
                <c:pt idx="0">
                  <c:v>CIFAR-100</c:v>
                </c:pt>
                <c:pt idx="1">
                  <c:v>MNIST</c:v>
                </c:pt>
                <c:pt idx="2">
                  <c:v>Fashion-MNIST</c:v>
                </c:pt>
                <c:pt idx="3">
                  <c:v>KMNIST</c:v>
                </c:pt>
                <c:pt idx="4">
                  <c:v>EMNIST</c:v>
                </c:pt>
              </c:strCache>
            </c:strRef>
          </c:cat>
          <c:val>
            <c:numRef>
              <c:f>'Chart Data'!$B$2:$B$6</c:f>
              <c:numCache>
                <c:formatCode>0.0</c:formatCode>
                <c:ptCount val="5"/>
                <c:pt idx="0">
                  <c:v>5.96</c:v>
                </c:pt>
                <c:pt idx="1">
                  <c:v>8.72</c:v>
                </c:pt>
                <c:pt idx="2">
                  <c:v>6.85</c:v>
                </c:pt>
                <c:pt idx="3">
                  <c:v>8.17</c:v>
                </c:pt>
                <c:pt idx="4">
                  <c:v>6.29</c:v>
                </c:pt>
              </c:numCache>
            </c:numRef>
          </c:val>
        </c:ser>
        <c:ser>
          <c:idx val="1"/>
          <c:order val="1"/>
          <c:tx>
            <c:v>Temperature, 25/class</c:v>
          </c:tx>
          <c:spPr>
            <a:solidFill xmlns:a="http://schemas.openxmlformats.org/drawingml/2006/main">
              <a:srgbClr val="FDB515"/>
            </a:solidFill>
          </c:spPr>
          <c:invertIfNegative val="0"/>
          <c:cat>
            <c:strRef>
              <c:f>'Chart Data'!$C$2:$C$6</c:f>
              <c:strCache>
                <c:ptCount val="5"/>
                <c:pt idx="0">
                  <c:v>CIFAR-100</c:v>
                </c:pt>
                <c:pt idx="1">
                  <c:v>MNIST</c:v>
                </c:pt>
                <c:pt idx="2">
                  <c:v>Fashion-MNIST</c:v>
                </c:pt>
                <c:pt idx="3">
                  <c:v>KMNIST</c:v>
                </c:pt>
                <c:pt idx="4">
                  <c:v>EMNIST</c:v>
                </c:pt>
              </c:strCache>
            </c:strRef>
          </c:cat>
          <c:val>
            <c:numRef>
              <c:f>'Chart Data'!$D$2:$D$6</c:f>
              <c:numCache>
                <c:formatCode>0.0</c:formatCode>
                <c:ptCount val="5"/>
                <c:pt idx="0">
                  <c:v>3.36</c:v>
                </c:pt>
                <c:pt idx="1">
                  <c:v>0.18</c:v>
                </c:pt>
                <c:pt idx="2">
                  <c:v>1.74</c:v>
                </c:pt>
                <c:pt idx="3">
                  <c:v>0.52</c:v>
                </c:pt>
                <c:pt idx="4">
                  <c:v>2.94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EEEE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3847C8-A5B4-4391-A7F5-6D30F1F6D1E3}"/>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E41680-D907-4A2B-BC71-EB5D1B0D1CF9}"/>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SDM Vision Reliability</a:t>
            </a:r>
          </a:p>
        </p:txBody>
      </p:sp>
      <p:sp>
        <p:nvSpPr>
          <p:cNvPr id="3" name="">
            <a:extLst xmlns:a="http://schemas.openxmlformats.org/drawingml/2006/main">
              <a:ext uri="{FF2B5EF4-FFF2-40B4-BE49-F238E27FC236}">
                <a16:creationId xmlns:a16="http://schemas.microsoft.com/office/drawing/2014/main" id="{655C8E8F-A65D-4BB5-8609-AA45098D745D}"/>
              </a:ext>
            </a:extLst>
          </p:cNvPr>
          <p:cNvSpPr>
            <a:spLocks xmlns:a="http://schemas.openxmlformats.org/drawingml/2006/main" noGrp="1"/>
          </p:cNvSpPr>
          <p:nvPr/>
        </p:nvSpPr>
        <p:spPr>
          <a:xfrm xmlns:a="http://schemas.openxmlformats.org/drawingml/2006/main">
            <a:off x="666750" y="21907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300"/>
            </a:defPPr>
            <a:lvl1pPr algn="l">
              <a:defRPr sz="3300"/>
            </a:lvl1pPr>
            <a:lvl2pPr algn="l">
              <a:defRPr sz="3300"/>
            </a:lvl2pPr>
            <a:lvl3pPr algn="l">
              <a:defRPr sz="3300"/>
            </a:lvl3pPr>
            <a:lvl4pPr algn="l">
              <a:defRPr sz="3300"/>
            </a:lvl4pPr>
            <a:lvl5pPr algn="l">
              <a:defRPr sz="3300"/>
            </a:lvl5pPr>
            <a:lvl6pPr algn="l">
              <a:defRPr sz="3300"/>
            </a:lvl6pPr>
            <a:lvl7pPr algn="l">
              <a:defRPr sz="3300"/>
            </a:lvl7pPr>
            <a:lvl8pPr algn="l">
              <a:defRPr sz="3300"/>
            </a:lvl8pPr>
            <a:lvl9pPr algn="l">
              <a:defRPr sz="3300"/>
            </a:lvl9pPr>
          </a:lstStyle>
          <a:p xmlns:a="http://schemas.openxmlformats.org/drawingml/2006/main">
            <a:pPr algn="l">
              <a:defRPr sz="3300"/>
            </a:pPr>
            <a:r>
              <a:rPr sz="3300" b="0">
                <a:solidFill>
                  <a:srgbClr val="002676"/>
                </a:solidFill>
                <a:latin typeface="Arial"/>
                <a:ea typeface="Arial"/>
                <a:cs typeface="Arial"/>
              </a:rPr>
              <a:t>Clean-data findings and evaluation audit</a:t>
            </a:r>
          </a:p>
        </p:txBody>
      </p:sp>
      <p:sp>
        <p:nvSpPr>
          <p:cNvPr id="4" name="">
            <a:extLst xmlns:a="http://schemas.openxmlformats.org/drawingml/2006/main">
              <a:ext uri="{FF2B5EF4-FFF2-40B4-BE49-F238E27FC236}">
                <a16:creationId xmlns:a16="http://schemas.microsoft.com/office/drawing/2014/main" id="{E153BA2E-8526-4943-B4E8-427DBCD2A40E}"/>
              </a:ext>
            </a:extLst>
          </p:cNvPr>
          <p:cNvSpPr>
            <a:spLocks xmlns:a="http://schemas.openxmlformats.org/drawingml/2006/main" noGrp="1"/>
          </p:cNvSpPr>
          <p:nvPr/>
        </p:nvSpPr>
        <p:spPr>
          <a:xfrm xmlns:a="http://schemas.openxmlformats.org/drawingml/2006/main">
            <a:off x="666750" y="34766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00"/>
            </a:defPPr>
            <a:lvl1pPr algn="l">
              <a:defRPr sz="2100"/>
            </a:lvl1pPr>
            <a:lvl2pPr algn="l">
              <a:defRPr sz="2100"/>
            </a:lvl2pPr>
            <a:lvl3pPr algn="l">
              <a:defRPr sz="2100"/>
            </a:lvl3pPr>
            <a:lvl4pPr algn="l">
              <a:defRPr sz="2100"/>
            </a:lvl4pPr>
            <a:lvl5pPr algn="l">
              <a:defRPr sz="2100"/>
            </a:lvl5pPr>
            <a:lvl6pPr algn="l">
              <a:defRPr sz="2100"/>
            </a:lvl6pPr>
            <a:lvl7pPr algn="l">
              <a:defRPr sz="2100"/>
            </a:lvl7pPr>
            <a:lvl8pPr algn="l">
              <a:defRPr sz="2100"/>
            </a:lvl8pPr>
            <a:lvl9pPr algn="l">
              <a:defRPr sz="2100"/>
            </a:lvl9pPr>
          </a:lstStyle>
          <a:p xmlns:a="http://schemas.openxmlformats.org/drawingml/2006/main">
            <a:pPr algn="l">
              <a:defRPr sz="2100"/>
            </a:pPr>
            <a:r>
              <a:rPr sz="2100" b="0">
                <a:solidFill>
                  <a:srgbClr val="595959"/>
                </a:solidFill>
                <a:latin typeface="Arial"/>
                <a:ea typeface="Arial"/>
                <a:cs typeface="Arial"/>
              </a:rPr>
              <a:t>Randell Smith · Yiwen Hou · Karim Mattar</a:t>
            </a:r>
            <a:br>
              <a:rPr sz="2100" b="0">
                <a:solidFill>
                  <a:srgbClr val="595959"/>
                </a:solidFill>
                <a:latin typeface="Arial"/>
                <a:ea typeface="Arial"/>
                <a:cs typeface="Arial"/>
              </a:rPr>
            </a:br>
            <a:r>
              <a:rPr sz="2100" b="0">
                <a:solidFill>
                  <a:srgbClr val="595959"/>
                </a:solidFill>
                <a:latin typeface="Arial"/>
                <a:ea typeface="Arial"/>
                <a:cs typeface="Arial"/>
              </a:rPr>
              <a:t>UC Berkeley MIDS Capstone · October 29, 2026</a:t>
            </a:r>
          </a:p>
        </p:txBody>
      </p:sp>
      <p:sp>
        <p:nvSpPr>
          <p:cNvPr id="5" name="">
            <a:extLst xmlns:a="http://schemas.openxmlformats.org/drawingml/2006/main">
              <a:ext uri="{FF2B5EF4-FFF2-40B4-BE49-F238E27FC236}">
                <a16:creationId xmlns:a16="http://schemas.microsoft.com/office/drawing/2014/main" id="{4CA01D57-AF64-4C00-AB99-5119C37A2BDF}"/>
              </a:ext>
            </a:extLst>
          </p:cNvPr>
          <p:cNvSpPr>
            <a:spLocks xmlns:a="http://schemas.openxmlformats.org/drawingml/2006/main" noGrp="1"/>
          </p:cNvSpPr>
          <p:nvPr/>
        </p:nvSpPr>
        <p:spPr>
          <a:xfrm xmlns:a="http://schemas.openxmlformats.org/drawingml/2006/main">
            <a:off x="666750" y="5286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a:defPPr>
            <a:lvl1pPr algn="l">
              <a:defRPr sz="1950"/>
            </a:lvl1pPr>
            <a:lvl2pPr algn="l">
              <a:defRPr sz="1950"/>
            </a:lvl2pPr>
            <a:lvl3pPr algn="l">
              <a:defRPr sz="1950"/>
            </a:lvl3pPr>
            <a:lvl4pPr algn="l">
              <a:defRPr sz="1950"/>
            </a:lvl4pPr>
            <a:lvl5pPr algn="l">
              <a:defRPr sz="1950"/>
            </a:lvl5pPr>
            <a:lvl6pPr algn="l">
              <a:defRPr sz="1950"/>
            </a:lvl6pPr>
            <a:lvl7pPr algn="l">
              <a:defRPr sz="1950"/>
            </a:lvl7pPr>
            <a:lvl8pPr algn="l">
              <a:defRPr sz="1950"/>
            </a:lvl8pPr>
            <a:lvl9pPr algn="l">
              <a:defRPr sz="1950"/>
            </a:lvl9pPr>
          </a:lstStyle>
          <a:p xmlns:a="http://schemas.openxmlformats.org/drawingml/2006/main">
            <a:pPr algn="l">
              <a:defRPr sz="1950"/>
            </a:pPr>
            <a:r>
              <a:rPr sz="1950" b="0">
                <a:solidFill>
                  <a:srgbClr val="002676"/>
                </a:solidFill>
                <a:latin typeface="Arial"/>
                <a:ea typeface="Arial"/>
                <a:cs typeface="Arial"/>
              </a:rPr>
              <a:t>Six completed classifiers · one seed per task · shift evaluation unfinished</a:t>
            </a:r>
          </a:p>
        </p:txBody>
      </p:sp>
    </p:spTree>
    <p:extLst>
      <p:ext uri="{BB962C8B-B14F-4D97-AF65-F5344CB8AC3E}">
        <p14:creationId xmlns:p14="http://schemas.microsoft.com/office/powerpoint/2010/main" val="737055181"/>
      </p:ext>
    </p:extLst>
  </p:cSld>
</p:sld>
</file>

<file path=ppt/slides/slide2.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A51C20-86C0-4B93-B17E-356610EBA309}"/>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988D0A-89C0-424E-A788-44B9E0174394}"/>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Prediction accuracy does not measure selective reliability</a:t>
            </a:r>
          </a:p>
        </p:txBody>
      </p:sp>
      <p:sp>
        <p:nvSpPr>
          <p:cNvPr id="3" name="">
            <a:extLst xmlns:a="http://schemas.openxmlformats.org/drawingml/2006/main">
              <a:ext uri="{FF2B5EF4-FFF2-40B4-BE49-F238E27FC236}">
                <a16:creationId xmlns:a16="http://schemas.microsoft.com/office/drawing/2014/main" id="{0062CD11-7AE6-4BAA-968E-56F3BB1FDECA}"/>
              </a:ext>
            </a:extLst>
          </p:cNvPr>
          <p:cNvSpPr>
            <a:spLocks xmlns:a="http://schemas.openxmlformats.org/drawingml/2006/main" noGrp="1"/>
          </p:cNvSpPr>
          <p:nvPr/>
        </p:nvSpPr>
        <p:spPr>
          <a:xfrm xmlns:a="http://schemas.openxmlformats.org/drawingml/2006/main">
            <a:off x="666750" y="19050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Classification</a:t>
            </a:r>
          </a:p>
        </p:txBody>
      </p:sp>
      <p:sp>
        <p:nvSpPr>
          <p:cNvPr id="4" name="">
            <a:extLst xmlns:a="http://schemas.openxmlformats.org/drawingml/2006/main">
              <a:ext uri="{FF2B5EF4-FFF2-40B4-BE49-F238E27FC236}">
                <a16:creationId xmlns:a16="http://schemas.microsoft.com/office/drawing/2014/main" id="{E4ECF667-B4BA-4449-B6D3-3B5BE60433E7}"/>
              </a:ext>
            </a:extLst>
          </p:cNvPr>
          <p:cNvSpPr>
            <a:spLocks xmlns:a="http://schemas.openxmlformats.org/drawingml/2006/main" noGrp="1"/>
          </p:cNvSpPr>
          <p:nvPr/>
        </p:nvSpPr>
        <p:spPr>
          <a:xfrm xmlns:a="http://schemas.openxmlformats.org/drawingml/2006/main">
            <a:off x="4381500" y="19050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Error ranking</a:t>
            </a:r>
          </a:p>
        </p:txBody>
      </p:sp>
      <p:sp>
        <p:nvSpPr>
          <p:cNvPr id="5" name="">
            <a:extLst xmlns:a="http://schemas.openxmlformats.org/drawingml/2006/main">
              <a:ext uri="{FF2B5EF4-FFF2-40B4-BE49-F238E27FC236}">
                <a16:creationId xmlns:a16="http://schemas.microsoft.com/office/drawing/2014/main" id="{A79E2155-92B3-484A-B393-7A81ABD8B68C}"/>
              </a:ext>
            </a:extLst>
          </p:cNvPr>
          <p:cNvSpPr>
            <a:spLocks xmlns:a="http://schemas.openxmlformats.org/drawingml/2006/main" noGrp="1"/>
          </p:cNvSpPr>
          <p:nvPr/>
        </p:nvSpPr>
        <p:spPr>
          <a:xfrm xmlns:a="http://schemas.openxmlformats.org/drawingml/2006/main">
            <a:off x="8096250" y="190500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Frozen admissions</a:t>
            </a:r>
          </a:p>
        </p:txBody>
      </p:sp>
      <p:sp>
        <p:nvSpPr>
          <p:cNvPr id="6" name="">
            <a:extLst xmlns:a="http://schemas.openxmlformats.org/drawingml/2006/main">
              <a:ext uri="{FF2B5EF4-FFF2-40B4-BE49-F238E27FC236}">
                <a16:creationId xmlns:a16="http://schemas.microsoft.com/office/drawing/2014/main" id="{9EA653FE-8F34-4C39-B776-2350A993BC60}"/>
              </a:ext>
            </a:extLst>
          </p:cNvPr>
          <p:cNvSpPr>
            <a:spLocks xmlns:a="http://schemas.openxmlformats.org/drawingml/2006/main" noGrp="1"/>
          </p:cNvSpPr>
          <p:nvPr/>
        </p:nvSpPr>
        <p:spPr>
          <a:xfrm xmlns:a="http://schemas.openxmlformats.org/drawingml/2006/main">
            <a:off x="666750" y="276225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a:defPPr>
            <a:lvl1pPr algn="l">
              <a:defRPr sz="2175"/>
            </a:lvl1pPr>
            <a:lvl2pPr algn="l">
              <a:defRPr sz="2175"/>
            </a:lvl2pPr>
            <a:lvl3pPr algn="l">
              <a:defRPr sz="2175"/>
            </a:lvl3pPr>
            <a:lvl4pPr algn="l">
              <a:defRPr sz="2175"/>
            </a:lvl4pPr>
            <a:lvl5pPr algn="l">
              <a:defRPr sz="2175"/>
            </a:lvl5pPr>
            <a:lvl6pPr algn="l">
              <a:defRPr sz="2175"/>
            </a:lvl6pPr>
            <a:lvl7pPr algn="l">
              <a:defRPr sz="2175"/>
            </a:lvl7pPr>
            <a:lvl8pPr algn="l">
              <a:defRPr sz="2175"/>
            </a:lvl8pPr>
            <a:lvl9pPr algn="l">
              <a:defRPr sz="2175"/>
            </a:lvl9pPr>
          </a:lstStyle>
          <a:p xmlns:a="http://schemas.openxmlformats.org/drawingml/2006/main">
            <a:pPr algn="l">
              <a:defRPr sz="2175"/>
            </a:pPr>
            <a:r>
              <a:rPr sz="2175" b="0">
                <a:solidFill>
                  <a:srgbClr val="595959"/>
                </a:solidFill>
                <a:latin typeface="Arial"/>
                <a:ea typeface="Arial"/>
                <a:cs typeface="Arial"/>
              </a:rPr>
              <a:t>How often is the predicted class right?</a:t>
            </a:r>
          </a:p>
        </p:txBody>
      </p:sp>
      <p:sp>
        <p:nvSpPr>
          <p:cNvPr id="7" name="">
            <a:extLst xmlns:a="http://schemas.openxmlformats.org/drawingml/2006/main">
              <a:ext uri="{FF2B5EF4-FFF2-40B4-BE49-F238E27FC236}">
                <a16:creationId xmlns:a16="http://schemas.microsoft.com/office/drawing/2014/main" id="{0071CEB9-BFA2-444F-9932-CAB2CCA43B1D}"/>
              </a:ext>
            </a:extLst>
          </p:cNvPr>
          <p:cNvSpPr>
            <a:spLocks xmlns:a="http://schemas.openxmlformats.org/drawingml/2006/main" noGrp="1"/>
          </p:cNvSpPr>
          <p:nvPr/>
        </p:nvSpPr>
        <p:spPr>
          <a:xfrm xmlns:a="http://schemas.openxmlformats.org/drawingml/2006/main">
            <a:off x="4381500" y="276225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a:defPPr>
            <a:lvl1pPr algn="l">
              <a:defRPr sz="2175"/>
            </a:lvl1pPr>
            <a:lvl2pPr algn="l">
              <a:defRPr sz="2175"/>
            </a:lvl2pPr>
            <a:lvl3pPr algn="l">
              <a:defRPr sz="2175"/>
            </a:lvl3pPr>
            <a:lvl4pPr algn="l">
              <a:defRPr sz="2175"/>
            </a:lvl4pPr>
            <a:lvl5pPr algn="l">
              <a:defRPr sz="2175"/>
            </a:lvl5pPr>
            <a:lvl6pPr algn="l">
              <a:defRPr sz="2175"/>
            </a:lvl6pPr>
            <a:lvl7pPr algn="l">
              <a:defRPr sz="2175"/>
            </a:lvl7pPr>
            <a:lvl8pPr algn="l">
              <a:defRPr sz="2175"/>
            </a:lvl8pPr>
            <a:lvl9pPr algn="l">
              <a:defRPr sz="2175"/>
            </a:lvl9pPr>
          </a:lstStyle>
          <a:p xmlns:a="http://schemas.openxmlformats.org/drawingml/2006/main">
            <a:pPr algn="l">
              <a:defRPr sz="2175"/>
            </a:pPr>
            <a:r>
              <a:rPr sz="2175" b="0">
                <a:solidFill>
                  <a:srgbClr val="595959"/>
                </a:solidFill>
                <a:latin typeface="Arial"/>
                <a:ea typeface="Arial"/>
                <a:cs typeface="Arial"/>
              </a:rPr>
              <a:t>Does confidence put errors below correct predictions?</a:t>
            </a:r>
          </a:p>
        </p:txBody>
      </p:sp>
      <p:sp>
        <p:nvSpPr>
          <p:cNvPr id="8" name="">
            <a:extLst xmlns:a="http://schemas.openxmlformats.org/drawingml/2006/main">
              <a:ext uri="{FF2B5EF4-FFF2-40B4-BE49-F238E27FC236}">
                <a16:creationId xmlns:a16="http://schemas.microsoft.com/office/drawing/2014/main" id="{1DD4FD95-B424-4236-8BBA-885CD26449FE}"/>
              </a:ext>
            </a:extLst>
          </p:cNvPr>
          <p:cNvSpPr>
            <a:spLocks xmlns:a="http://schemas.openxmlformats.org/drawingml/2006/main" noGrp="1"/>
          </p:cNvSpPr>
          <p:nvPr/>
        </p:nvSpPr>
        <p:spPr>
          <a:xfrm xmlns:a="http://schemas.openxmlformats.org/drawingml/2006/main">
            <a:off x="8096250" y="276225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a:defPPr>
            <a:lvl1pPr algn="l">
              <a:defRPr sz="2175"/>
            </a:lvl1pPr>
            <a:lvl2pPr algn="l">
              <a:defRPr sz="2175"/>
            </a:lvl2pPr>
            <a:lvl3pPr algn="l">
              <a:defRPr sz="2175"/>
            </a:lvl3pPr>
            <a:lvl4pPr algn="l">
              <a:defRPr sz="2175"/>
            </a:lvl4pPr>
            <a:lvl5pPr algn="l">
              <a:defRPr sz="2175"/>
            </a:lvl5pPr>
            <a:lvl6pPr algn="l">
              <a:defRPr sz="2175"/>
            </a:lvl6pPr>
            <a:lvl7pPr algn="l">
              <a:defRPr sz="2175"/>
            </a:lvl7pPr>
            <a:lvl8pPr algn="l">
              <a:defRPr sz="2175"/>
            </a:lvl8pPr>
            <a:lvl9pPr algn="l">
              <a:defRPr sz="2175"/>
            </a:lvl9pPr>
          </a:lstStyle>
          <a:p xmlns:a="http://schemas.openxmlformats.org/drawingml/2006/main">
            <a:pPr algn="l">
              <a:defRPr sz="2175"/>
            </a:pPr>
            <a:r>
              <a:rPr sz="2175" b="0">
                <a:solidFill>
                  <a:srgbClr val="595959"/>
                </a:solidFill>
                <a:latin typeface="Arial"/>
                <a:ea typeface="Arial"/>
                <a:cs typeface="Arial"/>
              </a:rPr>
              <a:t>Which inputs does a calibration-selected rule accept?</a:t>
            </a:r>
          </a:p>
        </p:txBody>
      </p:sp>
      <p:sp>
        <p:nvSpPr>
          <p:cNvPr id="9" name="">
            <a:extLst xmlns:a="http://schemas.openxmlformats.org/drawingml/2006/main">
              <a:ext uri="{FF2B5EF4-FFF2-40B4-BE49-F238E27FC236}">
                <a16:creationId xmlns:a16="http://schemas.microsoft.com/office/drawing/2014/main" id="{2469CCC4-5907-4190-9D8C-028F6C9112DB}"/>
              </a:ext>
            </a:extLst>
          </p:cNvPr>
          <p:cNvSpPr>
            <a:spLocks xmlns:a="http://schemas.openxmlformats.org/drawingml/2006/main" noGrp="1"/>
          </p:cNvSpPr>
          <p:nvPr/>
        </p:nvSpPr>
        <p:spPr>
          <a:xfrm xmlns:a="http://schemas.openxmlformats.org/drawingml/2006/main">
            <a:off x="666750" y="5048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Report accepted accuracy together with coverage. Zero admissions do not establish reliability.</a:t>
            </a:r>
          </a:p>
        </p:txBody>
      </p:sp>
    </p:spTree>
    <p:extLst>
      <p:ext uri="{BB962C8B-B14F-4D97-AF65-F5344CB8AC3E}">
        <p14:creationId xmlns:p14="http://schemas.microsoft.com/office/powerpoint/2010/main" val="813793666"/>
      </p:ext>
    </p:extLst>
  </p:cSld>
</p:sld>
</file>

<file path=ppt/slides/slide3.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2858FDC-19EE-4AB1-8B53-9354F78D43BB}"/>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40C365-21B9-40F8-B73F-6A294C58D589}"/>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Compare methods within a fixed classifier and population</a:t>
            </a:r>
          </a:p>
        </p:txBody>
      </p:sp>
      <p:sp>
        <p:nvSpPr>
          <p:cNvPr id="3" name="">
            <a:extLst xmlns:a="http://schemas.openxmlformats.org/drawingml/2006/main">
              <a:ext uri="{FF2B5EF4-FFF2-40B4-BE49-F238E27FC236}">
                <a16:creationId xmlns:a16="http://schemas.microsoft.com/office/drawing/2014/main" id="{93EC9952-CD7A-4608-9E97-2BA4BC160B69}"/>
              </a:ext>
            </a:extLst>
          </p:cNvPr>
          <p:cNvSpPr>
            <a:spLocks xmlns:a="http://schemas.openxmlformats.org/drawingml/2006/main" noGrp="1"/>
          </p:cNvSpPr>
          <p:nvPr/>
        </p:nvSpPr>
        <p:spPr>
          <a:xfrm xmlns:a="http://schemas.openxmlformats.org/drawingml/2006/main">
            <a:off x="666750" y="1571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a:defPPr>
            <a:lvl1pPr algn="l">
              <a:defRPr sz="1725"/>
            </a:lvl1pPr>
            <a:lvl2pPr algn="l">
              <a:defRPr sz="1725"/>
            </a:lvl2pPr>
            <a:lvl3pPr algn="l">
              <a:defRPr sz="1725"/>
            </a:lvl3pPr>
            <a:lvl4pPr algn="l">
              <a:defRPr sz="1725"/>
            </a:lvl4pPr>
            <a:lvl5pPr algn="l">
              <a:defRPr sz="1725"/>
            </a:lvl5pPr>
            <a:lvl6pPr algn="l">
              <a:defRPr sz="1725"/>
            </a:lvl6pPr>
            <a:lvl7pPr algn="l">
              <a:defRPr sz="1725"/>
            </a:lvl7pPr>
            <a:lvl8pPr algn="l">
              <a:defRPr sz="1725"/>
            </a:lvl8pPr>
            <a:lvl9pPr algn="l">
              <a:defRPr sz="1725"/>
            </a:lvl9pPr>
          </a:lstStyle>
          <a:p xmlns:a="http://schemas.openxmlformats.org/drawingml/2006/main">
            <a:pPr algn="l">
              <a:defRPr sz="1725"/>
            </a:pPr>
            <a:r>
              <a:rPr sz="1725" b="0">
                <a:solidFill>
                  <a:srgbClr val="595959"/>
                </a:solidFill>
                <a:latin typeface="Arial"/>
                <a:ea typeface="Arial"/>
                <a:cs typeface="Arial"/>
              </a:rPr>
              <a:t>EMNIST Balanced protocol</a:t>
            </a:r>
          </a:p>
        </p:txBody>
      </p:sp>
      <p:sp>
        <p:nvSpPr>
          <p:cNvPr id="4" name="">
            <a:extLst xmlns:a="http://schemas.openxmlformats.org/drawingml/2006/main">
              <a:ext uri="{FF2B5EF4-FFF2-40B4-BE49-F238E27FC236}">
                <a16:creationId xmlns:a16="http://schemas.microsoft.com/office/drawing/2014/main" id="{795ACEAD-5759-44CD-97A2-94AA12D3BAA1}"/>
              </a:ext>
            </a:extLst>
          </p:cNvPr>
          <p:cNvSpPr>
            <a:spLocks xmlns:a="http://schemas.openxmlformats.org/drawingml/2006/main" noGrp="1"/>
          </p:cNvSpPr>
          <p:nvPr/>
        </p:nvSpPr>
        <p:spPr>
          <a:xfrm xmlns:a="http://schemas.openxmlformats.org/drawingml/2006/main">
            <a:off x="666750" y="200025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Training</a:t>
            </a:r>
          </a:p>
        </p:txBody>
      </p:sp>
      <p:sp>
        <p:nvSpPr>
          <p:cNvPr id="5" name="">
            <a:extLst xmlns:a="http://schemas.openxmlformats.org/drawingml/2006/main">
              <a:ext uri="{FF2B5EF4-FFF2-40B4-BE49-F238E27FC236}">
                <a16:creationId xmlns:a16="http://schemas.microsoft.com/office/drawing/2014/main" id="{F3E99171-FCDD-4F66-B362-DD75A5359F1A}"/>
              </a:ext>
            </a:extLst>
          </p:cNvPr>
          <p:cNvSpPr>
            <a:spLocks xmlns:a="http://schemas.openxmlformats.org/drawingml/2006/main" noGrp="1"/>
          </p:cNvSpPr>
          <p:nvPr/>
        </p:nvSpPr>
        <p:spPr>
          <a:xfrm xmlns:a="http://schemas.openxmlformats.org/drawingml/2006/main">
            <a:off x="666750" y="285750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a:defPPr>
            <a:lvl1pPr algn="l">
              <a:defRPr sz="1950"/>
            </a:lvl1pPr>
            <a:lvl2pPr algn="l">
              <a:defRPr sz="1950"/>
            </a:lvl2pPr>
            <a:lvl3pPr algn="l">
              <a:defRPr sz="1950"/>
            </a:lvl3pPr>
            <a:lvl4pPr algn="l">
              <a:defRPr sz="1950"/>
            </a:lvl4pPr>
            <a:lvl5pPr algn="l">
              <a:defRPr sz="1950"/>
            </a:lvl5pPr>
            <a:lvl6pPr algn="l">
              <a:defRPr sz="1950"/>
            </a:lvl6pPr>
            <a:lvl7pPr algn="l">
              <a:defRPr sz="1950"/>
            </a:lvl7pPr>
            <a:lvl8pPr algn="l">
              <a:defRPr sz="1950"/>
            </a:lvl8pPr>
            <a:lvl9pPr algn="l">
              <a:defRPr sz="1950"/>
            </a:lvl9pPr>
          </a:lstStyle>
          <a:p xmlns:a="http://schemas.openxmlformats.org/drawingml/2006/main">
            <a:pPr algn="l">
              <a:defRPr sz="1950"/>
            </a:pPr>
            <a:r>
              <a:rPr sz="1950" b="0">
                <a:solidFill>
                  <a:srgbClr val="595959"/>
                </a:solidFill>
                <a:latin typeface="Arial"/>
                <a:ea typeface="Arial"/>
                <a:cs typeface="Arial"/>
              </a:rPr>
              <a:t>106,925 images</a:t>
            </a:r>
          </a:p>
        </p:txBody>
      </p:sp>
      <p:sp>
        <p:nvSpPr>
          <p:cNvPr id="6" name="">
            <a:extLst xmlns:a="http://schemas.openxmlformats.org/drawingml/2006/main">
              <a:ext uri="{FF2B5EF4-FFF2-40B4-BE49-F238E27FC236}">
                <a16:creationId xmlns:a16="http://schemas.microsoft.com/office/drawing/2014/main" id="{9BA521F6-A407-4AA2-9B51-9DB534FC388E}"/>
              </a:ext>
            </a:extLst>
          </p:cNvPr>
          <p:cNvSpPr>
            <a:spLocks xmlns:a="http://schemas.openxmlformats.org/drawingml/2006/main" noGrp="1"/>
          </p:cNvSpPr>
          <p:nvPr/>
        </p:nvSpPr>
        <p:spPr>
          <a:xfrm xmlns:a="http://schemas.openxmlformats.org/drawingml/2006/main">
            <a:off x="3000375" y="2714625"/>
            <a:ext cx="33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a:defPPr>
            <a:lvl1pPr algn="l">
              <a:defRPr sz="2400"/>
            </a:lvl1pPr>
            <a:lvl2pPr algn="l">
              <a:defRPr sz="2400"/>
            </a:lvl2pPr>
            <a:lvl3pPr algn="l">
              <a:defRPr sz="2400"/>
            </a:lvl3pPr>
            <a:lvl4pPr algn="l">
              <a:defRPr sz="2400"/>
            </a:lvl4pPr>
            <a:lvl5pPr algn="l">
              <a:defRPr sz="2400"/>
            </a:lvl5pPr>
            <a:lvl6pPr algn="l">
              <a:defRPr sz="2400"/>
            </a:lvl6pPr>
            <a:lvl7pPr algn="l">
              <a:defRPr sz="2400"/>
            </a:lvl7pPr>
            <a:lvl8pPr algn="l">
              <a:defRPr sz="2400"/>
            </a:lvl8pPr>
            <a:lvl9pPr algn="l">
              <a:defRPr sz="2400"/>
            </a:lvl9pPr>
          </a:lstStyle>
          <a:p xmlns:a="http://schemas.openxmlformats.org/drawingml/2006/main">
            <a:pPr algn="l">
              <a:defRPr sz="2400"/>
            </a:pPr>
            <a:r>
              <a:rPr sz="2400" b="0">
                <a:solidFill>
                  <a:srgbClr val="002676"/>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3FB38EA7-70EE-4424-BA4E-A9191105A72A}"/>
              </a:ext>
            </a:extLst>
          </p:cNvPr>
          <p:cNvSpPr>
            <a:spLocks xmlns:a="http://schemas.openxmlformats.org/drawingml/2006/main" noGrp="1"/>
          </p:cNvSpPr>
          <p:nvPr/>
        </p:nvSpPr>
        <p:spPr>
          <a:xfrm xmlns:a="http://schemas.openxmlformats.org/drawingml/2006/main">
            <a:off x="3429000" y="200025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Validation</a:t>
            </a:r>
          </a:p>
        </p:txBody>
      </p:sp>
      <p:sp>
        <p:nvSpPr>
          <p:cNvPr id="8" name="">
            <a:extLst xmlns:a="http://schemas.openxmlformats.org/drawingml/2006/main">
              <a:ext uri="{FF2B5EF4-FFF2-40B4-BE49-F238E27FC236}">
                <a16:creationId xmlns:a16="http://schemas.microsoft.com/office/drawing/2014/main" id="{A8874ED5-AC24-4C64-AA4A-DA6BDA5E0FBE}"/>
              </a:ext>
            </a:extLst>
          </p:cNvPr>
          <p:cNvSpPr>
            <a:spLocks xmlns:a="http://schemas.openxmlformats.org/drawingml/2006/main" noGrp="1"/>
          </p:cNvSpPr>
          <p:nvPr/>
        </p:nvSpPr>
        <p:spPr>
          <a:xfrm xmlns:a="http://schemas.openxmlformats.org/drawingml/2006/main">
            <a:off x="3429000" y="285750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a:defPPr>
            <a:lvl1pPr algn="l">
              <a:defRPr sz="1950"/>
            </a:lvl1pPr>
            <a:lvl2pPr algn="l">
              <a:defRPr sz="1950"/>
            </a:lvl2pPr>
            <a:lvl3pPr algn="l">
              <a:defRPr sz="1950"/>
            </a:lvl3pPr>
            <a:lvl4pPr algn="l">
              <a:defRPr sz="1950"/>
            </a:lvl4pPr>
            <a:lvl5pPr algn="l">
              <a:defRPr sz="1950"/>
            </a:lvl5pPr>
            <a:lvl6pPr algn="l">
              <a:defRPr sz="1950"/>
            </a:lvl6pPr>
            <a:lvl7pPr algn="l">
              <a:defRPr sz="1950"/>
            </a:lvl7pPr>
            <a:lvl8pPr algn="l">
              <a:defRPr sz="1950"/>
            </a:lvl8pPr>
            <a:lvl9pPr algn="l">
              <a:defRPr sz="1950"/>
            </a:lvl9pPr>
          </a:lstStyle>
          <a:p xmlns:a="http://schemas.openxmlformats.org/drawingml/2006/main">
            <a:pPr algn="l">
              <a:defRPr sz="1950"/>
            </a:pPr>
            <a:r>
              <a:rPr sz="1950" b="0">
                <a:solidFill>
                  <a:srgbClr val="595959"/>
                </a:solidFill>
                <a:latin typeface="Arial"/>
                <a:ea typeface="Arial"/>
                <a:cs typeface="Arial"/>
              </a:rPr>
              <a:t>1,175 images</a:t>
            </a:r>
          </a:p>
        </p:txBody>
      </p:sp>
      <p:sp>
        <p:nvSpPr>
          <p:cNvPr id="9" name="">
            <a:extLst xmlns:a="http://schemas.openxmlformats.org/drawingml/2006/main">
              <a:ext uri="{FF2B5EF4-FFF2-40B4-BE49-F238E27FC236}">
                <a16:creationId xmlns:a16="http://schemas.microsoft.com/office/drawing/2014/main" id="{054A2D21-6E1E-4ECE-89CF-ADD368BB2C12}"/>
              </a:ext>
            </a:extLst>
          </p:cNvPr>
          <p:cNvSpPr>
            <a:spLocks xmlns:a="http://schemas.openxmlformats.org/drawingml/2006/main" noGrp="1"/>
          </p:cNvSpPr>
          <p:nvPr/>
        </p:nvSpPr>
        <p:spPr>
          <a:xfrm xmlns:a="http://schemas.openxmlformats.org/drawingml/2006/main">
            <a:off x="5762625" y="2714625"/>
            <a:ext cx="33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a:defPPr>
            <a:lvl1pPr algn="l">
              <a:defRPr sz="2400"/>
            </a:lvl1pPr>
            <a:lvl2pPr algn="l">
              <a:defRPr sz="2400"/>
            </a:lvl2pPr>
            <a:lvl3pPr algn="l">
              <a:defRPr sz="2400"/>
            </a:lvl3pPr>
            <a:lvl4pPr algn="l">
              <a:defRPr sz="2400"/>
            </a:lvl4pPr>
            <a:lvl5pPr algn="l">
              <a:defRPr sz="2400"/>
            </a:lvl5pPr>
            <a:lvl6pPr algn="l">
              <a:defRPr sz="2400"/>
            </a:lvl6pPr>
            <a:lvl7pPr algn="l">
              <a:defRPr sz="2400"/>
            </a:lvl7pPr>
            <a:lvl8pPr algn="l">
              <a:defRPr sz="2400"/>
            </a:lvl8pPr>
            <a:lvl9pPr algn="l">
              <a:defRPr sz="2400"/>
            </a:lvl9pPr>
          </a:lstStyle>
          <a:p xmlns:a="http://schemas.openxmlformats.org/drawingml/2006/main">
            <a:pPr algn="l">
              <a:defRPr sz="2400"/>
            </a:pPr>
            <a:r>
              <a:rPr sz="2400" b="0">
                <a:solidFill>
                  <a:srgbClr val="002676"/>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461FDA07-AEF3-455A-ACEC-7F0FEAE377B4}"/>
              </a:ext>
            </a:extLst>
          </p:cNvPr>
          <p:cNvSpPr>
            <a:spLocks xmlns:a="http://schemas.openxmlformats.org/drawingml/2006/main" noGrp="1"/>
          </p:cNvSpPr>
          <p:nvPr/>
        </p:nvSpPr>
        <p:spPr>
          <a:xfrm xmlns:a="http://schemas.openxmlformats.org/drawingml/2006/main">
            <a:off x="6191250" y="200025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Calibration</a:t>
            </a:r>
          </a:p>
        </p:txBody>
      </p:sp>
      <p:sp>
        <p:nvSpPr>
          <p:cNvPr id="11" name="">
            <a:extLst xmlns:a="http://schemas.openxmlformats.org/drawingml/2006/main">
              <a:ext uri="{FF2B5EF4-FFF2-40B4-BE49-F238E27FC236}">
                <a16:creationId xmlns:a16="http://schemas.microsoft.com/office/drawing/2014/main" id="{DF715123-50BB-4D9C-9DF0-B428CFA7B205}"/>
              </a:ext>
            </a:extLst>
          </p:cNvPr>
          <p:cNvSpPr>
            <a:spLocks xmlns:a="http://schemas.openxmlformats.org/drawingml/2006/main" noGrp="1"/>
          </p:cNvSpPr>
          <p:nvPr/>
        </p:nvSpPr>
        <p:spPr>
          <a:xfrm xmlns:a="http://schemas.openxmlformats.org/drawingml/2006/main">
            <a:off x="6191250" y="285750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a:defPPr>
            <a:lvl1pPr algn="l">
              <a:defRPr sz="1950"/>
            </a:lvl1pPr>
            <a:lvl2pPr algn="l">
              <a:defRPr sz="1950"/>
            </a:lvl2pPr>
            <a:lvl3pPr algn="l">
              <a:defRPr sz="1950"/>
            </a:lvl3pPr>
            <a:lvl4pPr algn="l">
              <a:defRPr sz="1950"/>
            </a:lvl4pPr>
            <a:lvl5pPr algn="l">
              <a:defRPr sz="1950"/>
            </a:lvl5pPr>
            <a:lvl6pPr algn="l">
              <a:defRPr sz="1950"/>
            </a:lvl6pPr>
            <a:lvl7pPr algn="l">
              <a:defRPr sz="1950"/>
            </a:lvl7pPr>
            <a:lvl8pPr algn="l">
              <a:defRPr sz="1950"/>
            </a:lvl8pPr>
            <a:lvl9pPr algn="l">
              <a:defRPr sz="1950"/>
            </a:lvl9pPr>
          </a:lstStyle>
          <a:p xmlns:a="http://schemas.openxmlformats.org/drawingml/2006/main">
            <a:pPr algn="l">
              <a:defRPr sz="1950"/>
            </a:pPr>
            <a:r>
              <a:rPr sz="1950" b="0">
                <a:solidFill>
                  <a:srgbClr val="595959"/>
                </a:solidFill>
                <a:latin typeface="Arial"/>
                <a:ea typeface="Arial"/>
                <a:cs typeface="Arial"/>
              </a:rPr>
              <a:t>1,175 / 4,700</a:t>
            </a:r>
          </a:p>
        </p:txBody>
      </p:sp>
      <p:sp>
        <p:nvSpPr>
          <p:cNvPr id="12" name="">
            <a:extLst xmlns:a="http://schemas.openxmlformats.org/drawingml/2006/main">
              <a:ext uri="{FF2B5EF4-FFF2-40B4-BE49-F238E27FC236}">
                <a16:creationId xmlns:a16="http://schemas.microsoft.com/office/drawing/2014/main" id="{E667F91E-9AFD-4383-B519-B77A4FE9F192}"/>
              </a:ext>
            </a:extLst>
          </p:cNvPr>
          <p:cNvSpPr>
            <a:spLocks xmlns:a="http://schemas.openxmlformats.org/drawingml/2006/main" noGrp="1"/>
          </p:cNvSpPr>
          <p:nvPr/>
        </p:nvSpPr>
        <p:spPr>
          <a:xfrm xmlns:a="http://schemas.openxmlformats.org/drawingml/2006/main">
            <a:off x="8524875" y="2714625"/>
            <a:ext cx="333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400"/>
            </a:defPPr>
            <a:lvl1pPr algn="l">
              <a:defRPr sz="2400"/>
            </a:lvl1pPr>
            <a:lvl2pPr algn="l">
              <a:defRPr sz="2400"/>
            </a:lvl2pPr>
            <a:lvl3pPr algn="l">
              <a:defRPr sz="2400"/>
            </a:lvl3pPr>
            <a:lvl4pPr algn="l">
              <a:defRPr sz="2400"/>
            </a:lvl4pPr>
            <a:lvl5pPr algn="l">
              <a:defRPr sz="2400"/>
            </a:lvl5pPr>
            <a:lvl6pPr algn="l">
              <a:defRPr sz="2400"/>
            </a:lvl6pPr>
            <a:lvl7pPr algn="l">
              <a:defRPr sz="2400"/>
            </a:lvl7pPr>
            <a:lvl8pPr algn="l">
              <a:defRPr sz="2400"/>
            </a:lvl8pPr>
            <a:lvl9pPr algn="l">
              <a:defRPr sz="2400"/>
            </a:lvl9pPr>
          </a:lstStyle>
          <a:p xmlns:a="http://schemas.openxmlformats.org/drawingml/2006/main">
            <a:pPr algn="l">
              <a:defRPr sz="2400"/>
            </a:pPr>
            <a:r>
              <a:rPr sz="2400" b="0">
                <a:solidFill>
                  <a:srgbClr val="002676"/>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E28F5D86-74AE-4B09-986C-8507081B12C1}"/>
              </a:ext>
            </a:extLst>
          </p:cNvPr>
          <p:cNvSpPr>
            <a:spLocks xmlns:a="http://schemas.openxmlformats.org/drawingml/2006/main" noGrp="1"/>
          </p:cNvSpPr>
          <p:nvPr/>
        </p:nvSpPr>
        <p:spPr>
          <a:xfrm xmlns:a="http://schemas.openxmlformats.org/drawingml/2006/main">
            <a:off x="8953500" y="200025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Official test</a:t>
            </a:r>
          </a:p>
        </p:txBody>
      </p:sp>
      <p:sp>
        <p:nvSpPr>
          <p:cNvPr id="14" name="">
            <a:extLst xmlns:a="http://schemas.openxmlformats.org/drawingml/2006/main">
              <a:ext uri="{FF2B5EF4-FFF2-40B4-BE49-F238E27FC236}">
                <a16:creationId xmlns:a16="http://schemas.microsoft.com/office/drawing/2014/main" id="{82BC9316-9F5E-4DD9-823B-5A49F48AB491}"/>
              </a:ext>
            </a:extLst>
          </p:cNvPr>
          <p:cNvSpPr>
            <a:spLocks xmlns:a="http://schemas.openxmlformats.org/drawingml/2006/main" noGrp="1"/>
          </p:cNvSpPr>
          <p:nvPr/>
        </p:nvSpPr>
        <p:spPr>
          <a:xfrm xmlns:a="http://schemas.openxmlformats.org/drawingml/2006/main">
            <a:off x="8953500" y="2857500"/>
            <a:ext cx="2428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950"/>
            </a:defPPr>
            <a:lvl1pPr algn="l">
              <a:defRPr sz="1950"/>
            </a:lvl1pPr>
            <a:lvl2pPr algn="l">
              <a:defRPr sz="1950"/>
            </a:lvl2pPr>
            <a:lvl3pPr algn="l">
              <a:defRPr sz="1950"/>
            </a:lvl3pPr>
            <a:lvl4pPr algn="l">
              <a:defRPr sz="1950"/>
            </a:lvl4pPr>
            <a:lvl5pPr algn="l">
              <a:defRPr sz="1950"/>
            </a:lvl5pPr>
            <a:lvl6pPr algn="l">
              <a:defRPr sz="1950"/>
            </a:lvl6pPr>
            <a:lvl7pPr algn="l">
              <a:defRPr sz="1950"/>
            </a:lvl7pPr>
            <a:lvl8pPr algn="l">
              <a:defRPr sz="1950"/>
            </a:lvl8pPr>
            <a:lvl9pPr algn="l">
              <a:defRPr sz="1950"/>
            </a:lvl9pPr>
          </a:lstStyle>
          <a:p xmlns:a="http://schemas.openxmlformats.org/drawingml/2006/main">
            <a:pPr algn="l">
              <a:defRPr sz="1950"/>
            </a:pPr>
            <a:r>
              <a:rPr sz="1950" b="0">
                <a:solidFill>
                  <a:srgbClr val="595959"/>
                </a:solidFill>
                <a:latin typeface="Arial"/>
                <a:ea typeface="Arial"/>
                <a:cs typeface="Arial"/>
              </a:rPr>
              <a:t>18,800 images</a:t>
            </a:r>
          </a:p>
        </p:txBody>
      </p:sp>
      <p:sp>
        <p:nvSpPr>
          <p:cNvPr id="15" name="">
            <a:extLst xmlns:a="http://schemas.openxmlformats.org/drawingml/2006/main">
              <a:ext uri="{FF2B5EF4-FFF2-40B4-BE49-F238E27FC236}">
                <a16:creationId xmlns:a16="http://schemas.microsoft.com/office/drawing/2014/main" id="{1BBF3414-EAF4-44BD-BD6E-78F23560A135}"/>
              </a:ext>
            </a:extLst>
          </p:cNvPr>
          <p:cNvSpPr>
            <a:spLocks xmlns:a="http://schemas.openxmlformats.org/drawingml/2006/main" noGrp="1"/>
          </p:cNvSpPr>
          <p:nvPr/>
        </p:nvSpPr>
        <p:spPr>
          <a:xfrm xmlns:a="http://schemas.openxmlformats.org/drawingml/2006/main">
            <a:off x="666750" y="4238625"/>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a:defPPr>
            <a:lvl1pPr algn="l">
              <a:defRPr sz="2175"/>
            </a:lvl1pPr>
            <a:lvl2pPr algn="l">
              <a:defRPr sz="2175"/>
            </a:lvl2pPr>
            <a:lvl3pPr algn="l">
              <a:defRPr sz="2175"/>
            </a:lvl3pPr>
            <a:lvl4pPr algn="l">
              <a:defRPr sz="2175"/>
            </a:lvl4pPr>
            <a:lvl5pPr algn="l">
              <a:defRPr sz="2175"/>
            </a:lvl5pPr>
            <a:lvl6pPr algn="l">
              <a:defRPr sz="2175"/>
            </a:lvl6pPr>
            <a:lvl7pPr algn="l">
              <a:defRPr sz="2175"/>
            </a:lvl7pPr>
            <a:lvl8pPr algn="l">
              <a:defRPr sz="2175"/>
            </a:lvl8pPr>
            <a:lvl9pPr algn="l">
              <a:defRPr sz="2175"/>
            </a:lvl9pPr>
          </a:lstStyle>
          <a:p xmlns:a="http://schemas.openxmlformats.org/drawingml/2006/main">
            <a:pPr algn="l">
              <a:defRPr sz="2175"/>
            </a:pPr>
            <a:r>
              <a:rPr sz="2175" b="0">
                <a:solidFill>
                  <a:srgbClr val="595959"/>
                </a:solidFill>
                <a:latin typeface="Arial"/>
                <a:ea typeface="Arial"/>
                <a:cs typeface="Arial"/>
              </a:rPr>
              <a:t>Validation selects the checkpoint; calibration selects the confidence rule.</a:t>
            </a:r>
            <a:br>
              <a:rPr sz="2175" b="0">
                <a:solidFill>
                  <a:srgbClr val="595959"/>
                </a:solidFill>
                <a:latin typeface="Arial"/>
                <a:ea typeface="Arial"/>
                <a:cs typeface="Arial"/>
              </a:rPr>
            </a:br>
            <a:r>
              <a:rPr sz="2175" b="0">
                <a:solidFill>
                  <a:srgbClr val="595959"/>
                </a:solidFill>
                <a:latin typeface="Arial"/>
                <a:ea typeface="Arial"/>
                <a:cs typeface="Arial"/>
              </a:rPr>
              <a:t>The standard calibration set is nested inside the enlarged set.</a:t>
            </a:r>
          </a:p>
        </p:txBody>
      </p:sp>
    </p:spTree>
    <p:extLst>
      <p:ext uri="{BB962C8B-B14F-4D97-AF65-F5344CB8AC3E}">
        <p14:creationId xmlns:p14="http://schemas.microsoft.com/office/powerpoint/2010/main" val="539481462"/>
      </p:ext>
    </p:extLst>
  </p:cSld>
</p:sld>
</file>

<file path=ppt/slides/slide4.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8DF07F8-6EDB-4FBC-862C-6788F722FE8D}"/>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E099C1-068C-4F6C-901B-DA411CEA2E40}"/>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Five completed ConvNeXt tasks show mixed SDM coverage</a:t>
            </a:r>
          </a:p>
        </p:txBody>
      </p:sp>
      <p:graphicFrame>
        <p:nvGraphicFramePr>
          <p:cNvPr id="3" name="">
            <a:extLst xmlns:a="http://schemas.openxmlformats.org/drawingml/2006/main">
              <a:ext uri="{FF2B5EF4-FFF2-40B4-BE49-F238E27FC236}">
                <a16:creationId xmlns:a16="http://schemas.microsoft.com/office/drawing/2014/main" id="{486B72D2-0008-4C6A-B24D-5CD882FB0D4C}"/>
              </a:ext>
            </a:extLst>
          </p:cNvPr>
          <p:cNvGraphicFramePr/>
          <p:nvPr/>
        </p:nvGraphicFramePr>
        <p:xfrm>
          <a:off xmlns:a="http://schemas.openxmlformats.org/drawingml/2006/main" x="666750" y="1714500"/>
          <a:ext xmlns:a="http://schemas.openxmlformats.org/drawingml/2006/main" cx="10858500" cy="3714750"/>
        </p:xfrm>
        <a:graphic xmlns:a="http://schemas.openxmlformats.org/drawingml/2006/main">
          <a:graphicData uri="http://schemas.openxmlformats.org/drawingml/2006/table">
            <a:tbl>
              <a:tblPr/>
              <a:tblGrid>
                <a:gridCol w="2667000"/>
                <a:gridCol w="1238250"/>
                <a:gridCol w="1714500"/>
                <a:gridCol w="1619250"/>
                <a:gridCol w="3619500"/>
              </a:tblGrid>
              <a:tr h="619125">
                <a:tc>
                  <a:txBody>
                    <a:bodyPr lIns="114300" tIns="114300" rIns="114300" bIns="114300"/>
                    <a:lstStyle/>
                    <a:p>
                      <a:r>
                        <a:rPr sz="1725" b="1">
                          <a:solidFill>
                            <a:srgbClr val="FFFFFF"/>
                          </a:solidFill>
                          <a:latin typeface="Arial"/>
                          <a:ea typeface="Arial"/>
                          <a:cs typeface="Arial"/>
                        </a:rPr>
                        <a:t>Dataset</a:t>
                      </a:r>
                    </a:p>
                  </a:txBody>
                  <a:tcPr marL="91440" marR="91440" marT="45720" marB="45720" anchor="ctr">
                    <a:lnL w="5715">
                      <a:solidFill>
                        <a:srgbClr val="DDDDDD"/>
                      </a:solidFill>
                      <a:prstDash val="solid"/>
                    </a:lnL>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Classes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Test images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Accuracy</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SDM coverage</a:t>
                      </a:r>
                      <a:br>
                        <a:rPr sz="1725" b="1">
                          <a:solidFill>
                            <a:srgbClr val="FFFFFF"/>
                          </a:solidFill>
                          <a:latin typeface="Arial"/>
                          <a:ea typeface="Arial"/>
                          <a:cs typeface="Arial"/>
                        </a:rPr>
                      </a:br>
                      <a:r>
                        <a:rPr sz="1725" b="1">
                          <a:solidFill>
                            <a:srgbClr val="FFFFFF"/>
                          </a:solidFill>
                          <a:latin typeface="Arial"/>
                          <a:ea typeface="Arial"/>
                          <a:cs typeface="Arial"/>
                        </a:rPr>
                        <a:t>25 / 100 per 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r>
              <a:tr h="619125">
                <a:tc>
                  <a:txBody>
                    <a:bodyPr lIns="114300" tIns="114300" rIns="114300" bIns="114300"/>
                    <a:lstStyle/>
                    <a:p>
                      <a:r>
                        <a:rPr sz="1725" b="0">
                          <a:solidFill>
                            <a:srgbClr val="222222"/>
                          </a:solidFill>
                          <a:latin typeface="Arial"/>
                          <a:ea typeface="Arial"/>
                          <a:cs typeface="Arial"/>
                        </a:rPr>
                        <a:t>CIFAR-100</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88.45%</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0.00% / 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99.65%</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60.69% / 49.81%</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Fashion-MNIST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95.02%</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0.00% / 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KMNIST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10,000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98.45%</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33.14% / 39.92%</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EMNIST Balanced</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47</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18,800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90.38%</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0.00% / 0.00%</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62BE55D-9040-4040-B67E-E766756DD51C}"/>
              </a:ext>
            </a:extLst>
          </p:cNvPr>
          <p:cNvSpPr>
            <a:spLocks xmlns:a="http://schemas.openxmlformats.org/drawingml/2006/main" noGrp="1"/>
          </p:cNvSpPr>
          <p:nvPr/>
        </p:nvSpPr>
        <p:spPr>
          <a:xfrm xmlns:a="http://schemas.openxmlformats.org/drawingml/2006/main">
            <a:off x="666750" y="5715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a:defPPr>
            <a:lvl1pPr algn="l">
              <a:defRPr sz="1725"/>
            </a:lvl1pPr>
            <a:lvl2pPr algn="l">
              <a:defRPr sz="1725"/>
            </a:lvl2pPr>
            <a:lvl3pPr algn="l">
              <a:defRPr sz="1725"/>
            </a:lvl3pPr>
            <a:lvl4pPr algn="l">
              <a:defRPr sz="1725"/>
            </a:lvl4pPr>
            <a:lvl5pPr algn="l">
              <a:defRPr sz="1725"/>
            </a:lvl5pPr>
            <a:lvl6pPr algn="l">
              <a:defRPr sz="1725"/>
            </a:lvl6pPr>
            <a:lvl7pPr algn="l">
              <a:defRPr sz="1725"/>
            </a:lvl7pPr>
            <a:lvl8pPr algn="l">
              <a:defRPr sz="1725"/>
            </a:lvl8pPr>
            <a:lvl9pPr algn="l">
              <a:defRPr sz="1725"/>
            </a:lvl9pPr>
          </a:lstStyle>
          <a:p xmlns:a="http://schemas.openxmlformats.org/drawingml/2006/main">
            <a:pPr algn="l">
              <a:defRPr sz="1725"/>
            </a:pPr>
            <a:r>
              <a:rPr sz="1725" b="0">
                <a:solidFill>
                  <a:srgbClr val="595959"/>
                </a:solidFill>
                <a:latin typeface="Arial"/>
                <a:ea typeface="Arial"/>
                <a:cs typeface="Arial"/>
              </a:rPr>
              <a:t>ResNet is reported separately on validation; its results are not pooled with these test populations.</a:t>
            </a:r>
          </a:p>
        </p:txBody>
      </p:sp>
    </p:spTree>
    <p:extLst>
      <p:ext uri="{BB962C8B-B14F-4D97-AF65-F5344CB8AC3E}">
        <p14:creationId xmlns:p14="http://schemas.microsoft.com/office/powerpoint/2010/main" val="124744751"/>
      </p:ext>
    </p:extLst>
  </p:cSld>
</p:sld>
</file>

<file path=ppt/slides/slide5.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C277F4-8943-4518-8007-823950DCBD3A}"/>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6F706F-45AB-4118-ACCD-A38A2C2A871E}"/>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Temperature scaling lowers clean calibration error</a:t>
            </a:r>
          </a:p>
        </p:txBody>
      </p:sp>
      <p:graphicFrame>
        <p:nvGraphicFramePr>
          <p:cNvPr id="3" name="Chart">
            <a:extLst xmlns:a="http://schemas.openxmlformats.org/drawingml/2006/main">
              <a:ext uri="{FF2B5EF4-FFF2-40B4-BE49-F238E27FC236}">
                <a16:creationId xmlns:a16="http://schemas.microsoft.com/office/drawing/2014/main" id="{C2BF7C1E-CB0B-4997-855E-28021FE5DE4C}"/>
              </a:ext>
            </a:extLst>
          </p:cNvPr>
          <p:cNvGraphicFramePr/>
          <p:nvPr/>
        </p:nvGraphicFramePr>
        <p:xfrm>
          <a:off xmlns:a="http://schemas.openxmlformats.org/drawingml/2006/main" x="666750" y="1666875"/>
          <a:ext xmlns:a="http://schemas.openxmlformats.org/drawingml/2006/main" cx="10763250" cy="3905250"/>
        </p:xfrm>
        <a:graphic xmlns:a="http://schemas.openxmlformats.org/drawingml/2006/main">
          <a:graphicData uri="http://schemas.openxmlformats.org/drawingml/2006/chart">
            <c:chart xmlns:r="http://schemas.openxmlformats.org/officeDocument/2006/relationships" xmlns:c="http://schemas.openxmlformats.org/drawingml/2006/chart" r:id="R43b715ceb0a34d37"/>
          </a:graphicData>
        </a:graphic>
      </p:graphicFrame>
      <p:sp>
        <p:nvSpPr>
          <p:cNvPr id="4" name="">
            <a:extLst xmlns:a="http://schemas.openxmlformats.org/drawingml/2006/main">
              <a:ext uri="{FF2B5EF4-FFF2-40B4-BE49-F238E27FC236}">
                <a16:creationId xmlns:a16="http://schemas.microsoft.com/office/drawing/2014/main" id="{9008D2E3-DAD1-4E45-917F-49CC81F3B72F}"/>
              </a:ext>
            </a:extLst>
          </p:cNvPr>
          <p:cNvSpPr>
            <a:spLocks xmlns:a="http://schemas.openxmlformats.org/drawingml/2006/main" noGrp="1"/>
          </p:cNvSpPr>
          <p:nvPr/>
        </p:nvSpPr>
        <p:spPr>
          <a:xfrm xmlns:a="http://schemas.openxmlformats.org/drawingml/2006/main">
            <a:off x="666750" y="5810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a:defPPr>
            <a:lvl1pPr algn="l">
              <a:defRPr sz="1725"/>
            </a:lvl1pPr>
            <a:lvl2pPr algn="l">
              <a:defRPr sz="1725"/>
            </a:lvl2pPr>
            <a:lvl3pPr algn="l">
              <a:defRPr sz="1725"/>
            </a:lvl3pPr>
            <a:lvl4pPr algn="l">
              <a:defRPr sz="1725"/>
            </a:lvl4pPr>
            <a:lvl5pPr algn="l">
              <a:defRPr sz="1725"/>
            </a:lvl5pPr>
            <a:lvl6pPr algn="l">
              <a:defRPr sz="1725"/>
            </a:lvl6pPr>
            <a:lvl7pPr algn="l">
              <a:defRPr sz="1725"/>
            </a:lvl7pPr>
            <a:lvl8pPr algn="l">
              <a:defRPr sz="1725"/>
            </a:lvl8pPr>
            <a:lvl9pPr algn="l">
              <a:defRPr sz="1725"/>
            </a:lvl9pPr>
          </a:lstStyle>
          <a:p xmlns:a="http://schemas.openxmlformats.org/drawingml/2006/main">
            <a:pPr algn="l">
              <a:defRPr sz="1725"/>
            </a:pPr>
            <a:r>
              <a:rPr sz="1725" b="0">
                <a:solidFill>
                  <a:srgbClr val="595959"/>
                </a:solidFill>
                <a:latin typeface="Arial"/>
                <a:ea typeface="Arial"/>
                <a:cs typeface="Arial"/>
              </a:rPr>
              <a:t>15-bin ECE (%) · same checkpoint and class predictions within each task</a:t>
            </a:r>
          </a:p>
        </p:txBody>
      </p:sp>
    </p:spTree>
    <p:extLst>
      <p:ext uri="{BB962C8B-B14F-4D97-AF65-F5344CB8AC3E}">
        <p14:creationId xmlns:p14="http://schemas.microsoft.com/office/powerpoint/2010/main" val="183231323"/>
      </p:ext>
    </p:extLst>
  </p:cSld>
</p:sld>
</file>

<file path=ppt/slides/slide6.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9400DF3-07E9-400B-AA53-B2A2974FFF1D}"/>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43CFC6-A854-4064-9877-051F163E7F78}"/>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EMNIST ranking improves while both SDM regions stay empty</a:t>
            </a:r>
          </a:p>
        </p:txBody>
      </p:sp>
      <p:pic>
        <p:nvPicPr>
          <p:cNvPr id="3" name="">
            <a:extLst xmlns:a="http://schemas.openxmlformats.org/drawingml/2006/main">
              <a:ext uri="{FF2B5EF4-FFF2-40B4-BE49-F238E27FC236}">
                <a16:creationId xmlns:a16="http://schemas.microsoft.com/office/drawing/2014/main" id="{E865E857-1DE6-4DD0-ABC3-4AE3314FA907}"/>
              </a:ext>
            </a:extLst>
          </p:cNvPr>
          <p:cNvPicPr>
            <a:picLocks xmlns:a="http://schemas.openxmlformats.org/drawingml/2006/main" noChangeAspect="1"/>
          </p:cNvPicPr>
          <p:nvPr/>
        </p:nvPicPr>
        <p:blipFill>
          <a:blip xmlns:r="http://schemas.openxmlformats.org/officeDocument/2006/relationships" xmlns:a="http://schemas.openxmlformats.org/drawingml/2006/main" r:embed="Rcd4de4ed88304184"/>
          <a:stretch xmlns:a="http://schemas.openxmlformats.org/drawingml/2006/main"/>
        </p:blipFill>
        <p:spPr>
          <a:xfrm xmlns:a="http://schemas.openxmlformats.org/drawingml/2006/main">
            <a:off x="1190743" y="1524000"/>
            <a:ext cx="9810513" cy="4333875"/>
          </a:xfrm>
          <a:prstGeom xmlns:a="http://schemas.openxmlformats.org/drawingml/2006/main" prst="rect">
            <a:avLst/>
          </a:prstGeom>
        </p:spPr>
      </p:pic>
    </p:spTree>
    <p:extLst>
      <p:ext uri="{BB962C8B-B14F-4D97-AF65-F5344CB8AC3E}">
        <p14:creationId xmlns:p14="http://schemas.microsoft.com/office/powerpoint/2010/main" val="1973492207"/>
      </p:ext>
    </p:extLst>
  </p:cSld>
</p:sld>
</file>

<file path=ppt/slides/slide7.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668E45-F412-4187-92B3-27D9CAD4DB31}"/>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F97BDE-A5F4-43C7-A209-C84D86138A8A}"/>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A 95% calibration target can miss on held-out data</a:t>
            </a:r>
          </a:p>
        </p:txBody>
      </p:sp>
      <p:graphicFrame>
        <p:nvGraphicFramePr>
          <p:cNvPr id="3" name="">
            <a:extLst xmlns:a="http://schemas.openxmlformats.org/drawingml/2006/main">
              <a:ext uri="{FF2B5EF4-FFF2-40B4-BE49-F238E27FC236}">
                <a16:creationId xmlns:a16="http://schemas.microsoft.com/office/drawing/2014/main" id="{04026D67-AB1E-4422-AAF6-0677CBFE43F9}"/>
              </a:ext>
            </a:extLst>
          </p:cNvPr>
          <p:cNvGraphicFramePr/>
          <p:nvPr/>
        </p:nvGraphicFramePr>
        <p:xfrm>
          <a:off xmlns:a="http://schemas.openxmlformats.org/drawingml/2006/main" x="666750" y="1714500"/>
          <a:ext xmlns:a="http://schemas.openxmlformats.org/drawingml/2006/main" cx="10858500" cy="3714750"/>
        </p:xfrm>
        <a:graphic xmlns:a="http://schemas.openxmlformats.org/drawingml/2006/main">
          <a:graphicData uri="http://schemas.openxmlformats.org/drawingml/2006/table">
            <a:tbl>
              <a:tblPr/>
              <a:tblGrid>
                <a:gridCol w="2762250"/>
                <a:gridCol w="2000250"/>
                <a:gridCol w="2000250"/>
                <a:gridCol w="2047875"/>
                <a:gridCol w="2047875"/>
              </a:tblGrid>
              <a:tr h="619125">
                <a:tc>
                  <a:txBody>
                    <a:bodyPr lIns="114300" tIns="114300" rIns="114300" bIns="114300"/>
                    <a:lstStyle/>
                    <a:p>
                      <a:r>
                        <a:rPr sz="1725" b="1">
                          <a:solidFill>
                            <a:srgbClr val="FFFFFF"/>
                          </a:solidFill>
                          <a:latin typeface="Arial"/>
                          <a:ea typeface="Arial"/>
                          <a:cs typeface="Arial"/>
                        </a:rPr>
                        <a:t>Dataset</a:t>
                      </a:r>
                    </a:p>
                  </a:txBody>
                  <a:tcPr marL="91440" marR="91440" marT="45720" marB="45720" anchor="ctr">
                    <a:lnL w="5715">
                      <a:solidFill>
                        <a:srgbClr val="DDDDDD"/>
                      </a:solidFill>
                      <a:prstDash val="solid"/>
                    </a:lnL>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Coverage</a:t>
                      </a:r>
                      <a:br>
                        <a:rPr sz="1725" b="1">
                          <a:solidFill>
                            <a:srgbClr val="FFFFFF"/>
                          </a:solidFill>
                          <a:latin typeface="Arial"/>
                          <a:ea typeface="Arial"/>
                          <a:cs typeface="Arial"/>
                        </a:rPr>
                      </a:br>
                      <a:r>
                        <a:rPr sz="1725" b="1">
                          <a:solidFill>
                            <a:srgbClr val="FFFFFF"/>
                          </a:solidFill>
                          <a:latin typeface="Arial"/>
                          <a:ea typeface="Arial"/>
                          <a:cs typeface="Arial"/>
                        </a:rPr>
                        <a:t>25/class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Accuracy</a:t>
                      </a:r>
                      <a:br>
                        <a:rPr sz="1725" b="1">
                          <a:solidFill>
                            <a:srgbClr val="FFFFFF"/>
                          </a:solidFill>
                          <a:latin typeface="Arial"/>
                          <a:ea typeface="Arial"/>
                          <a:cs typeface="Arial"/>
                        </a:rPr>
                      </a:br>
                      <a:r>
                        <a:rPr sz="1725" b="1">
                          <a:solidFill>
                            <a:srgbClr val="FFFFFF"/>
                          </a:solidFill>
                          <a:latin typeface="Arial"/>
                          <a:ea typeface="Arial"/>
                          <a:cs typeface="Arial"/>
                        </a:rPr>
                        <a:t>25/class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Coverage</a:t>
                      </a:r>
                      <a:br>
                        <a:rPr sz="1725" b="1">
                          <a:solidFill>
                            <a:srgbClr val="FFFFFF"/>
                          </a:solidFill>
                          <a:latin typeface="Arial"/>
                          <a:ea typeface="Arial"/>
                          <a:cs typeface="Arial"/>
                        </a:rPr>
                      </a:br>
                      <a:r>
                        <a:rPr sz="1725" b="1">
                          <a:solidFill>
                            <a:srgbClr val="FFFFFF"/>
                          </a:solidFill>
                          <a:latin typeface="Arial"/>
                          <a:ea typeface="Arial"/>
                          <a:cs typeface="Arial"/>
                        </a:rPr>
                        <a:t>100/class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Accuracy</a:t>
                      </a:r>
                      <a:br>
                        <a:rPr sz="1725" b="1">
                          <a:solidFill>
                            <a:srgbClr val="FFFFFF"/>
                          </a:solidFill>
                          <a:latin typeface="Arial"/>
                          <a:ea typeface="Arial"/>
                          <a:cs typeface="Arial"/>
                        </a:rPr>
                      </a:br>
                      <a:r>
                        <a:rPr sz="1725" b="1">
                          <a:solidFill>
                            <a:srgbClr val="FFFFFF"/>
                          </a:solidFill>
                          <a:latin typeface="Arial"/>
                          <a:ea typeface="Arial"/>
                          <a:cs typeface="Arial"/>
                        </a:rPr>
                        <a:t>100/class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r>
              <a:tr h="619125">
                <a:tc>
                  <a:txBody>
                    <a:bodyPr lIns="114300" tIns="114300" rIns="114300" bIns="114300"/>
                    <a:lstStyle/>
                    <a:p>
                      <a:r>
                        <a:rPr sz="1725" b="0">
                          <a:solidFill>
                            <a:srgbClr val="222222"/>
                          </a:solidFill>
                          <a:latin typeface="Arial"/>
                          <a:ea typeface="Arial"/>
                          <a:cs typeface="Arial"/>
                        </a:rPr>
                        <a:t>CIFAR-100</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85.09%</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95.06%</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84.88%</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95.11%</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99.81%</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99.70%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99.97%</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99.66%</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Fashion-MNIST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99.60%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95.24%</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98.05%</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96.03%</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KMNIST</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99.48%</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98.73%</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99.85%</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98.57%</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619125">
                <a:tc>
                  <a:txBody>
                    <a:bodyPr lIns="114300" tIns="114300" rIns="114300" bIns="114300"/>
                    <a:lstStyle/>
                    <a:p>
                      <a:r>
                        <a:rPr sz="1725" b="0">
                          <a:solidFill>
                            <a:srgbClr val="222222"/>
                          </a:solidFill>
                          <a:latin typeface="Arial"/>
                          <a:ea typeface="Arial"/>
                          <a:cs typeface="Arial"/>
                        </a:rPr>
                        <a:t>EMNIST Balanced</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84.63%</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96.17%</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89.81%</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94.56%</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11ED30B-9BB6-4AA4-BC05-9B76FFF23EBF}"/>
              </a:ext>
            </a:extLst>
          </p:cNvPr>
          <p:cNvSpPr>
            <a:spLocks xmlns:a="http://schemas.openxmlformats.org/drawingml/2006/main" noGrp="1"/>
          </p:cNvSpPr>
          <p:nvPr/>
        </p:nvSpPr>
        <p:spPr>
          <a:xfrm xmlns:a="http://schemas.openxmlformats.org/drawingml/2006/main">
            <a:off x="666750" y="57435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725"/>
            </a:defPPr>
            <a:lvl1pPr algn="l">
              <a:defRPr sz="1725"/>
            </a:lvl1pPr>
            <a:lvl2pPr algn="l">
              <a:defRPr sz="1725"/>
            </a:lvl2pPr>
            <a:lvl3pPr algn="l">
              <a:defRPr sz="1725"/>
            </a:lvl3pPr>
            <a:lvl4pPr algn="l">
              <a:defRPr sz="1725"/>
            </a:lvl4pPr>
            <a:lvl5pPr algn="l">
              <a:defRPr sz="1725"/>
            </a:lvl5pPr>
            <a:lvl6pPr algn="l">
              <a:defRPr sz="1725"/>
            </a:lvl6pPr>
            <a:lvl7pPr algn="l">
              <a:defRPr sz="1725"/>
            </a:lvl7pPr>
            <a:lvl8pPr algn="l">
              <a:defRPr sz="1725"/>
            </a:lvl8pPr>
            <a:lvl9pPr algn="l">
              <a:defRPr sz="1725"/>
            </a:lvl9pPr>
          </a:lstStyle>
          <a:p xmlns:a="http://schemas.openxmlformats.org/drawingml/2006/main">
            <a:pPr algn="l">
              <a:defRPr sz="1725"/>
            </a:pPr>
            <a:r>
              <a:rPr sz="1725" b="0">
                <a:solidFill>
                  <a:srgbClr val="595959"/>
                </a:solidFill>
                <a:latin typeface="Arial"/>
                <a:ea typeface="Arial"/>
                <a:cs typeface="Arial"/>
              </a:rPr>
              <a:t>Temperature-scaled softmax rules; exact counts and Wilson intervals are in the write-up.</a:t>
            </a:r>
          </a:p>
        </p:txBody>
      </p:sp>
    </p:spTree>
    <p:extLst>
      <p:ext uri="{BB962C8B-B14F-4D97-AF65-F5344CB8AC3E}">
        <p14:creationId xmlns:p14="http://schemas.microsoft.com/office/powerpoint/2010/main" val="2029476622"/>
      </p:ext>
    </p:extLst>
  </p:cSld>
</p:sld>
</file>

<file path=ppt/slides/slide8.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BE516F-2710-44D1-BCB7-13E36A48478C}"/>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D640F0-B446-45E9-B7DF-C835B8CDB1A6}"/>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EMNIST errors concentrate in similar-looking labels</a:t>
            </a:r>
          </a:p>
        </p:txBody>
      </p:sp>
      <p:graphicFrame>
        <p:nvGraphicFramePr>
          <p:cNvPr id="3" name="">
            <a:extLst xmlns:a="http://schemas.openxmlformats.org/drawingml/2006/main">
              <a:ext uri="{FF2B5EF4-FFF2-40B4-BE49-F238E27FC236}">
                <a16:creationId xmlns:a16="http://schemas.microsoft.com/office/drawing/2014/main" id="{3F4F03C6-5D89-4C3E-983C-720FA090CD57}"/>
              </a:ext>
            </a:extLst>
          </p:cNvPr>
          <p:cNvGraphicFramePr/>
          <p:nvPr/>
        </p:nvGraphicFramePr>
        <p:xfrm>
          <a:off xmlns:a="http://schemas.openxmlformats.org/drawingml/2006/main" x="666750" y="1809750"/>
          <a:ext xmlns:a="http://schemas.openxmlformats.org/drawingml/2006/main" cx="10858500" cy="3333750"/>
        </p:xfrm>
        <a:graphic xmlns:a="http://schemas.openxmlformats.org/drawingml/2006/main">
          <a:graphicData uri="http://schemas.openxmlformats.org/drawingml/2006/table">
            <a:tbl>
              <a:tblPr/>
              <a:tblGrid>
                <a:gridCol w="3619500"/>
                <a:gridCol w="3619500"/>
                <a:gridCol w="3619500"/>
              </a:tblGrid>
              <a:tr h="555625">
                <a:tc>
                  <a:txBody>
                    <a:bodyPr lIns="114300" tIns="114300" rIns="114300" bIns="114300"/>
                    <a:lstStyle/>
                    <a:p>
                      <a:r>
                        <a:rPr sz="1725" b="1">
                          <a:solidFill>
                            <a:srgbClr val="FFFFFF"/>
                          </a:solidFill>
                          <a:latin typeface="Arial"/>
                          <a:ea typeface="Arial"/>
                          <a:cs typeface="Arial"/>
                        </a:rPr>
                        <a:t>True class</a:t>
                      </a:r>
                    </a:p>
                  </a:txBody>
                  <a:tcPr marL="91440" marR="91440" marT="45720" marB="45720" anchor="ctr">
                    <a:lnL w="5715">
                      <a:solidFill>
                        <a:srgbClr val="DDDDDD"/>
                      </a:solidFill>
                      <a:prstDash val="solid"/>
                    </a:lnL>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Predicted class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c>
                  <a:txBody>
                    <a:bodyPr lIns="114300" tIns="114300" rIns="114300" bIns="114300"/>
                    <a:lstStyle/>
                    <a:p>
                      <a:r>
                        <a:rPr sz="1725" b="1">
                          <a:solidFill>
                            <a:srgbClr val="FFFFFF"/>
                          </a:solidFill>
                          <a:latin typeface="Arial"/>
                          <a:ea typeface="Arial"/>
                          <a:cs typeface="Arial"/>
                        </a:rPr>
                        <a:t>Test errors</a:t>
                      </a:r>
                    </a:p>
                  </a:txBody>
                  <a:tcPr marL="91440" marR="91440" marT="45720" marB="45720" anchor="ctr">
                    <a:lnR w="5715">
                      <a:solidFill>
                        <a:srgbClr val="DDDDDD"/>
                      </a:solidFill>
                      <a:prstDash val="solid"/>
                    </a:lnR>
                    <a:lnT w="5715">
                      <a:solidFill>
                        <a:srgbClr val="DDDDDD"/>
                      </a:solidFill>
                      <a:prstDash val="solid"/>
                    </a:lnT>
                    <a:lnB w="5715">
                      <a:solidFill>
                        <a:srgbClr val="DDDDDD"/>
                      </a:solidFill>
                      <a:prstDash val="solid"/>
                    </a:lnB>
                    <a:solidFill>
                      <a:srgbClr val="002676"/>
                    </a:solidFill>
                  </a:tcPr>
                </a:tc>
              </a:tr>
              <a:tr h="555625">
                <a:tc>
                  <a:txBody>
                    <a:bodyPr lIns="114300" tIns="114300" rIns="114300" bIns="114300"/>
                    <a:lstStyle/>
                    <a:p>
                      <a:r>
                        <a:rPr sz="1725" b="0">
                          <a:solidFill>
                            <a:srgbClr val="222222"/>
                          </a:solidFill>
                          <a:latin typeface="Arial"/>
                          <a:ea typeface="Arial"/>
                          <a:cs typeface="Arial"/>
                        </a:rPr>
                        <a:t>F</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f</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137</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555625">
                <a:tc>
                  <a:txBody>
                    <a:bodyPr lIns="114300" tIns="114300" rIns="114300" bIns="114300"/>
                    <a:lstStyle/>
                    <a:p>
                      <a:r>
                        <a:rPr sz="1725" b="0">
                          <a:solidFill>
                            <a:srgbClr val="222222"/>
                          </a:solidFill>
                          <a:latin typeface="Arial"/>
                          <a:ea typeface="Arial"/>
                          <a:cs typeface="Arial"/>
                        </a:rPr>
                        <a:t>O</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0</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127</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555625">
                <a:tc>
                  <a:txBody>
                    <a:bodyPr lIns="114300" tIns="114300" rIns="114300" bIns="114300"/>
                    <a:lstStyle/>
                    <a:p>
                      <a:r>
                        <a:rPr sz="1725" b="0">
                          <a:solidFill>
                            <a:srgbClr val="222222"/>
                          </a:solidFill>
                          <a:latin typeface="Arial"/>
                          <a:ea typeface="Arial"/>
                          <a:cs typeface="Arial"/>
                        </a:rPr>
                        <a:t>0</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O</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120</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555625">
                <a:tc>
                  <a:txBody>
                    <a:bodyPr lIns="114300" tIns="114300" rIns="114300" bIns="114300"/>
                    <a:lstStyle/>
                    <a:p>
                      <a:r>
                        <a:rPr sz="1725" b="0">
                          <a:solidFill>
                            <a:srgbClr val="222222"/>
                          </a:solidFill>
                          <a:latin typeface="Arial"/>
                          <a:ea typeface="Arial"/>
                          <a:cs typeface="Arial"/>
                        </a:rPr>
                        <a:t>L</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115</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r h="555625">
                <a:tc>
                  <a:txBody>
                    <a:bodyPr lIns="114300" tIns="114300" rIns="114300" bIns="114300"/>
                    <a:lstStyle/>
                    <a:p>
                      <a:r>
                        <a:rPr sz="1725" b="0">
                          <a:solidFill>
                            <a:srgbClr val="222222"/>
                          </a:solidFill>
                          <a:latin typeface="Arial"/>
                          <a:ea typeface="Arial"/>
                          <a:cs typeface="Arial"/>
                        </a:rPr>
                        <a:t>f</a:t>
                      </a:r>
                    </a:p>
                  </a:txBody>
                  <a:tcPr marL="91440" marR="91440" marT="45720" marB="45720" anchor="ctr">
                    <a:lnL w="5715">
                      <a:solidFill>
                        <a:srgbClr val="DDDDDD"/>
                      </a:solidFill>
                      <a:prstDash val="solid"/>
                    </a:lnL>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F</a:t>
                      </a:r>
                    </a:p>
                  </a:txBody>
                  <a:tcPr marL="91440" marR="91440" marT="45720" marB="45720" anchor="ctr">
                    <a:lnR w="5715">
                      <a:solidFill>
                        <a:srgbClr val="DDDDDD"/>
                      </a:solidFill>
                      <a:prstDash val="solid"/>
                    </a:lnR>
                    <a:lnB w="5715">
                      <a:solidFill>
                        <a:srgbClr val="DDDDDD"/>
                      </a:solidFill>
                      <a:prstDash val="solid"/>
                    </a:lnB>
                    <a:solidFill>
                      <a:srgbClr val="FFFFFF"/>
                    </a:solidFill>
                  </a:tcPr>
                </a:tc>
                <a:tc>
                  <a:txBody>
                    <a:bodyPr lIns="114300" tIns="114300" rIns="114300" bIns="114300"/>
                    <a:lstStyle/>
                    <a:p>
                      <a:r>
                        <a:rPr sz="1725" b="0">
                          <a:solidFill>
                            <a:srgbClr val="222222"/>
                          </a:solidFill>
                          <a:latin typeface="Arial"/>
                          <a:ea typeface="Arial"/>
                          <a:cs typeface="Arial"/>
                        </a:rPr>
                        <a:t>88</a:t>
                      </a:r>
                    </a:p>
                  </a:txBody>
                  <a:tcPr marL="91440" marR="91440" marT="45720" marB="45720" anchor="ctr">
                    <a:lnR w="5715">
                      <a:solidFill>
                        <a:srgbClr val="DDDDDD"/>
                      </a:solidFill>
                      <a:prstDash val="solid"/>
                    </a:lnR>
                    <a:lnB w="5715">
                      <a:solidFill>
                        <a:srgbClr val="DDDD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31B7164-70D2-46AE-94B1-795B8A7ED0A5}"/>
              </a:ext>
            </a:extLst>
          </p:cNvPr>
          <p:cNvSpPr>
            <a:spLocks xmlns:a="http://schemas.openxmlformats.org/drawingml/2006/main" noGrp="1"/>
          </p:cNvSpPr>
          <p:nvPr/>
        </p:nvSpPr>
        <p:spPr>
          <a:xfrm xmlns:a="http://schemas.openxmlformats.org/drawingml/2006/main">
            <a:off x="666750" y="55721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1875"/>
            </a:defPPr>
            <a:lvl1pPr algn="l">
              <a:defRPr sz="1875"/>
            </a:lvl1pPr>
            <a:lvl2pPr algn="l">
              <a:defRPr sz="1875"/>
            </a:lvl2pPr>
            <a:lvl3pPr algn="l">
              <a:defRPr sz="1875"/>
            </a:lvl3pPr>
            <a:lvl4pPr algn="l">
              <a:defRPr sz="1875"/>
            </a:lvl4pPr>
            <a:lvl5pPr algn="l">
              <a:defRPr sz="1875"/>
            </a:lvl5pPr>
            <a:lvl6pPr algn="l">
              <a:defRPr sz="1875"/>
            </a:lvl6pPr>
            <a:lvl7pPr algn="l">
              <a:defRPr sz="1875"/>
            </a:lvl7pPr>
            <a:lvl8pPr algn="l">
              <a:defRPr sz="1875"/>
            </a:lvl8pPr>
            <a:lvl9pPr algn="l">
              <a:defRPr sz="1875"/>
            </a:lvl9pPr>
          </a:lstStyle>
          <a:p xmlns:a="http://schemas.openxmlformats.org/drawingml/2006/main">
            <a:pPr algn="l">
              <a:defRPr sz="1875"/>
            </a:pPr>
            <a:r>
              <a:rPr sz="1875" b="0">
                <a:solidFill>
                  <a:srgbClr val="595959"/>
                </a:solidFill>
                <a:latin typeface="Arial"/>
                <a:ea typeface="Arial"/>
                <a:cs typeface="Arial"/>
              </a:rPr>
              <a:t>Largest directed error counts; these observations do not establish annotation errors or a causal mechanism.</a:t>
            </a:r>
          </a:p>
        </p:txBody>
      </p:sp>
    </p:spTree>
    <p:extLst>
      <p:ext uri="{BB962C8B-B14F-4D97-AF65-F5344CB8AC3E}">
        <p14:creationId xmlns:p14="http://schemas.microsoft.com/office/powerpoint/2010/main" val="1900358647"/>
      </p:ext>
    </p:extLst>
  </p:cSld>
</p:sld>
</file>

<file path=ppt/slides/slide9.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7D79833-24DA-4E11-85FE-84FB7B1006C8}"/>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E11165-8E1E-472C-B50B-564A3DF2A148}"/>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High-confidence CIFAR errors remain after temperature scaling</a:t>
            </a:r>
          </a:p>
        </p:txBody>
      </p:sp>
      <p:pic>
        <p:nvPicPr>
          <p:cNvPr id="3" name="">
            <a:extLst xmlns:a="http://schemas.openxmlformats.org/drawingml/2006/main">
              <a:ext uri="{FF2B5EF4-FFF2-40B4-BE49-F238E27FC236}">
                <a16:creationId xmlns:a16="http://schemas.microsoft.com/office/drawing/2014/main" id="{5ACFA506-6DF0-4C88-B009-51C0B6AA9DAE}"/>
              </a:ext>
            </a:extLst>
          </p:cNvPr>
          <p:cNvPicPr>
            <a:picLocks xmlns:a="http://schemas.openxmlformats.org/drawingml/2006/main" noChangeAspect="1"/>
          </p:cNvPicPr>
          <p:nvPr/>
        </p:nvPicPr>
        <p:blipFill>
          <a:blip xmlns:r="http://schemas.openxmlformats.org/officeDocument/2006/relationships" xmlns:a="http://schemas.openxmlformats.org/drawingml/2006/main" r:embed="Rd5dd844c0feb47a1"/>
          <a:stretch xmlns:a="http://schemas.openxmlformats.org/drawingml/2006/main"/>
        </p:blipFill>
        <p:spPr>
          <a:xfrm xmlns:a="http://schemas.openxmlformats.org/drawingml/2006/main">
            <a:off x="738188" y="1666875"/>
            <a:ext cx="10715625" cy="4048125"/>
          </a:xfrm>
          <a:prstGeom xmlns:a="http://schemas.openxmlformats.org/drawingml/2006/main" prst="rect">
            <a:avLst/>
          </a:prstGeom>
        </p:spPr>
      </p:pic>
    </p:spTree>
    <p:extLst>
      <p:ext uri="{BB962C8B-B14F-4D97-AF65-F5344CB8AC3E}">
        <p14:creationId xmlns:p14="http://schemas.microsoft.com/office/powerpoint/2010/main" val="1053289582"/>
      </p:ext>
    </p:extLst>
  </p:cSld>
</p:sld>
</file>

<file path=ppt/slides/slide10.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8FD8B8F-BB6A-461B-B834-40E51AA397D4}"/>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29C23F-CB74-44C5-864C-7C20BF3B7B71}"/>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EMNIST confusions remain visible at high confidence</a:t>
            </a:r>
          </a:p>
        </p:txBody>
      </p:sp>
      <p:pic>
        <p:nvPicPr>
          <p:cNvPr id="3" name="">
            <a:extLst xmlns:a="http://schemas.openxmlformats.org/drawingml/2006/main">
              <a:ext uri="{FF2B5EF4-FFF2-40B4-BE49-F238E27FC236}">
                <a16:creationId xmlns:a16="http://schemas.microsoft.com/office/drawing/2014/main" id="{4061EAE1-8880-477A-9A93-06FDEBA4B58C}"/>
              </a:ext>
            </a:extLst>
          </p:cNvPr>
          <p:cNvPicPr>
            <a:picLocks xmlns:a="http://schemas.openxmlformats.org/drawingml/2006/main" noChangeAspect="1"/>
          </p:cNvPicPr>
          <p:nvPr/>
        </p:nvPicPr>
        <p:blipFill>
          <a:blip xmlns:r="http://schemas.openxmlformats.org/officeDocument/2006/relationships" xmlns:a="http://schemas.openxmlformats.org/drawingml/2006/main" r:embed="R4f1dedc335dd4754"/>
          <a:stretch xmlns:a="http://schemas.openxmlformats.org/drawingml/2006/main"/>
        </p:blipFill>
        <p:spPr>
          <a:xfrm xmlns:a="http://schemas.openxmlformats.org/drawingml/2006/main">
            <a:off x="738188" y="1666875"/>
            <a:ext cx="10715625" cy="4048125"/>
          </a:xfrm>
          <a:prstGeom xmlns:a="http://schemas.openxmlformats.org/drawingml/2006/main" prst="rect">
            <a:avLst/>
          </a:prstGeom>
        </p:spPr>
      </p:pic>
    </p:spTree>
    <p:extLst>
      <p:ext uri="{BB962C8B-B14F-4D97-AF65-F5344CB8AC3E}">
        <p14:creationId xmlns:p14="http://schemas.microsoft.com/office/powerpoint/2010/main" val="1401363511"/>
      </p:ext>
    </p:extLst>
  </p:cSld>
</p:sld>
</file>

<file path=ppt/slides/slide11.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173998-DC89-4629-A3FB-98C6788F795C}"/>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57905A-219D-40C7-B7EF-584ACC27C8B1}"/>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The audit changed how the evidence can be used</a:t>
            </a:r>
          </a:p>
        </p:txBody>
      </p:sp>
      <p:sp>
        <p:nvSpPr>
          <p:cNvPr id="3" name="">
            <a:extLst xmlns:a="http://schemas.openxmlformats.org/drawingml/2006/main">
              <a:ext uri="{FF2B5EF4-FFF2-40B4-BE49-F238E27FC236}">
                <a16:creationId xmlns:a16="http://schemas.microsoft.com/office/drawing/2014/main" id="{DA37F762-BE66-4659-8E13-6FF0947667C0}"/>
              </a:ext>
            </a:extLst>
          </p:cNvPr>
          <p:cNvSpPr>
            <a:spLocks xmlns:a="http://schemas.openxmlformats.org/drawingml/2006/main" noGrp="1"/>
          </p:cNvSpPr>
          <p:nvPr/>
        </p:nvSpPr>
        <p:spPr>
          <a:xfrm xmlns:a="http://schemas.openxmlformats.org/drawingml/2006/main">
            <a:off x="666750" y="1809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Corrected</a:t>
            </a:r>
          </a:p>
        </p:txBody>
      </p:sp>
      <p:sp>
        <p:nvSpPr>
          <p:cNvPr id="4" name="">
            <a:extLst xmlns:a="http://schemas.openxmlformats.org/drawingml/2006/main">
              <a:ext uri="{FF2B5EF4-FFF2-40B4-BE49-F238E27FC236}">
                <a16:creationId xmlns:a16="http://schemas.microsoft.com/office/drawing/2014/main" id="{1D952A7D-7735-42FF-AFC2-0F8AF1986A35}"/>
              </a:ext>
            </a:extLst>
          </p:cNvPr>
          <p:cNvSpPr>
            <a:spLocks xmlns:a="http://schemas.openxmlformats.org/drawingml/2006/main" noGrp="1"/>
          </p:cNvSpPr>
          <p:nvPr/>
        </p:nvSpPr>
        <p:spPr>
          <a:xfrm xmlns:a="http://schemas.openxmlformats.org/drawingml/2006/main">
            <a:off x="666750" y="2667000"/>
            <a:ext cx="5143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a:defPPr>
            <a:lvl1pPr algn="l">
              <a:defRPr sz="2175"/>
            </a:lvl1pPr>
            <a:lvl2pPr algn="l">
              <a:defRPr sz="2175"/>
            </a:lvl2pPr>
            <a:lvl3pPr algn="l">
              <a:defRPr sz="2175"/>
            </a:lvl3pPr>
            <a:lvl4pPr algn="l">
              <a:defRPr sz="2175"/>
            </a:lvl4pPr>
            <a:lvl5pPr algn="l">
              <a:defRPr sz="2175"/>
            </a:lvl5pPr>
            <a:lvl6pPr algn="l">
              <a:defRPr sz="2175"/>
            </a:lvl6pPr>
            <a:lvl7pPr algn="l">
              <a:defRPr sz="2175"/>
            </a:lvl7pPr>
            <a:lvl8pPr algn="l">
              <a:defRPr sz="2175"/>
            </a:lvl8pPr>
            <a:lvl9pPr algn="l">
              <a:defRPr sz="2175"/>
            </a:lvl9pPr>
          </a:lstStyle>
          <a:p xmlns:a="http://schemas.openxmlformats.org/drawingml/2006/main">
            <a:pPr algn="l">
              <a:defRPr sz="2175"/>
            </a:pPr>
            <a:r>
              <a:rPr sz="2175" b="0">
                <a:solidFill>
                  <a:srgbClr val="595959"/>
                </a:solidFill>
                <a:latin typeface="Arial"/>
                <a:ea typeface="Arial"/>
                <a:cs typeface="Arial"/>
              </a:rPr>
              <a:t>Whole-score-group thresholds and risk curves</a:t>
            </a:r>
            <a:br>
              <a:rPr sz="2175" b="0">
                <a:solidFill>
                  <a:srgbClr val="595959"/>
                </a:solidFill>
                <a:latin typeface="Arial"/>
                <a:ea typeface="Arial"/>
                <a:cs typeface="Arial"/>
              </a:rPr>
            </a:br>
            <a:r>
              <a:rPr sz="2175" b="0">
                <a:solidFill>
                  <a:srgbClr val="595959"/>
                </a:solidFill>
                <a:latin typeface="Arial"/>
                <a:ea typeface="Arial"/>
                <a:cs typeface="Arial"/>
              </a:rPr>
              <a:t>Calibration-only matched coverage</a:t>
            </a:r>
            <a:br>
              <a:rPr sz="2175" b="0">
                <a:solidFill>
                  <a:srgbClr val="595959"/>
                </a:solidFill>
                <a:latin typeface="Arial"/>
                <a:ea typeface="Arial"/>
                <a:cs typeface="Arial"/>
              </a:rPr>
            </a:br>
            <a:r>
              <a:rPr sz="2175" b="0">
                <a:solidFill>
                  <a:srgbClr val="595959"/>
                </a:solidFill>
                <a:latin typeface="Arial"/>
                <a:ea typeface="Arial"/>
                <a:cs typeface="Arial"/>
              </a:rPr>
              <a:t>Cached calibration identity checks</a:t>
            </a:r>
            <a:br>
              <a:rPr sz="2175" b="0">
                <a:solidFill>
                  <a:srgbClr val="595959"/>
                </a:solidFill>
                <a:latin typeface="Arial"/>
                <a:ea typeface="Arial"/>
                <a:cs typeface="Arial"/>
              </a:rPr>
            </a:br>
            <a:r>
              <a:rPr sz="2175" b="0">
                <a:solidFill>
                  <a:srgbClr val="595959"/>
                </a:solidFill>
                <a:latin typeface="Arial"/>
                <a:ea typeface="Arial"/>
                <a:cs typeface="Arial"/>
              </a:rPr>
              <a:t>Empty regions and small galleries</a:t>
            </a:r>
          </a:p>
        </p:txBody>
      </p:sp>
      <p:sp>
        <p:nvSpPr>
          <p:cNvPr id="5" name="">
            <a:extLst xmlns:a="http://schemas.openxmlformats.org/drawingml/2006/main">
              <a:ext uri="{FF2B5EF4-FFF2-40B4-BE49-F238E27FC236}">
                <a16:creationId xmlns:a16="http://schemas.microsoft.com/office/drawing/2014/main" id="{03CDEAF2-DF3F-4766-8B36-830A2479D81F}"/>
              </a:ext>
            </a:extLst>
          </p:cNvPr>
          <p:cNvSpPr>
            <a:spLocks xmlns:a="http://schemas.openxmlformats.org/drawingml/2006/main" noGrp="1"/>
          </p:cNvSpPr>
          <p:nvPr/>
        </p:nvSpPr>
        <p:spPr>
          <a:xfrm xmlns:a="http://schemas.openxmlformats.org/drawingml/2006/main">
            <a:off x="6477000" y="1809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Still limited</a:t>
            </a:r>
          </a:p>
        </p:txBody>
      </p:sp>
      <p:sp>
        <p:nvSpPr>
          <p:cNvPr id="6" name="">
            <a:extLst xmlns:a="http://schemas.openxmlformats.org/drawingml/2006/main">
              <a:ext uri="{FF2B5EF4-FFF2-40B4-BE49-F238E27FC236}">
                <a16:creationId xmlns:a16="http://schemas.microsoft.com/office/drawing/2014/main" id="{A62258FE-1D94-4270-A668-5BA26A8A07CF}"/>
              </a:ext>
            </a:extLst>
          </p:cNvPr>
          <p:cNvSpPr>
            <a:spLocks xmlns:a="http://schemas.openxmlformats.org/drawingml/2006/main" noGrp="1"/>
          </p:cNvSpPr>
          <p:nvPr/>
        </p:nvSpPr>
        <p:spPr>
          <a:xfrm xmlns:a="http://schemas.openxmlformats.org/drawingml/2006/main">
            <a:off x="6477000" y="2667000"/>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175"/>
            </a:defPPr>
            <a:lvl1pPr algn="l">
              <a:defRPr sz="2175"/>
            </a:lvl1pPr>
            <a:lvl2pPr algn="l">
              <a:defRPr sz="2175"/>
            </a:lvl2pPr>
            <a:lvl3pPr algn="l">
              <a:defRPr sz="2175"/>
            </a:lvl3pPr>
            <a:lvl4pPr algn="l">
              <a:defRPr sz="2175"/>
            </a:lvl4pPr>
            <a:lvl5pPr algn="l">
              <a:defRPr sz="2175"/>
            </a:lvl5pPr>
            <a:lvl6pPr algn="l">
              <a:defRPr sz="2175"/>
            </a:lvl6pPr>
            <a:lvl7pPr algn="l">
              <a:defRPr sz="2175"/>
            </a:lvl7pPr>
            <a:lvl8pPr algn="l">
              <a:defRPr sz="2175"/>
            </a:lvl8pPr>
            <a:lvl9pPr algn="l">
              <a:defRPr sz="2175"/>
            </a:lvl9pPr>
          </a:lstStyle>
          <a:p xmlns:a="http://schemas.openxmlformats.org/drawingml/2006/main">
            <a:pPr algn="l">
              <a:defRPr sz="2175"/>
            </a:pPr>
            <a:r>
              <a:rPr sz="2175" b="0">
                <a:solidFill>
                  <a:srgbClr val="595959"/>
                </a:solidFill>
                <a:latin typeface="Arial"/>
                <a:ea typeface="Arial"/>
                <a:cs typeface="Arial"/>
              </a:rPr>
              <a:t>One seed per completed task</a:t>
            </a:r>
            <a:br>
              <a:rPr sz="2175" b="0">
                <a:solidFill>
                  <a:srgbClr val="595959"/>
                </a:solidFill>
                <a:latin typeface="Arial"/>
                <a:ea typeface="Arial"/>
                <a:cs typeface="Arial"/>
              </a:rPr>
            </a:br>
            <a:r>
              <a:rPr sz="2175" b="0">
                <a:solidFill>
                  <a:srgbClr val="595959"/>
                </a:solidFill>
                <a:latin typeface="Arial"/>
                <a:ea typeface="Arial"/>
                <a:cs typeface="Arial"/>
              </a:rPr>
              <a:t>Different ResNet / ConvNeXt populations</a:t>
            </a:r>
            <a:br>
              <a:rPr sz="2175" b="0">
                <a:solidFill>
                  <a:srgbClr val="595959"/>
                </a:solidFill>
                <a:latin typeface="Arial"/>
                <a:ea typeface="Arial"/>
                <a:cs typeface="Arial"/>
              </a:rPr>
            </a:br>
            <a:r>
              <a:rPr sz="2175" b="0">
                <a:solidFill>
                  <a:srgbClr val="595959"/>
                </a:solidFill>
                <a:latin typeface="Arial"/>
                <a:ea typeface="Arial"/>
                <a:cs typeface="Arial"/>
              </a:rPr>
              <a:t>Historical test exploration</a:t>
            </a:r>
            <a:br>
              <a:rPr sz="2175" b="0">
                <a:solidFill>
                  <a:srgbClr val="595959"/>
                </a:solidFill>
                <a:latin typeface="Arial"/>
                <a:ea typeface="Arial"/>
                <a:cs typeface="Arial"/>
              </a:rPr>
            </a:br>
            <a:r>
              <a:rPr sz="2175" b="0">
                <a:solidFill>
                  <a:srgbClr val="595959"/>
                </a:solidFill>
                <a:latin typeface="Arial"/>
                <a:ea typeface="Arial"/>
                <a:cs typeface="Arial"/>
              </a:rPr>
              <a:t>No completed matched shift benchmark</a:t>
            </a:r>
          </a:p>
        </p:txBody>
      </p:sp>
    </p:spTree>
    <p:extLst>
      <p:ext uri="{BB962C8B-B14F-4D97-AF65-F5344CB8AC3E}">
        <p14:creationId xmlns:p14="http://schemas.microsoft.com/office/powerpoint/2010/main" val="231979457"/>
      </p:ext>
    </p:extLst>
  </p:cSld>
</p:sld>
</file>

<file path=ppt/slides/slide12.xml><?xml version="1.0" encoding="utf-8"?>
<p:sld xmlns:p="http://schemas.openxmlformats.org/presentationml/2006/main">
  <p:cSld>
    <p:bg>
      <p:bgPr>
        <a:solidFill xmlns:a="http://schemas.openxmlformats.org/drawingml/2006/main">
          <a:srgbClr val="FDB51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490EB0-EF9A-4424-838B-7665749EB09C}"/>
              </a:ext>
            </a:extLst>
          </p:cNvPr>
          <p:cNvSpPr>
            <a:spLocks xmlns:a="http://schemas.openxmlformats.org/drawingml/2006/main" noGrp="1"/>
          </p:cNvSpPr>
          <p:nvPr/>
        </p:nvSpPr>
        <p:spPr>
          <a:xfrm xmlns:a="http://schemas.openxmlformats.org/drawingml/2006/main">
            <a:off x="228600" y="228600"/>
            <a:ext cx="11734800" cy="6400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AF7DA1-7B57-4B7E-9D01-8DA8CD307EA3}"/>
              </a:ext>
            </a:extLst>
          </p:cNvPr>
          <p:cNvSpPr>
            <a:spLocks xmlns:a="http://schemas.openxmlformats.org/drawingml/2006/main" noGrp="1"/>
          </p:cNvSpPr>
          <p:nvPr/>
        </p:nvSpPr>
        <p:spPr>
          <a:xfrm xmlns:a="http://schemas.openxmlformats.org/drawingml/2006/main">
            <a:off x="666750" y="571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3000"/>
            </a:defPPr>
            <a:lvl1pPr algn="l">
              <a:defRPr sz="3000"/>
            </a:lvl1pPr>
            <a:lvl2pPr algn="l">
              <a:defRPr sz="3000"/>
            </a:lvl2pPr>
            <a:lvl3pPr algn="l">
              <a:defRPr sz="3000"/>
            </a:lvl3pPr>
            <a:lvl4pPr algn="l">
              <a:defRPr sz="3000"/>
            </a:lvl4pPr>
            <a:lvl5pPr algn="l">
              <a:defRPr sz="3000"/>
            </a:lvl5pPr>
            <a:lvl6pPr algn="l">
              <a:defRPr sz="3000"/>
            </a:lvl6pPr>
            <a:lvl7pPr algn="l">
              <a:defRPr sz="3000"/>
            </a:lvl7pPr>
            <a:lvl8pPr algn="l">
              <a:defRPr sz="3000"/>
            </a:lvl8pPr>
            <a:lvl9pPr algn="l">
              <a:defRPr sz="3000"/>
            </a:lvl9pPr>
          </a:lstStyle>
          <a:p xmlns:a="http://schemas.openxmlformats.org/drawingml/2006/main">
            <a:pPr algn="l">
              <a:defRPr sz="3000"/>
            </a:pPr>
            <a:r>
              <a:rPr sz="3000" b="1">
                <a:solidFill>
                  <a:srgbClr val="002676"/>
                </a:solidFill>
                <a:latin typeface="Arial"/>
                <a:ea typeface="Arial"/>
                <a:cs typeface="Arial"/>
              </a:rPr>
              <a:t>Clean-data conclusions are ready; shift claims remain open</a:t>
            </a:r>
          </a:p>
        </p:txBody>
      </p:sp>
      <p:sp>
        <p:nvSpPr>
          <p:cNvPr id="3" name="">
            <a:extLst xmlns:a="http://schemas.openxmlformats.org/drawingml/2006/main">
              <a:ext uri="{FF2B5EF4-FFF2-40B4-BE49-F238E27FC236}">
                <a16:creationId xmlns:a16="http://schemas.microsoft.com/office/drawing/2014/main" id="{9CA73C6A-8CC8-4F15-B6D2-36A09F692391}"/>
              </a:ext>
            </a:extLst>
          </p:cNvPr>
          <p:cNvSpPr>
            <a:spLocks xmlns:a="http://schemas.openxmlformats.org/drawingml/2006/main" noGrp="1"/>
          </p:cNvSpPr>
          <p:nvPr/>
        </p:nvSpPr>
        <p:spPr>
          <a:xfrm xmlns:a="http://schemas.openxmlformats.org/drawingml/2006/main">
            <a:off x="666750" y="18097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Supported by saved results</a:t>
            </a:r>
          </a:p>
        </p:txBody>
      </p:sp>
      <p:sp>
        <p:nvSpPr>
          <p:cNvPr id="4" name="">
            <a:extLst xmlns:a="http://schemas.openxmlformats.org/drawingml/2006/main">
              <a:ext uri="{FF2B5EF4-FFF2-40B4-BE49-F238E27FC236}">
                <a16:creationId xmlns:a16="http://schemas.microsoft.com/office/drawing/2014/main" id="{C3105C79-981E-4E82-8AA2-1F5A3817DD8A}"/>
              </a:ext>
            </a:extLst>
          </p:cNvPr>
          <p:cNvSpPr>
            <a:spLocks xmlns:a="http://schemas.openxmlformats.org/drawingml/2006/main" noGrp="1"/>
          </p:cNvSpPr>
          <p:nvPr/>
        </p:nvSpPr>
        <p:spPr>
          <a:xfrm xmlns:a="http://schemas.openxmlformats.org/drawingml/2006/main">
            <a:off x="666750" y="2571750"/>
            <a:ext cx="1038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325"/>
            </a:defPPr>
            <a:lvl1pPr algn="l">
              <a:defRPr sz="2325"/>
            </a:lvl1pPr>
            <a:lvl2pPr algn="l">
              <a:defRPr sz="2325"/>
            </a:lvl2pPr>
            <a:lvl3pPr algn="l">
              <a:defRPr sz="2325"/>
            </a:lvl3pPr>
            <a:lvl4pPr algn="l">
              <a:defRPr sz="2325"/>
            </a:lvl4pPr>
            <a:lvl5pPr algn="l">
              <a:defRPr sz="2325"/>
            </a:lvl5pPr>
            <a:lvl6pPr algn="l">
              <a:defRPr sz="2325"/>
            </a:lvl6pPr>
            <a:lvl7pPr algn="l">
              <a:defRPr sz="2325"/>
            </a:lvl7pPr>
            <a:lvl8pPr algn="l">
              <a:defRPr sz="2325"/>
            </a:lvl8pPr>
            <a:lvl9pPr algn="l">
              <a:defRPr sz="2325"/>
            </a:lvl9pPr>
          </a:lstStyle>
          <a:p xmlns:a="http://schemas.openxmlformats.org/drawingml/2006/main">
            <a:pPr algn="l">
              <a:defRPr sz="2325"/>
            </a:pPr>
            <a:r>
              <a:rPr sz="2325" b="0">
                <a:solidFill>
                  <a:srgbClr val="595959"/>
                </a:solidFill>
                <a:latin typeface="Arial"/>
                <a:ea typeface="Arial"/>
                <a:cs typeface="Arial"/>
              </a:rPr>
              <a:t>Temperature scaling improves clean calibration.</a:t>
            </a:r>
            <a:br>
              <a:rPr sz="2325" b="0">
                <a:solidFill>
                  <a:srgbClr val="595959"/>
                </a:solidFill>
                <a:latin typeface="Arial"/>
                <a:ea typeface="Arial"/>
                <a:cs typeface="Arial"/>
              </a:rPr>
            </a:br>
            <a:r>
              <a:rPr sz="2325" b="0">
                <a:solidFill>
                  <a:srgbClr val="595959"/>
                </a:solidFill>
                <a:latin typeface="Arial"/>
                <a:ea typeface="Arial"/>
                <a:cs typeface="Arial"/>
              </a:rPr>
              <a:t>SDM has mixed ranking results and task-dependent admission coverage.</a:t>
            </a:r>
          </a:p>
        </p:txBody>
      </p:sp>
      <p:sp>
        <p:nvSpPr>
          <p:cNvPr id="5" name="">
            <a:extLst xmlns:a="http://schemas.openxmlformats.org/drawingml/2006/main">
              <a:ext uri="{FF2B5EF4-FFF2-40B4-BE49-F238E27FC236}">
                <a16:creationId xmlns:a16="http://schemas.microsoft.com/office/drawing/2014/main" id="{5BECD04A-55A7-43F0-9D16-DDAB04CC180C}"/>
              </a:ext>
            </a:extLst>
          </p:cNvPr>
          <p:cNvSpPr>
            <a:spLocks xmlns:a="http://schemas.openxmlformats.org/drawingml/2006/main" noGrp="1"/>
          </p:cNvSpPr>
          <p:nvPr/>
        </p:nvSpPr>
        <p:spPr>
          <a:xfrm xmlns:a="http://schemas.openxmlformats.org/drawingml/2006/main">
            <a:off x="666750" y="41910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250"/>
            </a:defPPr>
            <a:lvl1pPr algn="l">
              <a:defRPr sz="2250"/>
            </a:lvl1pPr>
            <a:lvl2pPr algn="l">
              <a:defRPr sz="2250"/>
            </a:lvl2pPr>
            <a:lvl3pPr algn="l">
              <a:defRPr sz="2250"/>
            </a:lvl3pPr>
            <a:lvl4pPr algn="l">
              <a:defRPr sz="2250"/>
            </a:lvl4pPr>
            <a:lvl5pPr algn="l">
              <a:defRPr sz="2250"/>
            </a:lvl5pPr>
            <a:lvl6pPr algn="l">
              <a:defRPr sz="2250"/>
            </a:lvl6pPr>
            <a:lvl7pPr algn="l">
              <a:defRPr sz="2250"/>
            </a:lvl7pPr>
            <a:lvl8pPr algn="l">
              <a:defRPr sz="2250"/>
            </a:lvl8pPr>
            <a:lvl9pPr algn="l">
              <a:defRPr sz="2250"/>
            </a:lvl9pPr>
          </a:lstStyle>
          <a:p xmlns:a="http://schemas.openxmlformats.org/drawingml/2006/main">
            <a:pPr algn="l">
              <a:defRPr sz="2250"/>
            </a:pPr>
            <a:r>
              <a:rPr sz="2250" b="1">
                <a:solidFill>
                  <a:srgbClr val="002676"/>
                </a:solidFill>
                <a:latin typeface="Arial"/>
                <a:ea typeface="Arial"/>
                <a:cs typeface="Arial"/>
              </a:rPr>
              <a:t>Before broader claims</a:t>
            </a:r>
          </a:p>
        </p:txBody>
      </p:sp>
      <p:sp>
        <p:nvSpPr>
          <p:cNvPr id="6" name="">
            <a:extLst xmlns:a="http://schemas.openxmlformats.org/drawingml/2006/main">
              <a:ext uri="{FF2B5EF4-FFF2-40B4-BE49-F238E27FC236}">
                <a16:creationId xmlns:a16="http://schemas.microsoft.com/office/drawing/2014/main" id="{269B9CBC-6134-4283-AEBB-C3C9723EACEF}"/>
              </a:ext>
            </a:extLst>
          </p:cNvPr>
          <p:cNvSpPr>
            <a:spLocks xmlns:a="http://schemas.openxmlformats.org/drawingml/2006/main" noGrp="1"/>
          </p:cNvSpPr>
          <p:nvPr/>
        </p:nvSpPr>
        <p:spPr>
          <a:xfrm xmlns:a="http://schemas.openxmlformats.org/drawingml/2006/main">
            <a:off x="666750" y="4953000"/>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lgn="l">
              <a:defRPr sz="2325"/>
            </a:defPPr>
            <a:lvl1pPr algn="l">
              <a:defRPr sz="2325"/>
            </a:lvl1pPr>
            <a:lvl2pPr algn="l">
              <a:defRPr sz="2325"/>
            </a:lvl2pPr>
            <a:lvl3pPr algn="l">
              <a:defRPr sz="2325"/>
            </a:lvl3pPr>
            <a:lvl4pPr algn="l">
              <a:defRPr sz="2325"/>
            </a:lvl4pPr>
            <a:lvl5pPr algn="l">
              <a:defRPr sz="2325"/>
            </a:lvl5pPr>
            <a:lvl6pPr algn="l">
              <a:defRPr sz="2325"/>
            </a:lvl6pPr>
            <a:lvl7pPr algn="l">
              <a:defRPr sz="2325"/>
            </a:lvl7pPr>
            <a:lvl8pPr algn="l">
              <a:defRPr sz="2325"/>
            </a:lvl8pPr>
            <a:lvl9pPr algn="l">
              <a:defRPr sz="2325"/>
            </a:lvl9pPr>
          </a:lstStyle>
          <a:p xmlns:a="http://schemas.openxmlformats.org/drawingml/2006/main">
            <a:pPr algn="l">
              <a:defRPr sz="2325"/>
            </a:pPr>
            <a:r>
              <a:rPr sz="2325" b="0">
                <a:solidFill>
                  <a:srgbClr val="595959"/>
                </a:solidFill>
                <a:latin typeface="Arial"/>
                <a:ea typeface="Arial"/>
                <a:cs typeface="Arial"/>
              </a:rPr>
              <a:t>Reconcile teammate artifacts; then complete the paused corruption/OOD and remaining dataset runs.</a:t>
            </a:r>
          </a:p>
        </p:txBody>
      </p:sp>
    </p:spTree>
    <p:extLst>
      <p:ext uri="{BB962C8B-B14F-4D97-AF65-F5344CB8AC3E}">
        <p14:creationId xmlns:p14="http://schemas.microsoft.com/office/powerpoint/2010/main" val="1421503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2026-10-29T19:16:33.3540000Z</dcterms:created>
  <dcterms:modified xsi:type="dcterms:W3CDTF">2026-10-29T19:16:33.3540000Z</dcterms:modified>
</coreProperties>
</file>