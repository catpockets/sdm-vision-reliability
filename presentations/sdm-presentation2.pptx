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ee6be2dccf04f58" /><Relationship Type="http://schemas.openxmlformats.org/officeDocument/2006/relationships/extended-properties" Target="/docProps/app.xml" Id="Rd2d1333e36eb42f4" /><Relationship Type="http://schemas.openxmlformats.org/officeDocument/2006/relationships/officeDocument" Target="/ppt/presentation.xml" Id="Rebf1a928ddd842f1" /></Relationships>
</file>

<file path=ppt/presentation.xml><?xml version="1.0" encoding="utf-8"?>
<p:presentation xmlns:p="http://schemas.openxmlformats.org/presentationml/2006/main">
  <p:sldMasterIdLst>
    <p:sldMasterId xmlns:r="http://schemas.openxmlformats.org/officeDocument/2006/relationships" id="2147483648" r:id="R6a8f10dea6b347b1"/>
  </p:sldMasterIdLst>
  <p:notesMasterIdLst>
    <p:notesMasterId xmlns:r="http://schemas.openxmlformats.org/officeDocument/2006/relationships" r:id="Rfebeadfee59d434b"/>
  </p:notesMasterIdLst>
  <p:sldIdLst>
    <p:sldId xmlns:r="http://schemas.openxmlformats.org/officeDocument/2006/relationships" id="256" r:id="R8be061edf25248ca"/>
    <p:sldId xmlns:r="http://schemas.openxmlformats.org/officeDocument/2006/relationships" id="257" r:id="R476ce248765343c1"/>
    <p:sldId xmlns:r="http://schemas.openxmlformats.org/officeDocument/2006/relationships" id="258" r:id="Reaee193187d344d8"/>
    <p:sldId xmlns:r="http://schemas.openxmlformats.org/officeDocument/2006/relationships" id="259" r:id="Radb315dca02a4800"/>
    <p:sldId xmlns:r="http://schemas.openxmlformats.org/officeDocument/2006/relationships" id="260" r:id="R6de53580c26b4c7b"/>
    <p:sldId xmlns:r="http://schemas.openxmlformats.org/officeDocument/2006/relationships" id="261" r:id="Rb36840198f1849d8"/>
    <p:sldId xmlns:r="http://schemas.openxmlformats.org/officeDocument/2006/relationships" id="262" r:id="R4484074bb2614045"/>
    <p:sldId xmlns:r="http://schemas.openxmlformats.org/officeDocument/2006/relationships" id="263" r:id="R3bb5e0c68f524038"/>
    <p:sldId xmlns:r="http://schemas.openxmlformats.org/officeDocument/2006/relationships" id="264" r:id="Rf2c04973f4424e41"/>
    <p:sldId xmlns:r="http://schemas.openxmlformats.org/officeDocument/2006/relationships" id="265" r:id="R217abdd4d4cc485e"/>
    <p:sldId xmlns:r="http://schemas.openxmlformats.org/officeDocument/2006/relationships" id="266" r:id="R54dff8d778f947f1"/>
    <p:sldId xmlns:r="http://schemas.openxmlformats.org/officeDocument/2006/relationships" id="267" r:id="R323bd0c62e754709"/>
    <p:sldId xmlns:r="http://schemas.openxmlformats.org/officeDocument/2006/relationships" id="268" r:id="Rc03491f6f97d483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d58ac0ef6648a4" /><Relationship Type="http://schemas.openxmlformats.org/officeDocument/2006/relationships/slideMaster" Target="/ppt/slideMasters/slideMaster1.xml" Id="R6a8f10dea6b347b1" /><Relationship Type="http://schemas.openxmlformats.org/officeDocument/2006/relationships/notesMaster" Target="/ppt/notesMasters/notesMaster1.xml" Id="Rfebeadfee59d434b" /><Relationship Type="http://schemas.openxmlformats.org/officeDocument/2006/relationships/presProps" Target="/ppt/presProps.xml" Id="R066a18dcf173420e" /><Relationship Type="http://schemas.openxmlformats.org/officeDocument/2006/relationships/tableStyles" Target="/ppt/tableStyles.xml" Id="Ra123a26ca40a4135" /><Relationship Type="http://schemas.openxmlformats.org/officeDocument/2006/relationships/slide" Target="/ppt/slides/slide1.xml" Id="R8be061edf25248ca" /><Relationship Type="http://schemas.openxmlformats.org/officeDocument/2006/relationships/slide" Target="/ppt/slides/slide2.xml" Id="R476ce248765343c1" /><Relationship Type="http://schemas.openxmlformats.org/officeDocument/2006/relationships/slide" Target="/ppt/slides/slide3.xml" Id="Reaee193187d344d8" /><Relationship Type="http://schemas.openxmlformats.org/officeDocument/2006/relationships/slide" Target="/ppt/slides/slide4.xml" Id="Radb315dca02a4800" /><Relationship Type="http://schemas.openxmlformats.org/officeDocument/2006/relationships/slide" Target="/ppt/slides/slide5.xml" Id="R6de53580c26b4c7b" /><Relationship Type="http://schemas.openxmlformats.org/officeDocument/2006/relationships/slide" Target="/ppt/slides/slide6.xml" Id="Rb36840198f1849d8" /><Relationship Type="http://schemas.openxmlformats.org/officeDocument/2006/relationships/slide" Target="/ppt/slides/slide7.xml" Id="R4484074bb2614045" /><Relationship Type="http://schemas.openxmlformats.org/officeDocument/2006/relationships/slide" Target="/ppt/slides/slide8.xml" Id="R3bb5e0c68f524038" /><Relationship Type="http://schemas.openxmlformats.org/officeDocument/2006/relationships/slide" Target="/ppt/slides/slide9.xml" Id="Rf2c04973f4424e41" /><Relationship Type="http://schemas.openxmlformats.org/officeDocument/2006/relationships/slide" Target="/ppt/slides/slide10.xml" Id="R217abdd4d4cc485e" /><Relationship Type="http://schemas.openxmlformats.org/officeDocument/2006/relationships/slide" Target="/ppt/slides/slide11.xml" Id="R54dff8d778f947f1" /><Relationship Type="http://schemas.openxmlformats.org/officeDocument/2006/relationships/slide" Target="/ppt/slides/slide12.xml" Id="R323bd0c62e754709" /><Relationship Type="http://schemas.openxmlformats.org/officeDocument/2006/relationships/slide" Target="/ppt/slides/slide13.xml" Id="Rc03491f6f97d483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730342fe8043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5a473d91ff482f" /><Relationship Type="http://schemas.openxmlformats.org/officeDocument/2006/relationships/notesMaster" Target="/ppt/notesMasters/notesMaster1.xml" Id="R9806640721ed42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83b9b0944a46aa" /><Relationship Type="http://schemas.openxmlformats.org/officeDocument/2006/relationships/notesMaster" Target="/ppt/notesMasters/notesMaster1.xml" Id="Reccb2154a95e45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37c83d65f847a1" /><Relationship Type="http://schemas.openxmlformats.org/officeDocument/2006/relationships/notesMaster" Target="/ppt/notesMasters/notesMaster1.xml" Id="R8fb3347c99a94d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749d2d3285455a" /><Relationship Type="http://schemas.openxmlformats.org/officeDocument/2006/relationships/notesMaster" Target="/ppt/notesMasters/notesMaster1.xml" Id="R64a40a03de1943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5c277abefe43e7" /><Relationship Type="http://schemas.openxmlformats.org/officeDocument/2006/relationships/notesMaster" Target="/ppt/notesMasters/notesMaster1.xml" Id="R9b50cbf63fe64da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ff87ad2e00447dd" /><Relationship Type="http://schemas.openxmlformats.org/officeDocument/2006/relationships/notesMaster" Target="/ppt/notesMasters/notesMaster1.xml" Id="R8abef7e9dc384c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ff9ca836574af2" /><Relationship Type="http://schemas.openxmlformats.org/officeDocument/2006/relationships/notesMaster" Target="/ppt/notesMasters/notesMaster1.xml" Id="R4fe1064118ee4c3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8a56bc4ceb49d8" /><Relationship Type="http://schemas.openxmlformats.org/officeDocument/2006/relationships/notesMaster" Target="/ppt/notesMasters/notesMaster1.xml" Id="R7cd6a58ebd9043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c081726b2ad0462b" /><Relationship Type="http://schemas.openxmlformats.org/officeDocument/2006/relationships/notesMaster" Target="/ppt/notesMasters/notesMaster1.xml" Id="R7c01739e2767460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13b5daf2ede4885" /><Relationship Type="http://schemas.openxmlformats.org/officeDocument/2006/relationships/notesMaster" Target="/ppt/notesMasters/notesMaster1.xml" Id="R372816059ed2452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87b614e9ffc4feb" /><Relationship Type="http://schemas.openxmlformats.org/officeDocument/2006/relationships/notesMaster" Target="/ppt/notesMasters/notesMaster1.xml" Id="R04d9b10cc1cc4b9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d6e22e3be2b4ddd" /><Relationship Type="http://schemas.openxmlformats.org/officeDocument/2006/relationships/notesMaster" Target="/ppt/notesMasters/notesMaster1.xml" Id="R1a5f410714db454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48c922e97964ce8" /><Relationship Type="http://schemas.openxmlformats.org/officeDocument/2006/relationships/notesMaster" Target="/ppt/notesMasters/notesMaster1.xml" Id="R014c02e635264d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Karim. Rehearsal target: 0:10.</a:t>
            </a:r>
          </a:p>
          <a:p xmlns:a="http://schemas.openxmlformats.org/drawingml/2006/main">
            <a:r>
              <a:t/>
            </a:r>
          </a:p>
          <a:p xmlns:a="http://schemas.openxmlformats.org/drawingml/2006/main">
            <a:r>
              <a:t>Our project asks when a vision classifier should answer and when it should abstain. We will explain the research deliverable, the experiment design, our completed clean-data results and the evidence still needed before broader reliability claims.</a:t>
            </a:r>
          </a:p>
          <a:p xmlns:a="http://schemas.openxmlformats.org/drawingml/2006/main">
            <a:r>
              <a:t/>
            </a:r>
          </a:p>
          <a:p xmlns:a="http://schemas.openxmlformats.org/drawingml/2006/main">
            <a:r>
              <a:t>Sources: docs/assets/clean-analysis-2026-10-29/evidence.json (SHA256 b90dc4b3c7c64bd6dd8fe37307f7d9f1f9df264eb480d5e86703fc76efe74a44); docs/research-writeup.md; docs/experiment-design.md. Presentation 2 guidance supplied by the team, pages 1–5. Speaking assignments and timings are suggestions based on the chat, not confirmed team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Karim. Rehearsal target: 1:50.</a:t>
            </a:r>
          </a:p>
          <a:p xmlns:a="http://schemas.openxmlformats.org/drawingml/2006/main">
            <a:r>
              <a:t/>
            </a:r>
          </a:p>
          <a:p xmlns:a="http://schemas.openxmlformats.org/drawingml/2006/main">
            <a:r>
              <a:t>The target audience is a vision practitioner choosing an acceptance and review policy. Classification accuracy averages across all examples. It does not tell us whether a particular confidence rule can identify a useful subset of reliable predictions. Accepting every example preserves the original error rate. Rejecting every example avoids accepted errors but also provides no classification utility. We therefore report accepted accuracy and coverage together. In our completed CIFAR-100 ConvNeXt test, the standard-track temperature rule accepts 8,509 of 10,000 images, or 85.09%, at 95.06% accepted accuracy. The remaining 1,491 images would form a potential review pool in a hypothetical workflow. We have not measured a real inspection process, human accuracy, operational savings or deployment safety. Our benchmark is a way to compare policies before making those claims.</a:t>
            </a:r>
          </a:p>
          <a:p xmlns:a="http://schemas.openxmlformats.org/drawingml/2006/main">
            <a:r>
              <a:t/>
            </a:r>
          </a:p>
          <a:p xmlns:a="http://schemas.openxmlformats.org/drawingml/2006/main">
            <a:r>
              <a:t>Sources: docs/assets/clean-analysis-2026-10-29/evidence.json (SHA256 b90dc4b3c7c64bd6dd8fe37307f7d9f1f9df264eb480d5e86703fc76efe74a44); docs/research-writeup.md; docs/experiment-design.md. Presentation 2 guidance supplied by the team, pages 1–5. Speaking assignments and timings are suggestions based on the chat, not confirmed team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Karim. Rehearsal target: 2:45.</a:t>
            </a:r>
          </a:p>
          <a:p xmlns:a="http://schemas.openxmlformats.org/drawingml/2006/main">
            <a:r>
              <a:t/>
            </a:r>
          </a:p>
          <a:p xmlns:a="http://schemas.openxmlformats.org/drawingml/2006/main">
            <a:r>
              <a:t>Our deliverable is a research paper supported by reproducible experiments. It serves practitioners by answering two questions: what coverage is attainable at a chosen empirical reliability target, and whether SDM adds value beyond cheap raw-softmax and temperature-scaled baselines. We preserve the same checkpoint, label space and evaluation images within a comparison, record calibration support, and retain negative results. The supporting notebooks export configurations, identities, per-image decisions and aggregate metrics. The paper connects those outputs to accepted accuracy, coverage, probability calibration, error ranking, confusions and limitations. The project does not claim a production inspection product or a general safety guarantee. We considered several distinct confidence measurements because calibration quality, ranking quality and admission feasibility can disagree. A useful final contribution can be a carefully evidenced limitation of SDM transfer, not only a positive result. The full corrupted/OOD comparison remains unfinished, so today’s conclusion is deliberately restricted to completed clean tasks. The repository does not establish that the planned expert meeting occurred. Do not claim an interview, quote, or user validation unless the team confirms it. Questions for expert feedback include why a qualifying region can fail despite useful error ranking, and how to compare global empirical thresholds with SDM’s class-conditional construction.</a:t>
            </a:r>
          </a:p>
          <a:p xmlns:a="http://schemas.openxmlformats.org/drawingml/2006/main">
            <a:r>
              <a:t/>
            </a:r>
          </a:p>
          <a:p xmlns:a="http://schemas.openxmlformats.org/drawingml/2006/main">
            <a:r>
              <a:t>Sources: docs/assets/clean-analysis-2026-10-29/evidence.json (SHA256 b90dc4b3c7c64bd6dd8fe37307f7d9f1f9df264eb480d5e86703fc76efe74a44); docs/research-writeup.md; docs/experiment-design.md. Presentation 2 guidance supplied by the team, pages 1–5. Speaking assignments and timings are suggestions based on the chat, not confirmed team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Yiwen. Rehearsal target: 1:15.</a:t>
            </a:r>
          </a:p>
          <a:p xmlns:a="http://schemas.openxmlformats.org/drawingml/2006/main">
            <a:r>
              <a:t/>
            </a:r>
          </a:p>
          <a:p xmlns:a="http://schemas.openxmlformats.org/drawingml/2006/main">
            <a:r>
              <a:t>SDM uses representation-based signals rather than softmax confidence alone. Similarity reflects correctly predicted depth matches to training examples; distance reflects proximity to the training distribution; magnitude uses decision-boundary information. Calibration combines these signals into a selective admission region. Our implementation tracks must remain distinct: ResNet uses a learned adaptor through reexpress-sdm, whereas the completed ConvNeXt comparisons use the identity-adaptor formulation. Those variants are not a controlled architecture ablation. A region may be empty. That means zero coverage and undefined accepted accuracy, not a successful 95% guarantee. Source for the method terminology: docs/allen-schmaltz-sdm.md and the pinned upstream implementation.</a:t>
            </a:r>
          </a:p>
          <a:p xmlns:a="http://schemas.openxmlformats.org/drawingml/2006/main">
            <a:r>
              <a:t/>
            </a:r>
          </a:p>
          <a:p xmlns:a="http://schemas.openxmlformats.org/drawingml/2006/main">
            <a:r>
              <a:t>Sources: docs/assets/clean-analysis-2026-10-29/evidence.json (SHA256 b90dc4b3c7c64bd6dd8fe37307f7d9f1f9df264eb480d5e86703fc76efe74a44); docs/research-writeup.md; docs/experiment-design.md. Presentation 2 guidance supplied by the team, pages 1–5. Speaking assignments and timings are suggestions based on the chat, not confirmed team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Yiwen. Rehearsal target: 1:00.</a:t>
            </a:r>
          </a:p>
          <a:p xmlns:a="http://schemas.openxmlformats.org/drawingml/2006/main">
            <a:r>
              <a:t/>
            </a:r>
          </a:p>
          <a:p xmlns:a="http://schemas.openxmlformats.org/drawingml/2006/main">
            <a:r>
              <a:t>The diagram shows the EMNIST population. Training has 106,925 examples, validation 1,175, enlarged calibration 4,700 and official test 18,800. Standard calibration contains 1,175 examples nested inside the enlarged set. Validation selects the ConvNeXt checkpoint. Calibration fits the temperatures and admission rules. Each comparison keeps the checkpoint, classes and evaluation population fixed. The ConvNeXt models use ImageNet-pretrained ConvNeXt-Tiny, seed 42, 20 epochs and validation-best checkpoint selection. Compute uses local Apple MPS and saved artifacts; the pipeline supports CPU and CUDA. Cloud CUDA is an alternative for later runs, not an existing deployed service. Local execution makes current cached artifacts available but limits throughput. No new compute run is launched here. The from-scratch ResNet uses its own recipe and reports validation, so we do not pool its results with ConvNeXt official-test results. Current analysis follows historical test exploration and is not a blind preregistration.</a:t>
            </a:r>
          </a:p>
          <a:p xmlns:a="http://schemas.openxmlformats.org/drawingml/2006/main">
            <a:r>
              <a:t/>
            </a:r>
          </a:p>
          <a:p xmlns:a="http://schemas.openxmlformats.org/drawingml/2006/main">
            <a:r>
              <a:t>Sources: docs/assets/clean-analysis-2026-10-29/evidence.json (SHA256 b90dc4b3c7c64bd6dd8fe37307f7d9f1f9df264eb480d5e86703fc76efe74a44); docs/research-writeup.md; docs/experiment-design.md. Presentation 2 guidance supplied by the team, pages 1–5. Speaking assignments and timings are suggestions based on the chat, not confirmed team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Karim. Rehearsal target: 0:50.</a:t>
            </a:r>
          </a:p>
          <a:p xmlns:a="http://schemas.openxmlformats.org/drawingml/2006/main">
            <a:r>
              <a:t/>
            </a:r>
          </a:p>
          <a:p xmlns:a="http://schemas.openxmlformats.org/drawingml/2006/main">
            <a:r>
              <a:t>Positive scalar temperature scaling changes probabilities without changing the predicted class. It improves ECE on all five completed ConvNeXt tasks shown here, using 25 calibration images per class. ECE is shown as a percentage with 15 bins. CIFAR-100 changes from 5.96% to 3.36%; EMNIST from 6.29% to 2.94%. Lower clean ECE is useful, but it does not imply that every other probability metric improves or that behavior remains reliable under distribution shift. We retain raw softmax because it is the simplest baseline and use calibration-only temperature fitting rather than fitting against test labels.</a:t>
            </a:r>
          </a:p>
          <a:p xmlns:a="http://schemas.openxmlformats.org/drawingml/2006/main">
            <a:r>
              <a:t/>
            </a:r>
          </a:p>
          <a:p xmlns:a="http://schemas.openxmlformats.org/drawingml/2006/main">
            <a:r>
              <a:t>Sources: docs/assets/clean-analysis-2026-10-29/evidence.json (SHA256 b90dc4b3c7c64bd6dd8fe37307f7d9f1f9df264eb480d5e86703fc76efe74a44); docs/research-writeup.md; docs/experiment-design.md. Presentation 2 guidance supplied by the team, pages 1–5. Speaking assignments and timings are suggestions based on the chat, not confirmed team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Randell. Rehearsal target: 1:10.</a:t>
            </a:r>
          </a:p>
          <a:p xmlns:a="http://schemas.openxmlformats.org/drawingml/2006/main">
            <a:r>
              <a:t/>
            </a:r>
          </a:p>
          <a:p xmlns:a="http://schemas.openxmlformats.org/drawingml/2006/main">
            <a:r>
              <a:t>These are five distinct official-test tasks and checkpoints, not one pooled model comparison. CIFAR-100 has 88.45% classification accuracy; Fashion-MNIST 95.02%; EMNIST 90.38%. Neither calibration budget produces a qualifying SDM region on those three tasks. MNIST admits 60.69% and 49.81% of its test set with no observed admitted errors. KMNIST admits 33.14% and 39.92%, with zero and two admitted errors respectively. More calibration support does not monotonically increase coverage. Full-coverage classification accuracy alone also does not determine whether a region forms: Fashion-MNIST exceeds 95% accuracy but has no region. These observations are descriptive; they do not isolate class count, resolution, or another mechanism. We should distinguish these verified ConvNeXt results from older teammate ResNet/Imagenette experiments whose numerical reconciliation remains pending.</a:t>
            </a:r>
          </a:p>
          <a:p xmlns:a="http://schemas.openxmlformats.org/drawingml/2006/main">
            <a:r>
              <a:t/>
            </a:r>
          </a:p>
          <a:p xmlns:a="http://schemas.openxmlformats.org/drawingml/2006/main">
            <a:r>
              <a:t>Sources: docs/assets/clean-analysis-2026-10-29/evidence.json (SHA256 b90dc4b3c7c64bd6dd8fe37307f7d9f1f9df264eb480d5e86703fc76efe74a44); docs/research-writeup.md; docs/experiment-design.md. Presentation 2 guidance supplied by the team, pages 1–5. Speaking assignments and timings are suggestions based on the chat, not confirmed team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Randell. Rehearsal target: 0:50.</a:t>
            </a:r>
          </a:p>
          <a:p xmlns:a="http://schemas.openxmlformats.org/drawingml/2006/main">
            <a:r>
              <a:t/>
            </a:r>
          </a:p>
          <a:p xmlns:a="http://schemas.openxmlformats.org/drawingml/2006/main">
            <a:r>
              <a:t>EMNIST separates the three measurement questions. Its enlarged SDM track has AURC 0.01912, lower than raw softmax’s 0.03964, so its retrospective error ranking is better under that metric. Yet its native exported ECE is 51.30%, compared with 6.29% for raw softmax, and neither SDM track yields a qualifying admission region. A ranking improvement cannot stand in for a usable frozen policy. The SDM probability-matrix metrics are reconciled native exports; ranking and admissions were recomputed from saved per-image scores. One seed and one nested calibration comparison do not establish a general architecture or class-count effect.</a:t>
            </a:r>
          </a:p>
          <a:p xmlns:a="http://schemas.openxmlformats.org/drawingml/2006/main">
            <a:r>
              <a:t/>
            </a:r>
          </a:p>
          <a:p xmlns:a="http://schemas.openxmlformats.org/drawingml/2006/main">
            <a:r>
              <a:t>Sources: docs/assets/clean-analysis-2026-10-29/evidence.json (SHA256 b90dc4b3c7c64bd6dd8fe37307f7d9f1f9df264eb480d5e86703fc76efe74a44); docs/research-writeup.md; docs/experiment-design.md. Presentation 2 guidance supplied by the team, pages 1–5. Speaking assignments and timings are suggestions based on the chat, not confirmed team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Karim. Rehearsal target: 0:45.</a:t>
            </a:r>
          </a:p>
          <a:p xmlns:a="http://schemas.openxmlformats.org/drawingml/2006/main">
            <a:r>
              <a:t/>
            </a:r>
          </a:p>
          <a:p xmlns:a="http://schemas.openxmlformats.org/drawingml/2006/main">
            <a:r>
              <a:t>Here the thresholds come from calibration only, with at least 100 admitted calibration examples and whole tied-confidence groups. The displayed values apply to saved official-test predictions. EMNIST’s 25/class temperature rule admits 84.63% at 96.17% accepted accuracy, while its 100/class rule admits 89.81% at 94.56%. The latter misses the 95% target. This is evidence of the behavior of these empirical policies, not evidence that more calibration data causes lower reliability. Exact counts and Wilson intervals are in the paper. A global empirical accuracy threshold also differs from SDM’s class-conditional region construction.</a:t>
            </a:r>
          </a:p>
          <a:p xmlns:a="http://schemas.openxmlformats.org/drawingml/2006/main">
            <a:r>
              <a:t/>
            </a:r>
          </a:p>
          <a:p xmlns:a="http://schemas.openxmlformats.org/drawingml/2006/main">
            <a:r>
              <a:t>Sources: docs/assets/clean-analysis-2026-10-29/evidence.json (SHA256 b90dc4b3c7c64bd6dd8fe37307f7d9f1f9df264eb480d5e86703fc76efe74a44); docs/research-writeup.md; docs/experiment-design.md. Presentation 2 guidance supplied by the team, pages 1–5. Speaking assignments and timings are suggestions based on the chat, not confirmed team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Karim. Rehearsal target: 0:40.</a:t>
            </a:r>
          </a:p>
          <a:p xmlns:a="http://schemas.openxmlformats.org/drawingml/2006/main">
            <a:r>
              <a:t/>
            </a:r>
          </a:p>
          <a:p xmlns:a="http://schemas.openxmlformats.org/drawingml/2006/main">
            <a:r>
              <a:t>These are the three highest standard-track temperature-confidence errors in CIFAR-100, selected deterministically with test ID as the tie-breaker. They illustrate remaining confident mistakes even after aggregate calibration improves. The otter is predicted as seal at approximately 0.992 confidence, the baby as girl at 0.986, and the kangaroo as rabbit at 0.983. We checked the IDs and labels against the cached dataset. These selected cases are not an estimate of overall error frequency or proof of label noise.</a:t>
            </a:r>
          </a:p>
          <a:p xmlns:a="http://schemas.openxmlformats.org/drawingml/2006/main">
            <a:r>
              <a:t/>
            </a:r>
          </a:p>
          <a:p xmlns:a="http://schemas.openxmlformats.org/drawingml/2006/main">
            <a:r>
              <a:t>Sources: docs/assets/clean-analysis-2026-10-29/evidence.json (SHA256 b90dc4b3c7c64bd6dd8fe37307f7d9f1f9df264eb480d5e86703fc76efe74a44); docs/research-writeup.md; docs/experiment-design.md. Presentation 2 guidance supplied by the team, pages 1–5. Speaking assignments and timings are suggestions based on the chat, not confirmed team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Karim. Rehearsal target: 0:45.</a:t>
            </a:r>
          </a:p>
          <a:p xmlns:a="http://schemas.openxmlformats.org/drawingml/2006/main">
            <a:r>
              <a:t/>
            </a:r>
          </a:p>
          <a:p xmlns:a="http://schemas.openxmlformats.org/drawingml/2006/main">
            <a:r>
              <a:t>The audit keeps the comparison interpretable: equal confidence scores enter together; calibration-only matching does not use validation coverage; saved SDM fits must match the calibration population. Historical source repairs do not by themselves validate old numerical results. The main scientific limitations remain one seed, different backbone recipes and reporting populations, historical test exploration, and unfinished matched corruption/OOD evaluation. We can describe the clean findings today without claiming that they establish deployment safety or robustness.</a:t>
            </a:r>
          </a:p>
          <a:p xmlns:a="http://schemas.openxmlformats.org/drawingml/2006/main">
            <a:r>
              <a:t/>
            </a:r>
          </a:p>
          <a:p xmlns:a="http://schemas.openxmlformats.org/drawingml/2006/main">
            <a:r>
              <a:t>Sources: docs/assets/clean-analysis-2026-10-29/evidence.json (SHA256 b90dc4b3c7c64bd6dd8fe37307f7d9f1f9df264eb480d5e86703fc76efe74a44); docs/research-writeup.md; docs/experiment-design.md. Presentation 2 guidance supplied by the team, pages 1–5. Speaking assignments and timings are suggestions based on the chat, not confirmed team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Karim. Rehearsal target: 0:30.</a:t>
            </a:r>
          </a:p>
          <a:p xmlns:a="http://schemas.openxmlformats.org/drawingml/2006/main">
            <a:r>
              <a:t/>
            </a:r>
          </a:p>
          <a:p xmlns:a="http://schemas.openxmlformats.org/drawingml/2006/main">
            <a:r>
              <a:t>This is a proposed workstream plan based on our current contributions and speaking topics, not a claim that new assignments were already agreed. Yiwen leads the SDM/protocol explanation; Randell the dataset coverage comparisons; Karim the baselines, evidence reporting and paper integration. The immediate deliverables are reconciled run artifacts and frozen evaluation choices. The remaining experiment priority is matched CIFAR-100-C and SVHN-OOD evaluation, followed by unfinished in-distribution checks. Full runs remain paused and this slide does not restart them. Confirm ownership and execution timing as a team.</a:t>
            </a:r>
          </a:p>
          <a:p xmlns:a="http://schemas.openxmlformats.org/drawingml/2006/main">
            <a:r>
              <a:t/>
            </a:r>
          </a:p>
          <a:p xmlns:a="http://schemas.openxmlformats.org/drawingml/2006/main">
            <a:r>
              <a:t>Sources: docs/assets/clean-analysis-2026-10-29/evidence.json (SHA256 b90dc4b3c7c64bd6dd8fe37307f7d9f1f9df264eb480d5e86703fc76efe74a44); docs/research-writeup.md; docs/experiment-design.md. Presentation 2 guidance supplied by the team, pages 1–5. Speaking assignments and timings are suggestions based on the chat, not confirmed team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Karim. Rehearsal target: 0:30.</a:t>
            </a:r>
          </a:p>
          <a:p xmlns:a="http://schemas.openxmlformats.org/drawingml/2006/main">
            <a:r>
              <a:t/>
            </a:r>
          </a:p>
          <a:p xmlns:a="http://schemas.openxmlformats.org/drawingml/2006/main">
            <a:r>
              <a:t>Our mission is to give vision practitioners reproducible evidence for when a classifier should answer, abstain or defer to review. Useful coverage and reliable accepted predictions must occur together. Our completed clean experiments show mixed SDM transfer behavior, including empty regions, and a clear role for calibrated baselines. The final paper will report those findings and the remaining evaluation honestly. Invite questions without adding a thank-you slide.</a:t>
            </a:r>
          </a:p>
          <a:p xmlns:a="http://schemas.openxmlformats.org/drawingml/2006/main">
            <a:r>
              <a:t/>
            </a:r>
          </a:p>
          <a:p xmlns:a="http://schemas.openxmlformats.org/drawingml/2006/main">
            <a:r>
              <a:t>Sources: docs/assets/clean-analysis-2026-10-29/evidence.json (SHA256 b90dc4b3c7c64bd6dd8fe37307f7d9f1f9df264eb480d5e86703fc76efe74a44); docs/research-writeup.md; docs/experiment-design.md. Presentation 2 guidance supplied by the team, pages 1–5. Speaking assignments and timings are suggestions based on the chat, not confirmed team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a3c7bf87a6480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913661b8e65435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b41f466f3a74d0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16bde67570b41e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14097b211f0475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2af70966c6a41c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FFDE75-2514-48D1-9284-04BA3468020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181D848-4892-47F4-B156-533BA2A49D3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1C7B7D5-25C0-4C95-80B3-D56992DDDC3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FF43E4C-5AFC-4F1E-977D-6C9D60C6BF2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BB7B95C-65F7-4DCE-AB47-F75A35FE52C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C6176DB-F181-4E19-8670-2A2C0952E2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7894D8C-EC90-4E79-97D6-FF49691E068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4A58C6B-AACA-4695-9BBB-17BCE41CBD3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879E54-E628-4F17-9632-FEBCF29540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A4A7678-CE03-4310-AAF9-12EFC32E59B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01525b23c44b70" /><Relationship Type="http://schemas.openxmlformats.org/officeDocument/2006/relationships/slideLayout" Target="/ppt/slideLayouts/slideLayout1.xml" Id="Rea94be7b83fe4b1f" /><Relationship Type="http://schemas.openxmlformats.org/officeDocument/2006/relationships/slideLayout" Target="/ppt/slideLayouts/slideLayout2.xml" Id="R6031d26f87784c07" /><Relationship Type="http://schemas.openxmlformats.org/officeDocument/2006/relationships/slideLayout" Target="/ppt/slideLayouts/slideLayout3.xml" Id="Rfeaa2511940747a4" /><Relationship Type="http://schemas.openxmlformats.org/officeDocument/2006/relationships/slideLayout" Target="/ppt/slideLayouts/slideLayout4.xml" Id="R1a160f63fe62478f" /><Relationship Type="http://schemas.openxmlformats.org/officeDocument/2006/relationships/slideLayout" Target="/ppt/slideLayouts/slideLayout5.xml" Id="Rd2aec82c516240bf" /><Relationship Type="http://schemas.openxmlformats.org/officeDocument/2006/relationships/slideLayout" Target="/ppt/slideLayouts/slideLayout6.xml" Id="Re80fd6acc5bc4e4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94be7b83fe4b1f"/>
    <p:sldLayoutId xmlns:r="http://schemas.openxmlformats.org/officeDocument/2006/relationships" id="2147483650" r:id="R6031d26f87784c07"/>
    <p:sldLayoutId xmlns:r="http://schemas.openxmlformats.org/officeDocument/2006/relationships" id="2147483651" r:id="Rfeaa2511940747a4"/>
    <p:sldLayoutId xmlns:r="http://schemas.openxmlformats.org/officeDocument/2006/relationships" id="2147483652" r:id="R1a160f63fe62478f"/>
    <p:sldLayoutId xmlns:r="http://schemas.openxmlformats.org/officeDocument/2006/relationships" id="2147483653" r:id="Rd2aec82c516240bf"/>
    <p:sldLayoutId xmlns:r="http://schemas.openxmlformats.org/officeDocument/2006/relationships" id="2147483654" r:id="Re80fd6acc5bc4e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7fca81edf6b4323" /><Relationship Type="http://schemas.openxmlformats.org/officeDocument/2006/relationships/notesSlide" Target="/ppt/notesSlides/notesSlide1.xml" Id="R090c23c9fb6040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38a5125534e4742" /><Relationship Type="http://schemas.openxmlformats.org/officeDocument/2006/relationships/notesSlide" Target="/ppt/notesSlides/notesSlide2.xml" Id="Rddb72689f97f41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9bf82e02ba24f53" /><Relationship Type="http://schemas.openxmlformats.org/officeDocument/2006/relationships/notesSlide" Target="/ppt/notesSlides/notesSlide3.xml" Id="R1972742b8da442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1413cded1a24f37" /><Relationship Type="http://schemas.openxmlformats.org/officeDocument/2006/relationships/notesSlide" Target="/ppt/notesSlides/notesSlide4.xml" Id="Rf020cc0189df44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49b11b66977425e" /><Relationship Type="http://schemas.openxmlformats.org/officeDocument/2006/relationships/notesSlide" Target="/ppt/notesSlides/notesSlide5.xml" Id="R11d7f80bc81343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966fec5963749d3" /><Relationship Type="http://schemas.openxmlformats.org/officeDocument/2006/relationships/chart" Target="/ppt/slides/charts/chart1.xml" Id="R87e732572765481a" /><Relationship Type="http://schemas.openxmlformats.org/officeDocument/2006/relationships/notesSlide" Target="/ppt/notesSlides/notesSlide6.xml" Id="R37048ecbb9ad41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f9eedc0f4e64853" /><Relationship Type="http://schemas.openxmlformats.org/officeDocument/2006/relationships/notesSlide" Target="/ppt/notesSlides/notesSlide7.xml" Id="Re21672bc03214d0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751da52684c43b9" /><Relationship Type="http://schemas.openxmlformats.org/officeDocument/2006/relationships/image" Target="/ppt/media/image.png" Id="R7f4b2b2412db438a" /><Relationship Type="http://schemas.openxmlformats.org/officeDocument/2006/relationships/notesSlide" Target="/ppt/notesSlides/notesSlide8.xml" Id="R228e8df832af44c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1a1aee734eb4149" /><Relationship Type="http://schemas.openxmlformats.org/officeDocument/2006/relationships/notesSlide" Target="/ppt/notesSlides/notesSlide9.xml" Id="Raa105eafb7eb49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1e621ca70df44d2" /><Relationship Type="http://schemas.openxmlformats.org/officeDocument/2006/relationships/image" Target="/ppt/media/image2.png" Id="R9b62c9c8e26245df" /><Relationship Type="http://schemas.openxmlformats.org/officeDocument/2006/relationships/notesSlide" Target="/ppt/notesSlides/notesSlide10.xml" Id="Rc777a027d6d9400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94b12909f7542a9" /><Relationship Type="http://schemas.openxmlformats.org/officeDocument/2006/relationships/notesSlide" Target="/ppt/notesSlides/notesSlide11.xml" Id="R9c38ee7835d7430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0ebf86ef1a94fd2" /><Relationship Type="http://schemas.openxmlformats.org/officeDocument/2006/relationships/notesSlide" Target="/ppt/notesSlides/notesSlide12.xml" Id="R239a454118a542d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b5d43ff66184bf2" /><Relationship Type="http://schemas.openxmlformats.org/officeDocument/2006/relationships/notesSlide" Target="/ppt/notesSlides/notesSlide13.xml" Id="R5b8772bff2434d2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Raw softmax</c:v>
          </c:tx>
          <c:spPr>
            <a:solidFill xmlns:a="http://schemas.openxmlformats.org/drawingml/2006/main">
              <a:srgbClr val="002676"/>
            </a:solidFill>
          </c:spPr>
          <c:invertIfNegative val="0"/>
          <c:cat>
            <c:strRef>
              <c:f>'Chart Data'!$A$2:$A$6</c:f>
              <c:strCache>
                <c:ptCount val="5"/>
                <c:pt idx="0">
                  <c:v>CIFAR-100</c:v>
                </c:pt>
                <c:pt idx="1">
                  <c:v>MNIST</c:v>
                </c:pt>
                <c:pt idx="2">
                  <c:v>Fashion-MNIST</c:v>
                </c:pt>
                <c:pt idx="3">
                  <c:v>KMNIST</c:v>
                </c:pt>
                <c:pt idx="4">
                  <c:v>EMNIST</c:v>
                </c:pt>
              </c:strCache>
            </c:strRef>
          </c:cat>
          <c:val>
            <c:numRef>
              <c:f>'Chart Data'!$B$2:$B$6</c:f>
              <c:numCache>
                <c:formatCode>0.0</c:formatCode>
                <c:ptCount val="5"/>
                <c:pt idx="0">
                  <c:v>5.96</c:v>
                </c:pt>
                <c:pt idx="1">
                  <c:v>8.72</c:v>
                </c:pt>
                <c:pt idx="2">
                  <c:v>6.85</c:v>
                </c:pt>
                <c:pt idx="3">
                  <c:v>8.17</c:v>
                </c:pt>
                <c:pt idx="4">
                  <c:v>6.29</c:v>
                </c:pt>
              </c:numCache>
            </c:numRef>
          </c:val>
        </c:ser>
        <c:ser>
          <c:idx val="1"/>
          <c:order val="1"/>
          <c:tx>
            <c:v>Temperature, 25/class</c:v>
          </c:tx>
          <c:spPr>
            <a:solidFill xmlns:a="http://schemas.openxmlformats.org/drawingml/2006/main">
              <a:srgbClr val="FDB515"/>
            </a:solidFill>
          </c:spPr>
          <c:invertIfNegative val="0"/>
          <c:cat>
            <c:strRef>
              <c:f>'Chart Data'!$C$2:$C$6</c:f>
              <c:strCache>
                <c:ptCount val="5"/>
                <c:pt idx="0">
                  <c:v>CIFAR-100</c:v>
                </c:pt>
                <c:pt idx="1">
                  <c:v>MNIST</c:v>
                </c:pt>
                <c:pt idx="2">
                  <c:v>Fashion-MNIST</c:v>
                </c:pt>
                <c:pt idx="3">
                  <c:v>KMNIST</c:v>
                </c:pt>
                <c:pt idx="4">
                  <c:v>EMNIST</c:v>
                </c:pt>
              </c:strCache>
            </c:strRef>
          </c:cat>
          <c:val>
            <c:numRef>
              <c:f>'Chart Data'!$D$2:$D$6</c:f>
              <c:numCache>
                <c:formatCode>0.0</c:formatCode>
                <c:ptCount val="5"/>
                <c:pt idx="0">
                  <c:v>3.36</c:v>
                </c:pt>
                <c:pt idx="1">
                  <c:v>0.18</c:v>
                </c:pt>
                <c:pt idx="2">
                  <c:v>1.74</c:v>
                </c:pt>
                <c:pt idx="3">
                  <c:v>0.52</c:v>
                </c:pt>
                <c:pt idx="4">
                  <c:v>2.94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EEEEE"/>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A1E0F26-C14B-48CC-8AF1-A8E41DA4BE5F}"/>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0E18958-9011-4523-9D74-93F847C1A738}"/>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SDM Vision Reliability</a:t>
            </a:r>
          </a:p>
        </p:txBody>
      </p:sp>
      <p:sp>
        <p:nvSpPr>
          <p:cNvPr id="3" name="">
            <a:extLst xmlns:a="http://schemas.openxmlformats.org/drawingml/2006/main">
              <a:ext uri="{FF2B5EF4-FFF2-40B4-BE49-F238E27FC236}">
                <a16:creationId xmlns:a16="http://schemas.microsoft.com/office/drawing/2014/main" id="{2647F892-3351-4C40-ABC9-D15DD6637900}"/>
              </a:ext>
            </a:extLst>
          </p:cNvPr>
          <p:cNvSpPr>
            <a:spLocks xmlns:a="http://schemas.openxmlformats.org/drawingml/2006/main" noGrp="1"/>
          </p:cNvSpPr>
          <p:nvPr/>
        </p:nvSpPr>
        <p:spPr>
          <a:xfrm xmlns:a="http://schemas.openxmlformats.org/drawingml/2006/main">
            <a:off x="666750" y="2190750"/>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a:defPPr>
            <a:lvl1pPr algn="l">
              <a:defRPr sz="3300"/>
            </a:lvl1pPr>
            <a:lvl2pPr algn="l">
              <a:defRPr sz="3300"/>
            </a:lvl2pPr>
            <a:lvl3pPr algn="l">
              <a:defRPr sz="3300"/>
            </a:lvl3pPr>
            <a:lvl4pPr algn="l">
              <a:defRPr sz="3300"/>
            </a:lvl4pPr>
            <a:lvl5pPr algn="l">
              <a:defRPr sz="3300"/>
            </a:lvl5pPr>
            <a:lvl6pPr algn="l">
              <a:defRPr sz="3300"/>
            </a:lvl6pPr>
            <a:lvl7pPr algn="l">
              <a:defRPr sz="3300"/>
            </a:lvl7pPr>
            <a:lvl8pPr algn="l">
              <a:defRPr sz="3300"/>
            </a:lvl8pPr>
            <a:lvl9pPr algn="l">
              <a:defRPr sz="3300"/>
            </a:lvl9pPr>
          </a:lstStyle>
          <a:p xmlns:a="http://schemas.openxmlformats.org/drawingml/2006/main">
            <a:pPr algn="l">
              <a:defRPr sz="3300"/>
            </a:pPr>
            <a:r>
              <a:rPr sz="3300" b="0">
                <a:solidFill>
                  <a:srgbClr val="002676"/>
                </a:solidFill>
                <a:latin typeface="Arial"/>
                <a:ea typeface="Arial"/>
                <a:cs typeface="Arial"/>
              </a:rPr>
              <a:t>Presentation 2: preliminary research findings</a:t>
            </a:r>
          </a:p>
        </p:txBody>
      </p:sp>
      <p:sp>
        <p:nvSpPr>
          <p:cNvPr id="4" name="">
            <a:extLst xmlns:a="http://schemas.openxmlformats.org/drawingml/2006/main">
              <a:ext uri="{FF2B5EF4-FFF2-40B4-BE49-F238E27FC236}">
                <a16:creationId xmlns:a16="http://schemas.microsoft.com/office/drawing/2014/main" id="{C8C98922-D3D7-42DD-92BB-D18E2D9771F2}"/>
              </a:ext>
            </a:extLst>
          </p:cNvPr>
          <p:cNvSpPr>
            <a:spLocks xmlns:a="http://schemas.openxmlformats.org/drawingml/2006/main" noGrp="1"/>
          </p:cNvSpPr>
          <p:nvPr/>
        </p:nvSpPr>
        <p:spPr>
          <a:xfrm xmlns:a="http://schemas.openxmlformats.org/drawingml/2006/main">
            <a:off x="666750" y="347662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a:defPPr>
            <a:lvl1pPr algn="l">
              <a:defRPr sz="2100"/>
            </a:lvl1pPr>
            <a:lvl2pPr algn="l">
              <a:defRPr sz="2100"/>
            </a:lvl2pPr>
            <a:lvl3pPr algn="l">
              <a:defRPr sz="2100"/>
            </a:lvl3pPr>
            <a:lvl4pPr algn="l">
              <a:defRPr sz="2100"/>
            </a:lvl4pPr>
            <a:lvl5pPr algn="l">
              <a:defRPr sz="2100"/>
            </a:lvl5pPr>
            <a:lvl6pPr algn="l">
              <a:defRPr sz="2100"/>
            </a:lvl6pPr>
            <a:lvl7pPr algn="l">
              <a:defRPr sz="2100"/>
            </a:lvl7pPr>
            <a:lvl8pPr algn="l">
              <a:defRPr sz="2100"/>
            </a:lvl8pPr>
            <a:lvl9pPr algn="l">
              <a:defRPr sz="2100"/>
            </a:lvl9pPr>
          </a:lstStyle>
          <a:p xmlns:a="http://schemas.openxmlformats.org/drawingml/2006/main">
            <a:pPr algn="l">
              <a:defRPr sz="2100"/>
            </a:pPr>
            <a:r>
              <a:rPr sz="2100" b="0">
                <a:solidFill>
                  <a:srgbClr val="595959"/>
                </a:solidFill>
                <a:latin typeface="Arial"/>
                <a:ea typeface="Arial"/>
                <a:cs typeface="Arial"/>
              </a:rPr>
              <a:t>Randell Smith · Yiwen Hou · Karim Mattar</a:t>
            </a:r>
            <a:br>
              <a:rPr sz="2100" b="0">
                <a:solidFill>
                  <a:srgbClr val="595959"/>
                </a:solidFill>
                <a:latin typeface="Arial"/>
                <a:ea typeface="Arial"/>
                <a:cs typeface="Arial"/>
              </a:rPr>
            </a:br>
            <a:r>
              <a:rPr sz="2100" b="0">
                <a:solidFill>
                  <a:srgbClr val="595959"/>
                </a:solidFill>
                <a:latin typeface="Arial"/>
                <a:ea typeface="Arial"/>
                <a:cs typeface="Arial"/>
              </a:rPr>
              <a:t>UC Berkeley MIDS Capstone · October 29, 2026</a:t>
            </a:r>
          </a:p>
        </p:txBody>
      </p:sp>
      <p:sp>
        <p:nvSpPr>
          <p:cNvPr id="5" name="">
            <a:extLst xmlns:a="http://schemas.openxmlformats.org/drawingml/2006/main">
              <a:ext uri="{FF2B5EF4-FFF2-40B4-BE49-F238E27FC236}">
                <a16:creationId xmlns:a16="http://schemas.microsoft.com/office/drawing/2014/main" id="{82AD7975-CAFD-4BE3-9767-68333EF1C4E4}"/>
              </a:ext>
            </a:extLst>
          </p:cNvPr>
          <p:cNvSpPr>
            <a:spLocks xmlns:a="http://schemas.openxmlformats.org/drawingml/2006/main" noGrp="1"/>
          </p:cNvSpPr>
          <p:nvPr/>
        </p:nvSpPr>
        <p:spPr>
          <a:xfrm xmlns:a="http://schemas.openxmlformats.org/drawingml/2006/main">
            <a:off x="666750" y="52863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a:defPPr>
            <a:lvl1pPr algn="l">
              <a:defRPr sz="1950"/>
            </a:lvl1pPr>
            <a:lvl2pPr algn="l">
              <a:defRPr sz="1950"/>
            </a:lvl2pPr>
            <a:lvl3pPr algn="l">
              <a:defRPr sz="1950"/>
            </a:lvl3pPr>
            <a:lvl4pPr algn="l">
              <a:defRPr sz="1950"/>
            </a:lvl4pPr>
            <a:lvl5pPr algn="l">
              <a:defRPr sz="1950"/>
            </a:lvl5pPr>
            <a:lvl6pPr algn="l">
              <a:defRPr sz="1950"/>
            </a:lvl6pPr>
            <a:lvl7pPr algn="l">
              <a:defRPr sz="1950"/>
            </a:lvl7pPr>
            <a:lvl8pPr algn="l">
              <a:defRPr sz="1950"/>
            </a:lvl8pPr>
            <a:lvl9pPr algn="l">
              <a:defRPr sz="1950"/>
            </a:lvl9pPr>
          </a:lstStyle>
          <a:p xmlns:a="http://schemas.openxmlformats.org/drawingml/2006/main">
            <a:pPr algn="l">
              <a:defRPr sz="1950"/>
            </a:pPr>
            <a:r>
              <a:rPr sz="1950" b="0">
                <a:solidFill>
                  <a:srgbClr val="002676"/>
                </a:solidFill>
                <a:latin typeface="Arial"/>
                <a:ea typeface="Arial"/>
                <a:cs typeface="Arial"/>
              </a:rPr>
              <a:t>Six completed classifiers · one seed per task · shift evaluation unfinished</a:t>
            </a:r>
          </a:p>
        </p:txBody>
      </p:sp>
    </p:spTree>
    <p:extLst>
      <p:ext uri="{BB962C8B-B14F-4D97-AF65-F5344CB8AC3E}">
        <p14:creationId xmlns:p14="http://schemas.microsoft.com/office/powerpoint/2010/main" val="636195257"/>
      </p:ext>
    </p:extLst>
  </p:cSld>
</p:sld>
</file>

<file path=ppt/slides/slide2.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D5940F-5B81-40AB-8EC6-13743396D8C9}"/>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633E11-45C9-4C27-A3FE-E504FE7952E4}"/>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A review policy for confident vision errors</a:t>
            </a:r>
          </a:p>
        </p:txBody>
      </p:sp>
      <p:sp>
        <p:nvSpPr>
          <p:cNvPr id="3" name="">
            <a:extLst xmlns:a="http://schemas.openxmlformats.org/drawingml/2006/main">
              <a:ext uri="{FF2B5EF4-FFF2-40B4-BE49-F238E27FC236}">
                <a16:creationId xmlns:a16="http://schemas.microsoft.com/office/drawing/2014/main" id="{33ECEFBC-674B-46B2-B488-687F506CE8B4}"/>
              </a:ext>
            </a:extLst>
          </p:cNvPr>
          <p:cNvSpPr>
            <a:spLocks xmlns:a="http://schemas.openxmlformats.org/drawingml/2006/main" noGrp="1"/>
          </p:cNvSpPr>
          <p:nvPr/>
        </p:nvSpPr>
        <p:spPr>
          <a:xfrm xmlns:a="http://schemas.openxmlformats.org/drawingml/2006/main">
            <a:off x="666750" y="176212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1">
                <a:solidFill>
                  <a:srgbClr val="002676"/>
                </a:solidFill>
                <a:latin typeface="Arial"/>
                <a:ea typeface="Arial"/>
                <a:cs typeface="Arial"/>
              </a:rPr>
              <a:t>Target user</a:t>
            </a:r>
          </a:p>
        </p:txBody>
      </p:sp>
      <p:sp>
        <p:nvSpPr>
          <p:cNvPr id="4" name="">
            <a:extLst xmlns:a="http://schemas.openxmlformats.org/drawingml/2006/main">
              <a:ext uri="{FF2B5EF4-FFF2-40B4-BE49-F238E27FC236}">
                <a16:creationId xmlns:a16="http://schemas.microsoft.com/office/drawing/2014/main" id="{ECDED324-D7B4-419E-B4D5-E11C3EB8DA8A}"/>
              </a:ext>
            </a:extLst>
          </p:cNvPr>
          <p:cNvSpPr>
            <a:spLocks xmlns:a="http://schemas.openxmlformats.org/drawingml/2006/main" noGrp="1"/>
          </p:cNvSpPr>
          <p:nvPr/>
        </p:nvSpPr>
        <p:spPr>
          <a:xfrm xmlns:a="http://schemas.openxmlformats.org/drawingml/2006/main">
            <a:off x="666750" y="2571750"/>
            <a:ext cx="4857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400"/>
            </a:defPPr>
            <a:lvl1pPr algn="l">
              <a:defRPr sz="2400"/>
            </a:lvl1pPr>
            <a:lvl2pPr algn="l">
              <a:defRPr sz="2400"/>
            </a:lvl2pPr>
            <a:lvl3pPr algn="l">
              <a:defRPr sz="2400"/>
            </a:lvl3pPr>
            <a:lvl4pPr algn="l">
              <a:defRPr sz="2400"/>
            </a:lvl4pPr>
            <a:lvl5pPr algn="l">
              <a:defRPr sz="2400"/>
            </a:lvl5pPr>
            <a:lvl6pPr algn="l">
              <a:defRPr sz="2400"/>
            </a:lvl6pPr>
            <a:lvl7pPr algn="l">
              <a:defRPr sz="2400"/>
            </a:lvl7pPr>
            <a:lvl8pPr algn="l">
              <a:defRPr sz="2400"/>
            </a:lvl8pPr>
            <a:lvl9pPr algn="l">
              <a:defRPr sz="2400"/>
            </a:lvl9pPr>
          </a:lstStyle>
          <a:p xmlns:a="http://schemas.openxmlformats.org/drawingml/2006/main">
            <a:pPr algn="l">
              <a:defRPr sz="2400"/>
            </a:pPr>
            <a:r>
              <a:rPr sz="2400" b="0">
                <a:solidFill>
                  <a:srgbClr val="595959"/>
                </a:solidFill>
                <a:latin typeface="Arial"/>
                <a:ea typeface="Arial"/>
                <a:cs typeface="Arial"/>
              </a:rPr>
              <a:t>Vision practitioners deciding which model outputs can be accepted and which need human review.</a:t>
            </a:r>
          </a:p>
        </p:txBody>
      </p:sp>
      <p:sp>
        <p:nvSpPr>
          <p:cNvPr id="5" name="">
            <a:extLst xmlns:a="http://schemas.openxmlformats.org/drawingml/2006/main">
              <a:ext uri="{FF2B5EF4-FFF2-40B4-BE49-F238E27FC236}">
                <a16:creationId xmlns:a16="http://schemas.microsoft.com/office/drawing/2014/main" id="{ABCD6EA4-2816-473E-9DAC-C77BAE3EF363}"/>
              </a:ext>
            </a:extLst>
          </p:cNvPr>
          <p:cNvSpPr>
            <a:spLocks xmlns:a="http://schemas.openxmlformats.org/drawingml/2006/main" noGrp="1"/>
          </p:cNvSpPr>
          <p:nvPr/>
        </p:nvSpPr>
        <p:spPr>
          <a:xfrm xmlns:a="http://schemas.openxmlformats.org/drawingml/2006/main">
            <a:off x="6477000" y="176212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1">
                <a:solidFill>
                  <a:srgbClr val="002676"/>
                </a:solidFill>
                <a:latin typeface="Arial"/>
                <a:ea typeface="Arial"/>
                <a:cs typeface="Arial"/>
              </a:rPr>
              <a:t>Why coverage matters</a:t>
            </a:r>
          </a:p>
        </p:txBody>
      </p:sp>
      <p:sp>
        <p:nvSpPr>
          <p:cNvPr id="6" name="">
            <a:extLst xmlns:a="http://schemas.openxmlformats.org/drawingml/2006/main">
              <a:ext uri="{FF2B5EF4-FFF2-40B4-BE49-F238E27FC236}">
                <a16:creationId xmlns:a16="http://schemas.microsoft.com/office/drawing/2014/main" id="{F39F839F-6068-46DC-98AB-CB793587FD11}"/>
              </a:ext>
            </a:extLst>
          </p:cNvPr>
          <p:cNvSpPr>
            <a:spLocks xmlns:a="http://schemas.openxmlformats.org/drawingml/2006/main" noGrp="1"/>
          </p:cNvSpPr>
          <p:nvPr/>
        </p:nvSpPr>
        <p:spPr>
          <a:xfrm xmlns:a="http://schemas.openxmlformats.org/drawingml/2006/main">
            <a:off x="6477000" y="25717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400"/>
            </a:defPPr>
            <a:lvl1pPr algn="l">
              <a:defRPr sz="2400"/>
            </a:lvl1pPr>
            <a:lvl2pPr algn="l">
              <a:defRPr sz="2400"/>
            </a:lvl2pPr>
            <a:lvl3pPr algn="l">
              <a:defRPr sz="2400"/>
            </a:lvl3pPr>
            <a:lvl4pPr algn="l">
              <a:defRPr sz="2400"/>
            </a:lvl4pPr>
            <a:lvl5pPr algn="l">
              <a:defRPr sz="2400"/>
            </a:lvl5pPr>
            <a:lvl6pPr algn="l">
              <a:defRPr sz="2400"/>
            </a:lvl6pPr>
            <a:lvl7pPr algn="l">
              <a:defRPr sz="2400"/>
            </a:lvl7pPr>
            <a:lvl8pPr algn="l">
              <a:defRPr sz="2400"/>
            </a:lvl8pPr>
            <a:lvl9pPr algn="l">
              <a:defRPr sz="2400"/>
            </a:lvl9pPr>
          </a:lstStyle>
          <a:p xmlns:a="http://schemas.openxmlformats.org/drawingml/2006/main">
            <a:pPr algn="l">
              <a:defRPr sz="2400"/>
            </a:pPr>
            <a:r>
              <a:rPr sz="2400" b="0">
                <a:solidFill>
                  <a:srgbClr val="595959"/>
                </a:solidFill>
                <a:latin typeface="Arial"/>
                <a:ea typeface="Arial"/>
                <a:cs typeface="Arial"/>
              </a:rPr>
              <a:t>A rule that rejects everything has no practical utility. A rule that accepts everything inherits the model’s errors.</a:t>
            </a:r>
          </a:p>
        </p:txBody>
      </p:sp>
      <p:sp>
        <p:nvSpPr>
          <p:cNvPr id="7" name="">
            <a:extLst xmlns:a="http://schemas.openxmlformats.org/drawingml/2006/main">
              <a:ext uri="{FF2B5EF4-FFF2-40B4-BE49-F238E27FC236}">
                <a16:creationId xmlns:a16="http://schemas.microsoft.com/office/drawing/2014/main" id="{66207E30-A78D-41AF-8C6D-58729B22EF2E}"/>
              </a:ext>
            </a:extLst>
          </p:cNvPr>
          <p:cNvSpPr>
            <a:spLocks xmlns:a="http://schemas.openxmlformats.org/drawingml/2006/main" noGrp="1"/>
          </p:cNvSpPr>
          <p:nvPr/>
        </p:nvSpPr>
        <p:spPr>
          <a:xfrm xmlns:a="http://schemas.openxmlformats.org/drawingml/2006/main">
            <a:off x="666750" y="51911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a:defPPr>
            <a:lvl1pPr algn="l">
              <a:defRPr sz="2100"/>
            </a:lvl1pPr>
            <a:lvl2pPr algn="l">
              <a:defRPr sz="2100"/>
            </a:lvl2pPr>
            <a:lvl3pPr algn="l">
              <a:defRPr sz="2100"/>
            </a:lvl3pPr>
            <a:lvl4pPr algn="l">
              <a:defRPr sz="2100"/>
            </a:lvl4pPr>
            <a:lvl5pPr algn="l">
              <a:defRPr sz="2100"/>
            </a:lvl5pPr>
            <a:lvl6pPr algn="l">
              <a:defRPr sz="2100"/>
            </a:lvl6pPr>
            <a:lvl7pPr algn="l">
              <a:defRPr sz="2100"/>
            </a:lvl7pPr>
            <a:lvl8pPr algn="l">
              <a:defRPr sz="2100"/>
            </a:lvl8pPr>
            <a:lvl9pPr algn="l">
              <a:defRPr sz="2100"/>
            </a:lvl9pPr>
          </a:lstStyle>
          <a:p xmlns:a="http://schemas.openxmlformats.org/drawingml/2006/main">
            <a:pPr algn="l">
              <a:defRPr sz="2100"/>
            </a:pPr>
            <a:r>
              <a:rPr sz="2100" b="0">
                <a:solidFill>
                  <a:srgbClr val="002676"/>
                </a:solidFill>
                <a:latin typeface="Arial"/>
                <a:ea typeface="Arial"/>
                <a:cs typeface="Arial"/>
              </a:rPr>
              <a:t>CIFAR-100 example: 85.09% accepted, 14.91% deferred, 95.06% accuracy among accepted predictions.</a:t>
            </a:r>
          </a:p>
        </p:txBody>
      </p:sp>
    </p:spTree>
    <p:extLst>
      <p:ext uri="{BB962C8B-B14F-4D97-AF65-F5344CB8AC3E}">
        <p14:creationId xmlns:p14="http://schemas.microsoft.com/office/powerpoint/2010/main" val="10847421"/>
      </p:ext>
    </p:extLst>
  </p:cSld>
</p:sld>
</file>

<file path=ppt/slides/slide3.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9A2EE79-88BA-40A9-8197-35A047EE62E4}"/>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A166D46-AE84-4D19-8D4C-997202E7E227}"/>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A reproducible benchmark and paper</a:t>
            </a:r>
          </a:p>
        </p:txBody>
      </p:sp>
      <p:sp>
        <p:nvSpPr>
          <p:cNvPr id="3" name="">
            <a:extLst xmlns:a="http://schemas.openxmlformats.org/drawingml/2006/main">
              <a:ext uri="{FF2B5EF4-FFF2-40B4-BE49-F238E27FC236}">
                <a16:creationId xmlns:a16="http://schemas.microsoft.com/office/drawing/2014/main" id="{267A692D-30D0-4AAD-AF17-AF118188354C}"/>
              </a:ext>
            </a:extLst>
          </p:cNvPr>
          <p:cNvSpPr>
            <a:spLocks xmlns:a="http://schemas.openxmlformats.org/drawingml/2006/main" noGrp="1"/>
          </p:cNvSpPr>
          <p:nvPr/>
        </p:nvSpPr>
        <p:spPr>
          <a:xfrm xmlns:a="http://schemas.openxmlformats.org/drawingml/2006/main">
            <a:off x="666750" y="176212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1">
                <a:solidFill>
                  <a:srgbClr val="002676"/>
                </a:solidFill>
                <a:latin typeface="Arial"/>
                <a:ea typeface="Arial"/>
                <a:cs typeface="Arial"/>
              </a:rPr>
              <a:t>Research deliverable</a:t>
            </a:r>
          </a:p>
        </p:txBody>
      </p:sp>
      <p:sp>
        <p:nvSpPr>
          <p:cNvPr id="4" name="">
            <a:extLst xmlns:a="http://schemas.openxmlformats.org/drawingml/2006/main">
              <a:ext uri="{FF2B5EF4-FFF2-40B4-BE49-F238E27FC236}">
                <a16:creationId xmlns:a16="http://schemas.microsoft.com/office/drawing/2014/main" id="{AA2A0474-33F0-4A10-B3E0-E84751F2234D}"/>
              </a:ext>
            </a:extLst>
          </p:cNvPr>
          <p:cNvSpPr>
            <a:spLocks xmlns:a="http://schemas.openxmlformats.org/drawingml/2006/main" noGrp="1"/>
          </p:cNvSpPr>
          <p:nvPr/>
        </p:nvSpPr>
        <p:spPr>
          <a:xfrm xmlns:a="http://schemas.openxmlformats.org/drawingml/2006/main">
            <a:off x="666750" y="2619375"/>
            <a:ext cx="51435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0">
                <a:solidFill>
                  <a:srgbClr val="595959"/>
                </a:solidFill>
                <a:latin typeface="Arial"/>
                <a:ea typeface="Arial"/>
                <a:cs typeface="Arial"/>
              </a:rPr>
              <a:t>Matched-checkpoint comparisons</a:t>
            </a:r>
            <a:br>
              <a:rPr sz="2250" b="0">
                <a:solidFill>
                  <a:srgbClr val="595959"/>
                </a:solidFill>
                <a:latin typeface="Arial"/>
                <a:ea typeface="Arial"/>
                <a:cs typeface="Arial"/>
              </a:rPr>
            </a:br>
            <a:r>
              <a:rPr sz="2250" b="0">
                <a:solidFill>
                  <a:srgbClr val="595959"/>
                </a:solidFill>
                <a:latin typeface="Arial"/>
                <a:ea typeface="Arial"/>
                <a:cs typeface="Arial"/>
              </a:rPr>
              <a:t>Runnable evaluation notebooks</a:t>
            </a:r>
            <a:br>
              <a:rPr sz="2250" b="0">
                <a:solidFill>
                  <a:srgbClr val="595959"/>
                </a:solidFill>
                <a:latin typeface="Arial"/>
                <a:ea typeface="Arial"/>
                <a:cs typeface="Arial"/>
              </a:rPr>
            </a:br>
            <a:r>
              <a:rPr sz="2250" b="0">
                <a:solidFill>
                  <a:srgbClr val="595959"/>
                </a:solidFill>
                <a:latin typeface="Arial"/>
                <a:ea typeface="Arial"/>
                <a:cs typeface="Arial"/>
              </a:rPr>
              <a:t>Coverage and error-analysis tables</a:t>
            </a:r>
            <a:br>
              <a:rPr sz="2250" b="0">
                <a:solidFill>
                  <a:srgbClr val="595959"/>
                </a:solidFill>
                <a:latin typeface="Arial"/>
                <a:ea typeface="Arial"/>
                <a:cs typeface="Arial"/>
              </a:rPr>
            </a:br>
            <a:r>
              <a:rPr sz="2250" b="0">
                <a:solidFill>
                  <a:srgbClr val="595959"/>
                </a:solidFill>
                <a:latin typeface="Arial"/>
                <a:ea typeface="Arial"/>
                <a:cs typeface="Arial"/>
              </a:rPr>
              <a:t>A paper reporting positive and negative results</a:t>
            </a:r>
          </a:p>
        </p:txBody>
      </p:sp>
      <p:sp>
        <p:nvSpPr>
          <p:cNvPr id="5" name="">
            <a:extLst xmlns:a="http://schemas.openxmlformats.org/drawingml/2006/main">
              <a:ext uri="{FF2B5EF4-FFF2-40B4-BE49-F238E27FC236}">
                <a16:creationId xmlns:a16="http://schemas.microsoft.com/office/drawing/2014/main" id="{7FB103AE-2B4E-43D3-9EAE-D293E679F9FE}"/>
              </a:ext>
            </a:extLst>
          </p:cNvPr>
          <p:cNvSpPr>
            <a:spLocks xmlns:a="http://schemas.openxmlformats.org/drawingml/2006/main" noGrp="1"/>
          </p:cNvSpPr>
          <p:nvPr/>
        </p:nvSpPr>
        <p:spPr>
          <a:xfrm xmlns:a="http://schemas.openxmlformats.org/drawingml/2006/main">
            <a:off x="6477000" y="176212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1">
                <a:solidFill>
                  <a:srgbClr val="002676"/>
                </a:solidFill>
                <a:latin typeface="Arial"/>
                <a:ea typeface="Arial"/>
                <a:cs typeface="Arial"/>
              </a:rPr>
              <a:t>Practitioner questions</a:t>
            </a:r>
          </a:p>
        </p:txBody>
      </p:sp>
      <p:sp>
        <p:nvSpPr>
          <p:cNvPr id="6" name="">
            <a:extLst xmlns:a="http://schemas.openxmlformats.org/drawingml/2006/main">
              <a:ext uri="{FF2B5EF4-FFF2-40B4-BE49-F238E27FC236}">
                <a16:creationId xmlns:a16="http://schemas.microsoft.com/office/drawing/2014/main" id="{4BAD2D09-3927-4A48-8429-A95CBF282DD9}"/>
              </a:ext>
            </a:extLst>
          </p:cNvPr>
          <p:cNvSpPr>
            <a:spLocks xmlns:a="http://schemas.openxmlformats.org/drawingml/2006/main" noGrp="1"/>
          </p:cNvSpPr>
          <p:nvPr/>
        </p:nvSpPr>
        <p:spPr>
          <a:xfrm xmlns:a="http://schemas.openxmlformats.org/drawingml/2006/main">
            <a:off x="6477000" y="2619375"/>
            <a:ext cx="48577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0">
                <a:solidFill>
                  <a:srgbClr val="595959"/>
                </a:solidFill>
                <a:latin typeface="Arial"/>
                <a:ea typeface="Arial"/>
                <a:cs typeface="Arial"/>
              </a:rPr>
              <a:t>What coverage is attainable at a target accepted accuracy?</a:t>
            </a:r>
            <a:br>
              <a:rPr sz="2250" b="0">
                <a:solidFill>
                  <a:srgbClr val="595959"/>
                </a:solidFill>
                <a:latin typeface="Arial"/>
                <a:ea typeface="Arial"/>
                <a:cs typeface="Arial"/>
              </a:rPr>
            </a:br>
            <a:br>
              <a:rPr sz="2250" b="0">
                <a:solidFill>
                  <a:srgbClr val="595959"/>
                </a:solidFill>
                <a:latin typeface="Arial"/>
                <a:ea typeface="Arial"/>
                <a:cs typeface="Arial"/>
              </a:rPr>
            </a:br>
            <a:r>
              <a:rPr sz="2250" b="0">
                <a:solidFill>
                  <a:srgbClr val="595959"/>
                </a:solidFill>
                <a:latin typeface="Arial"/>
                <a:ea typeface="Arial"/>
                <a:cs typeface="Arial"/>
              </a:rPr>
              <a:t>When does SDM add value beyond calibrated softmax?</a:t>
            </a:r>
          </a:p>
        </p:txBody>
      </p:sp>
      <p:sp>
        <p:nvSpPr>
          <p:cNvPr id="7" name="">
            <a:extLst xmlns:a="http://schemas.openxmlformats.org/drawingml/2006/main">
              <a:ext uri="{FF2B5EF4-FFF2-40B4-BE49-F238E27FC236}">
                <a16:creationId xmlns:a16="http://schemas.microsoft.com/office/drawing/2014/main" id="{0759110A-8EBB-4872-A6C5-924A962746D4}"/>
              </a:ext>
            </a:extLst>
          </p:cNvPr>
          <p:cNvSpPr>
            <a:spLocks xmlns:a="http://schemas.openxmlformats.org/drawingml/2006/main" noGrp="1"/>
          </p:cNvSpPr>
          <p:nvPr/>
        </p:nvSpPr>
        <p:spPr>
          <a:xfrm xmlns:a="http://schemas.openxmlformats.org/drawingml/2006/main">
            <a:off x="666750" y="57150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a:defPPr>
            <a:lvl1pPr algn="l">
              <a:defRPr sz="1725"/>
            </a:lvl1pPr>
            <a:lvl2pPr algn="l">
              <a:defRPr sz="1725"/>
            </a:lvl2pPr>
            <a:lvl3pPr algn="l">
              <a:defRPr sz="1725"/>
            </a:lvl3pPr>
            <a:lvl4pPr algn="l">
              <a:defRPr sz="1725"/>
            </a:lvl4pPr>
            <a:lvl5pPr algn="l">
              <a:defRPr sz="1725"/>
            </a:lvl5pPr>
            <a:lvl6pPr algn="l">
              <a:defRPr sz="1725"/>
            </a:lvl6pPr>
            <a:lvl7pPr algn="l">
              <a:defRPr sz="1725"/>
            </a:lvl7pPr>
            <a:lvl8pPr algn="l">
              <a:defRPr sz="1725"/>
            </a:lvl8pPr>
            <a:lvl9pPr algn="l">
              <a:defRPr sz="1725"/>
            </a:lvl9pPr>
          </a:lstStyle>
          <a:p xmlns:a="http://schemas.openxmlformats.org/drawingml/2006/main">
            <a:pPr algn="l">
              <a:defRPr sz="1725"/>
            </a:pPr>
            <a:r>
              <a:rPr sz="1725" b="0">
                <a:solidFill>
                  <a:srgbClr val="595959"/>
                </a:solidFill>
                <a:latin typeface="Arial"/>
                <a:ea typeface="Arial"/>
                <a:cs typeface="Arial"/>
              </a:rPr>
              <a:t>Practitioner and expert validation remains a task unless the team confirms completed feedback.</a:t>
            </a:r>
          </a:p>
        </p:txBody>
      </p:sp>
    </p:spTree>
    <p:extLst>
      <p:ext uri="{BB962C8B-B14F-4D97-AF65-F5344CB8AC3E}">
        <p14:creationId xmlns:p14="http://schemas.microsoft.com/office/powerpoint/2010/main" val="178323389"/>
      </p:ext>
    </p:extLst>
  </p:cSld>
</p:sld>
</file>

<file path=ppt/slides/slide4.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C4E47D5-883C-4F48-87FF-0BAF21F4459E}"/>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57C93A-9DA9-4D23-9868-604C54C5BAF8}"/>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Similarity, distance and magnitude in SDM</a:t>
            </a:r>
          </a:p>
        </p:txBody>
      </p:sp>
      <p:sp>
        <p:nvSpPr>
          <p:cNvPr id="3" name="">
            <a:extLst xmlns:a="http://schemas.openxmlformats.org/drawingml/2006/main">
              <a:ext uri="{FF2B5EF4-FFF2-40B4-BE49-F238E27FC236}">
                <a16:creationId xmlns:a16="http://schemas.microsoft.com/office/drawing/2014/main" id="{6C63FDD0-5B4F-427F-90ED-B897E8509486}"/>
              </a:ext>
            </a:extLst>
          </p:cNvPr>
          <p:cNvSpPr>
            <a:spLocks xmlns:a="http://schemas.openxmlformats.org/drawingml/2006/main" noGrp="1"/>
          </p:cNvSpPr>
          <p:nvPr/>
        </p:nvSpPr>
        <p:spPr>
          <a:xfrm xmlns:a="http://schemas.openxmlformats.org/drawingml/2006/main">
            <a:off x="666750" y="1809750"/>
            <a:ext cx="319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325"/>
            </a:defPPr>
            <a:lvl1pPr algn="l">
              <a:defRPr sz="2325"/>
            </a:lvl1pPr>
            <a:lvl2pPr algn="l">
              <a:defRPr sz="2325"/>
            </a:lvl2pPr>
            <a:lvl3pPr algn="l">
              <a:defRPr sz="2325"/>
            </a:lvl3pPr>
            <a:lvl4pPr algn="l">
              <a:defRPr sz="2325"/>
            </a:lvl4pPr>
            <a:lvl5pPr algn="l">
              <a:defRPr sz="2325"/>
            </a:lvl5pPr>
            <a:lvl6pPr algn="l">
              <a:defRPr sz="2325"/>
            </a:lvl6pPr>
            <a:lvl7pPr algn="l">
              <a:defRPr sz="2325"/>
            </a:lvl7pPr>
            <a:lvl8pPr algn="l">
              <a:defRPr sz="2325"/>
            </a:lvl8pPr>
            <a:lvl9pPr algn="l">
              <a:defRPr sz="2325"/>
            </a:lvl9pPr>
          </a:lstStyle>
          <a:p xmlns:a="http://schemas.openxmlformats.org/drawingml/2006/main">
            <a:pPr algn="l">
              <a:defRPr sz="2325"/>
            </a:pPr>
            <a:r>
              <a:rPr sz="2325" b="1">
                <a:solidFill>
                  <a:srgbClr val="002676"/>
                </a:solidFill>
                <a:latin typeface="Arial"/>
                <a:ea typeface="Arial"/>
                <a:cs typeface="Arial"/>
              </a:rPr>
              <a:t>Similarity</a:t>
            </a:r>
          </a:p>
        </p:txBody>
      </p:sp>
      <p:sp>
        <p:nvSpPr>
          <p:cNvPr id="4" name="">
            <a:extLst xmlns:a="http://schemas.openxmlformats.org/drawingml/2006/main">
              <a:ext uri="{FF2B5EF4-FFF2-40B4-BE49-F238E27FC236}">
                <a16:creationId xmlns:a16="http://schemas.microsoft.com/office/drawing/2014/main" id="{30CE266F-F453-4FC4-8CAE-31B61FE39A93}"/>
              </a:ext>
            </a:extLst>
          </p:cNvPr>
          <p:cNvSpPr>
            <a:spLocks xmlns:a="http://schemas.openxmlformats.org/drawingml/2006/main" noGrp="1"/>
          </p:cNvSpPr>
          <p:nvPr/>
        </p:nvSpPr>
        <p:spPr>
          <a:xfrm xmlns:a="http://schemas.openxmlformats.org/drawingml/2006/main">
            <a:off x="4381500" y="1809750"/>
            <a:ext cx="319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325"/>
            </a:defPPr>
            <a:lvl1pPr algn="l">
              <a:defRPr sz="2325"/>
            </a:lvl1pPr>
            <a:lvl2pPr algn="l">
              <a:defRPr sz="2325"/>
            </a:lvl2pPr>
            <a:lvl3pPr algn="l">
              <a:defRPr sz="2325"/>
            </a:lvl3pPr>
            <a:lvl4pPr algn="l">
              <a:defRPr sz="2325"/>
            </a:lvl4pPr>
            <a:lvl5pPr algn="l">
              <a:defRPr sz="2325"/>
            </a:lvl5pPr>
            <a:lvl6pPr algn="l">
              <a:defRPr sz="2325"/>
            </a:lvl6pPr>
            <a:lvl7pPr algn="l">
              <a:defRPr sz="2325"/>
            </a:lvl7pPr>
            <a:lvl8pPr algn="l">
              <a:defRPr sz="2325"/>
            </a:lvl8pPr>
            <a:lvl9pPr algn="l">
              <a:defRPr sz="2325"/>
            </a:lvl9pPr>
          </a:lstStyle>
          <a:p xmlns:a="http://schemas.openxmlformats.org/drawingml/2006/main">
            <a:pPr algn="l">
              <a:defRPr sz="2325"/>
            </a:pPr>
            <a:r>
              <a:rPr sz="2325" b="1">
                <a:solidFill>
                  <a:srgbClr val="002676"/>
                </a:solidFill>
                <a:latin typeface="Arial"/>
                <a:ea typeface="Arial"/>
                <a:cs typeface="Arial"/>
              </a:rPr>
              <a:t>Distance</a:t>
            </a:r>
          </a:p>
        </p:txBody>
      </p:sp>
      <p:sp>
        <p:nvSpPr>
          <p:cNvPr id="5" name="">
            <a:extLst xmlns:a="http://schemas.openxmlformats.org/drawingml/2006/main">
              <a:ext uri="{FF2B5EF4-FFF2-40B4-BE49-F238E27FC236}">
                <a16:creationId xmlns:a16="http://schemas.microsoft.com/office/drawing/2014/main" id="{B90DD38F-1AEE-4703-A746-034A0970FD90}"/>
              </a:ext>
            </a:extLst>
          </p:cNvPr>
          <p:cNvSpPr>
            <a:spLocks xmlns:a="http://schemas.openxmlformats.org/drawingml/2006/main" noGrp="1"/>
          </p:cNvSpPr>
          <p:nvPr/>
        </p:nvSpPr>
        <p:spPr>
          <a:xfrm xmlns:a="http://schemas.openxmlformats.org/drawingml/2006/main">
            <a:off x="8096250" y="1809750"/>
            <a:ext cx="319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325"/>
            </a:defPPr>
            <a:lvl1pPr algn="l">
              <a:defRPr sz="2325"/>
            </a:lvl1pPr>
            <a:lvl2pPr algn="l">
              <a:defRPr sz="2325"/>
            </a:lvl2pPr>
            <a:lvl3pPr algn="l">
              <a:defRPr sz="2325"/>
            </a:lvl3pPr>
            <a:lvl4pPr algn="l">
              <a:defRPr sz="2325"/>
            </a:lvl4pPr>
            <a:lvl5pPr algn="l">
              <a:defRPr sz="2325"/>
            </a:lvl5pPr>
            <a:lvl6pPr algn="l">
              <a:defRPr sz="2325"/>
            </a:lvl6pPr>
            <a:lvl7pPr algn="l">
              <a:defRPr sz="2325"/>
            </a:lvl7pPr>
            <a:lvl8pPr algn="l">
              <a:defRPr sz="2325"/>
            </a:lvl8pPr>
            <a:lvl9pPr algn="l">
              <a:defRPr sz="2325"/>
            </a:lvl9pPr>
          </a:lstStyle>
          <a:p xmlns:a="http://schemas.openxmlformats.org/drawingml/2006/main">
            <a:pPr algn="l">
              <a:defRPr sz="2325"/>
            </a:pPr>
            <a:r>
              <a:rPr sz="2325" b="1">
                <a:solidFill>
                  <a:srgbClr val="002676"/>
                </a:solidFill>
                <a:latin typeface="Arial"/>
                <a:ea typeface="Arial"/>
                <a:cs typeface="Arial"/>
              </a:rPr>
              <a:t>Magnitude</a:t>
            </a:r>
          </a:p>
        </p:txBody>
      </p:sp>
      <p:sp>
        <p:nvSpPr>
          <p:cNvPr id="6" name="">
            <a:extLst xmlns:a="http://schemas.openxmlformats.org/drawingml/2006/main">
              <a:ext uri="{FF2B5EF4-FFF2-40B4-BE49-F238E27FC236}">
                <a16:creationId xmlns:a16="http://schemas.microsoft.com/office/drawing/2014/main" id="{D32C741F-82D5-448B-8C29-3B6EC6E84369}"/>
              </a:ext>
            </a:extLst>
          </p:cNvPr>
          <p:cNvSpPr>
            <a:spLocks xmlns:a="http://schemas.openxmlformats.org/drawingml/2006/main" noGrp="1"/>
          </p:cNvSpPr>
          <p:nvPr/>
        </p:nvSpPr>
        <p:spPr>
          <a:xfrm xmlns:a="http://schemas.openxmlformats.org/drawingml/2006/main">
            <a:off x="666750" y="2667000"/>
            <a:ext cx="3190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0">
                <a:solidFill>
                  <a:srgbClr val="595959"/>
                </a:solidFill>
                <a:latin typeface="Arial"/>
                <a:ea typeface="Arial"/>
                <a:cs typeface="Arial"/>
              </a:rPr>
              <a:t>Agreement with nearby training examples in representation space</a:t>
            </a:r>
          </a:p>
        </p:txBody>
      </p:sp>
      <p:sp>
        <p:nvSpPr>
          <p:cNvPr id="7" name="">
            <a:extLst xmlns:a="http://schemas.openxmlformats.org/drawingml/2006/main">
              <a:ext uri="{FF2B5EF4-FFF2-40B4-BE49-F238E27FC236}">
                <a16:creationId xmlns:a16="http://schemas.microsoft.com/office/drawing/2014/main" id="{4323CD61-1B69-4A9F-8C85-8BD20BF4C648}"/>
              </a:ext>
            </a:extLst>
          </p:cNvPr>
          <p:cNvSpPr>
            <a:spLocks xmlns:a="http://schemas.openxmlformats.org/drawingml/2006/main" noGrp="1"/>
          </p:cNvSpPr>
          <p:nvPr/>
        </p:nvSpPr>
        <p:spPr>
          <a:xfrm xmlns:a="http://schemas.openxmlformats.org/drawingml/2006/main">
            <a:off x="4381500" y="2667000"/>
            <a:ext cx="3190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0">
                <a:solidFill>
                  <a:srgbClr val="595959"/>
                </a:solidFill>
                <a:latin typeface="Arial"/>
                <a:ea typeface="Arial"/>
                <a:cs typeface="Arial"/>
              </a:rPr>
              <a:t>Proximity to the training distribution</a:t>
            </a:r>
          </a:p>
        </p:txBody>
      </p:sp>
      <p:sp>
        <p:nvSpPr>
          <p:cNvPr id="8" name="">
            <a:extLst xmlns:a="http://schemas.openxmlformats.org/drawingml/2006/main">
              <a:ext uri="{FF2B5EF4-FFF2-40B4-BE49-F238E27FC236}">
                <a16:creationId xmlns:a16="http://schemas.microsoft.com/office/drawing/2014/main" id="{A6B37B66-78A9-4DCE-9131-12688CF18D56}"/>
              </a:ext>
            </a:extLst>
          </p:cNvPr>
          <p:cNvSpPr>
            <a:spLocks xmlns:a="http://schemas.openxmlformats.org/drawingml/2006/main" noGrp="1"/>
          </p:cNvSpPr>
          <p:nvPr/>
        </p:nvSpPr>
        <p:spPr>
          <a:xfrm xmlns:a="http://schemas.openxmlformats.org/drawingml/2006/main">
            <a:off x="8096250" y="2667000"/>
            <a:ext cx="3190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0">
                <a:solidFill>
                  <a:srgbClr val="595959"/>
                </a:solidFill>
                <a:latin typeface="Arial"/>
                <a:ea typeface="Arial"/>
                <a:cs typeface="Arial"/>
              </a:rPr>
              <a:t>Decision-boundary information from the model’s logits</a:t>
            </a:r>
          </a:p>
        </p:txBody>
      </p:sp>
      <p:sp>
        <p:nvSpPr>
          <p:cNvPr id="9" name="">
            <a:extLst xmlns:a="http://schemas.openxmlformats.org/drawingml/2006/main">
              <a:ext uri="{FF2B5EF4-FFF2-40B4-BE49-F238E27FC236}">
                <a16:creationId xmlns:a16="http://schemas.microsoft.com/office/drawing/2014/main" id="{7AB26CED-1DAB-4AD1-9232-1F4E6546D7DA}"/>
              </a:ext>
            </a:extLst>
          </p:cNvPr>
          <p:cNvSpPr>
            <a:spLocks xmlns:a="http://schemas.openxmlformats.org/drawingml/2006/main" noGrp="1"/>
          </p:cNvSpPr>
          <p:nvPr/>
        </p:nvSpPr>
        <p:spPr>
          <a:xfrm xmlns:a="http://schemas.openxmlformats.org/drawingml/2006/main">
            <a:off x="666750" y="50958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0">
                <a:solidFill>
                  <a:srgbClr val="002676"/>
                </a:solidFill>
                <a:latin typeface="Arial"/>
                <a:ea typeface="Arial"/>
                <a:cs typeface="Arial"/>
              </a:rPr>
              <a:t>Calibration constructs a selective region. A region can be empty when its empirical conditions cannot be met.</a:t>
            </a:r>
          </a:p>
        </p:txBody>
      </p:sp>
    </p:spTree>
    <p:extLst>
      <p:ext uri="{BB962C8B-B14F-4D97-AF65-F5344CB8AC3E}">
        <p14:creationId xmlns:p14="http://schemas.microsoft.com/office/powerpoint/2010/main" val="221393678"/>
      </p:ext>
    </p:extLst>
  </p:cSld>
</p:sld>
</file>

<file path=ppt/slides/slide5.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51E8582-F53C-4790-A724-681DBBCE458D}"/>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6591CBD-252A-4552-9355-E0BD1552BA8E}"/>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Compare methods within a fixed classifier and population</a:t>
            </a:r>
          </a:p>
        </p:txBody>
      </p:sp>
      <p:sp>
        <p:nvSpPr>
          <p:cNvPr id="3" name="">
            <a:extLst xmlns:a="http://schemas.openxmlformats.org/drawingml/2006/main">
              <a:ext uri="{FF2B5EF4-FFF2-40B4-BE49-F238E27FC236}">
                <a16:creationId xmlns:a16="http://schemas.microsoft.com/office/drawing/2014/main" id="{3DD8A147-C867-4263-ADE4-22D05648FAF7}"/>
              </a:ext>
            </a:extLst>
          </p:cNvPr>
          <p:cNvSpPr>
            <a:spLocks xmlns:a="http://schemas.openxmlformats.org/drawingml/2006/main" noGrp="1"/>
          </p:cNvSpPr>
          <p:nvPr/>
        </p:nvSpPr>
        <p:spPr>
          <a:xfrm xmlns:a="http://schemas.openxmlformats.org/drawingml/2006/main">
            <a:off x="666750" y="15716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a:defPPr>
            <a:lvl1pPr algn="l">
              <a:defRPr sz="1725"/>
            </a:lvl1pPr>
            <a:lvl2pPr algn="l">
              <a:defRPr sz="1725"/>
            </a:lvl2pPr>
            <a:lvl3pPr algn="l">
              <a:defRPr sz="1725"/>
            </a:lvl3pPr>
            <a:lvl4pPr algn="l">
              <a:defRPr sz="1725"/>
            </a:lvl4pPr>
            <a:lvl5pPr algn="l">
              <a:defRPr sz="1725"/>
            </a:lvl5pPr>
            <a:lvl6pPr algn="l">
              <a:defRPr sz="1725"/>
            </a:lvl6pPr>
            <a:lvl7pPr algn="l">
              <a:defRPr sz="1725"/>
            </a:lvl7pPr>
            <a:lvl8pPr algn="l">
              <a:defRPr sz="1725"/>
            </a:lvl8pPr>
            <a:lvl9pPr algn="l">
              <a:defRPr sz="1725"/>
            </a:lvl9pPr>
          </a:lstStyle>
          <a:p xmlns:a="http://schemas.openxmlformats.org/drawingml/2006/main">
            <a:pPr algn="l">
              <a:defRPr sz="1725"/>
            </a:pPr>
            <a:r>
              <a:rPr sz="1725" b="0">
                <a:solidFill>
                  <a:srgbClr val="595959"/>
                </a:solidFill>
                <a:latin typeface="Arial"/>
                <a:ea typeface="Arial"/>
                <a:cs typeface="Arial"/>
              </a:rPr>
              <a:t>EMNIST Balanced protocol</a:t>
            </a:r>
          </a:p>
        </p:txBody>
      </p:sp>
      <p:sp>
        <p:nvSpPr>
          <p:cNvPr id="4" name="">
            <a:extLst xmlns:a="http://schemas.openxmlformats.org/drawingml/2006/main">
              <a:ext uri="{FF2B5EF4-FFF2-40B4-BE49-F238E27FC236}">
                <a16:creationId xmlns:a16="http://schemas.microsoft.com/office/drawing/2014/main" id="{212C4AC0-7F0E-41A7-9D72-A1350118AB2B}"/>
              </a:ext>
            </a:extLst>
          </p:cNvPr>
          <p:cNvSpPr>
            <a:spLocks xmlns:a="http://schemas.openxmlformats.org/drawingml/2006/main" noGrp="1"/>
          </p:cNvSpPr>
          <p:nvPr/>
        </p:nvSpPr>
        <p:spPr>
          <a:xfrm xmlns:a="http://schemas.openxmlformats.org/drawingml/2006/main">
            <a:off x="666750" y="2000250"/>
            <a:ext cx="2428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1">
                <a:solidFill>
                  <a:srgbClr val="002676"/>
                </a:solidFill>
                <a:latin typeface="Arial"/>
                <a:ea typeface="Arial"/>
                <a:cs typeface="Arial"/>
              </a:rPr>
              <a:t>Training</a:t>
            </a:r>
          </a:p>
        </p:txBody>
      </p:sp>
      <p:sp>
        <p:nvSpPr>
          <p:cNvPr id="5" name="">
            <a:extLst xmlns:a="http://schemas.openxmlformats.org/drawingml/2006/main">
              <a:ext uri="{FF2B5EF4-FFF2-40B4-BE49-F238E27FC236}">
                <a16:creationId xmlns:a16="http://schemas.microsoft.com/office/drawing/2014/main" id="{0EA0892C-06A1-4428-A6BF-CA33A3D62BA2}"/>
              </a:ext>
            </a:extLst>
          </p:cNvPr>
          <p:cNvSpPr>
            <a:spLocks xmlns:a="http://schemas.openxmlformats.org/drawingml/2006/main" noGrp="1"/>
          </p:cNvSpPr>
          <p:nvPr/>
        </p:nvSpPr>
        <p:spPr>
          <a:xfrm xmlns:a="http://schemas.openxmlformats.org/drawingml/2006/main">
            <a:off x="666750" y="2857500"/>
            <a:ext cx="2428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a:defPPr>
            <a:lvl1pPr algn="l">
              <a:defRPr sz="1950"/>
            </a:lvl1pPr>
            <a:lvl2pPr algn="l">
              <a:defRPr sz="1950"/>
            </a:lvl2pPr>
            <a:lvl3pPr algn="l">
              <a:defRPr sz="1950"/>
            </a:lvl3pPr>
            <a:lvl4pPr algn="l">
              <a:defRPr sz="1950"/>
            </a:lvl4pPr>
            <a:lvl5pPr algn="l">
              <a:defRPr sz="1950"/>
            </a:lvl5pPr>
            <a:lvl6pPr algn="l">
              <a:defRPr sz="1950"/>
            </a:lvl6pPr>
            <a:lvl7pPr algn="l">
              <a:defRPr sz="1950"/>
            </a:lvl7pPr>
            <a:lvl8pPr algn="l">
              <a:defRPr sz="1950"/>
            </a:lvl8pPr>
            <a:lvl9pPr algn="l">
              <a:defRPr sz="1950"/>
            </a:lvl9pPr>
          </a:lstStyle>
          <a:p xmlns:a="http://schemas.openxmlformats.org/drawingml/2006/main">
            <a:pPr algn="l">
              <a:defRPr sz="1950"/>
            </a:pPr>
            <a:r>
              <a:rPr sz="1950" b="0">
                <a:solidFill>
                  <a:srgbClr val="595959"/>
                </a:solidFill>
                <a:latin typeface="Arial"/>
                <a:ea typeface="Arial"/>
                <a:cs typeface="Arial"/>
              </a:rPr>
              <a:t>106,925 images</a:t>
            </a:r>
          </a:p>
        </p:txBody>
      </p:sp>
      <p:sp>
        <p:nvSpPr>
          <p:cNvPr id="6" name="">
            <a:extLst xmlns:a="http://schemas.openxmlformats.org/drawingml/2006/main">
              <a:ext uri="{FF2B5EF4-FFF2-40B4-BE49-F238E27FC236}">
                <a16:creationId xmlns:a16="http://schemas.microsoft.com/office/drawing/2014/main" id="{3F9060BF-CDAC-4632-9D05-EEEE52E90C0F}"/>
              </a:ext>
            </a:extLst>
          </p:cNvPr>
          <p:cNvSpPr>
            <a:spLocks xmlns:a="http://schemas.openxmlformats.org/drawingml/2006/main" noGrp="1"/>
          </p:cNvSpPr>
          <p:nvPr/>
        </p:nvSpPr>
        <p:spPr>
          <a:xfrm xmlns:a="http://schemas.openxmlformats.org/drawingml/2006/main">
            <a:off x="3000375" y="2714625"/>
            <a:ext cx="333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400"/>
            </a:defPPr>
            <a:lvl1pPr algn="l">
              <a:defRPr sz="2400"/>
            </a:lvl1pPr>
            <a:lvl2pPr algn="l">
              <a:defRPr sz="2400"/>
            </a:lvl2pPr>
            <a:lvl3pPr algn="l">
              <a:defRPr sz="2400"/>
            </a:lvl3pPr>
            <a:lvl4pPr algn="l">
              <a:defRPr sz="2400"/>
            </a:lvl4pPr>
            <a:lvl5pPr algn="l">
              <a:defRPr sz="2400"/>
            </a:lvl5pPr>
            <a:lvl6pPr algn="l">
              <a:defRPr sz="2400"/>
            </a:lvl6pPr>
            <a:lvl7pPr algn="l">
              <a:defRPr sz="2400"/>
            </a:lvl7pPr>
            <a:lvl8pPr algn="l">
              <a:defRPr sz="2400"/>
            </a:lvl8pPr>
            <a:lvl9pPr algn="l">
              <a:defRPr sz="2400"/>
            </a:lvl9pPr>
          </a:lstStyle>
          <a:p xmlns:a="http://schemas.openxmlformats.org/drawingml/2006/main">
            <a:pPr algn="l">
              <a:defRPr sz="2400"/>
            </a:pPr>
            <a:r>
              <a:rPr sz="2400" b="0">
                <a:solidFill>
                  <a:srgbClr val="002676"/>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9A257C5D-A338-456A-9926-E25B1D5093A9}"/>
              </a:ext>
            </a:extLst>
          </p:cNvPr>
          <p:cNvSpPr>
            <a:spLocks xmlns:a="http://schemas.openxmlformats.org/drawingml/2006/main" noGrp="1"/>
          </p:cNvSpPr>
          <p:nvPr/>
        </p:nvSpPr>
        <p:spPr>
          <a:xfrm xmlns:a="http://schemas.openxmlformats.org/drawingml/2006/main">
            <a:off x="3429000" y="2000250"/>
            <a:ext cx="2428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1">
                <a:solidFill>
                  <a:srgbClr val="002676"/>
                </a:solidFill>
                <a:latin typeface="Arial"/>
                <a:ea typeface="Arial"/>
                <a:cs typeface="Arial"/>
              </a:rPr>
              <a:t>Validation</a:t>
            </a:r>
          </a:p>
        </p:txBody>
      </p:sp>
      <p:sp>
        <p:nvSpPr>
          <p:cNvPr id="8" name="">
            <a:extLst xmlns:a="http://schemas.openxmlformats.org/drawingml/2006/main">
              <a:ext uri="{FF2B5EF4-FFF2-40B4-BE49-F238E27FC236}">
                <a16:creationId xmlns:a16="http://schemas.microsoft.com/office/drawing/2014/main" id="{17EEAA08-F159-46C1-8FAF-43507E7BE19D}"/>
              </a:ext>
            </a:extLst>
          </p:cNvPr>
          <p:cNvSpPr>
            <a:spLocks xmlns:a="http://schemas.openxmlformats.org/drawingml/2006/main" noGrp="1"/>
          </p:cNvSpPr>
          <p:nvPr/>
        </p:nvSpPr>
        <p:spPr>
          <a:xfrm xmlns:a="http://schemas.openxmlformats.org/drawingml/2006/main">
            <a:off x="3429000" y="2857500"/>
            <a:ext cx="2428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a:defPPr>
            <a:lvl1pPr algn="l">
              <a:defRPr sz="1950"/>
            </a:lvl1pPr>
            <a:lvl2pPr algn="l">
              <a:defRPr sz="1950"/>
            </a:lvl2pPr>
            <a:lvl3pPr algn="l">
              <a:defRPr sz="1950"/>
            </a:lvl3pPr>
            <a:lvl4pPr algn="l">
              <a:defRPr sz="1950"/>
            </a:lvl4pPr>
            <a:lvl5pPr algn="l">
              <a:defRPr sz="1950"/>
            </a:lvl5pPr>
            <a:lvl6pPr algn="l">
              <a:defRPr sz="1950"/>
            </a:lvl6pPr>
            <a:lvl7pPr algn="l">
              <a:defRPr sz="1950"/>
            </a:lvl7pPr>
            <a:lvl8pPr algn="l">
              <a:defRPr sz="1950"/>
            </a:lvl8pPr>
            <a:lvl9pPr algn="l">
              <a:defRPr sz="1950"/>
            </a:lvl9pPr>
          </a:lstStyle>
          <a:p xmlns:a="http://schemas.openxmlformats.org/drawingml/2006/main">
            <a:pPr algn="l">
              <a:defRPr sz="1950"/>
            </a:pPr>
            <a:r>
              <a:rPr sz="1950" b="0">
                <a:solidFill>
                  <a:srgbClr val="595959"/>
                </a:solidFill>
                <a:latin typeface="Arial"/>
                <a:ea typeface="Arial"/>
                <a:cs typeface="Arial"/>
              </a:rPr>
              <a:t>1,175 images</a:t>
            </a:r>
          </a:p>
        </p:txBody>
      </p:sp>
      <p:sp>
        <p:nvSpPr>
          <p:cNvPr id="9" name="">
            <a:extLst xmlns:a="http://schemas.openxmlformats.org/drawingml/2006/main">
              <a:ext uri="{FF2B5EF4-FFF2-40B4-BE49-F238E27FC236}">
                <a16:creationId xmlns:a16="http://schemas.microsoft.com/office/drawing/2014/main" id="{D76512EE-523C-4E53-B4FB-942929CDC820}"/>
              </a:ext>
            </a:extLst>
          </p:cNvPr>
          <p:cNvSpPr>
            <a:spLocks xmlns:a="http://schemas.openxmlformats.org/drawingml/2006/main" noGrp="1"/>
          </p:cNvSpPr>
          <p:nvPr/>
        </p:nvSpPr>
        <p:spPr>
          <a:xfrm xmlns:a="http://schemas.openxmlformats.org/drawingml/2006/main">
            <a:off x="5762625" y="2714625"/>
            <a:ext cx="333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400"/>
            </a:defPPr>
            <a:lvl1pPr algn="l">
              <a:defRPr sz="2400"/>
            </a:lvl1pPr>
            <a:lvl2pPr algn="l">
              <a:defRPr sz="2400"/>
            </a:lvl2pPr>
            <a:lvl3pPr algn="l">
              <a:defRPr sz="2400"/>
            </a:lvl3pPr>
            <a:lvl4pPr algn="l">
              <a:defRPr sz="2400"/>
            </a:lvl4pPr>
            <a:lvl5pPr algn="l">
              <a:defRPr sz="2400"/>
            </a:lvl5pPr>
            <a:lvl6pPr algn="l">
              <a:defRPr sz="2400"/>
            </a:lvl6pPr>
            <a:lvl7pPr algn="l">
              <a:defRPr sz="2400"/>
            </a:lvl7pPr>
            <a:lvl8pPr algn="l">
              <a:defRPr sz="2400"/>
            </a:lvl8pPr>
            <a:lvl9pPr algn="l">
              <a:defRPr sz="2400"/>
            </a:lvl9pPr>
          </a:lstStyle>
          <a:p xmlns:a="http://schemas.openxmlformats.org/drawingml/2006/main">
            <a:pPr algn="l">
              <a:defRPr sz="2400"/>
            </a:pPr>
            <a:r>
              <a:rPr sz="2400" b="0">
                <a:solidFill>
                  <a:srgbClr val="002676"/>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359D8DC5-F98A-455E-AC80-DA4EB3848313}"/>
              </a:ext>
            </a:extLst>
          </p:cNvPr>
          <p:cNvSpPr>
            <a:spLocks xmlns:a="http://schemas.openxmlformats.org/drawingml/2006/main" noGrp="1"/>
          </p:cNvSpPr>
          <p:nvPr/>
        </p:nvSpPr>
        <p:spPr>
          <a:xfrm xmlns:a="http://schemas.openxmlformats.org/drawingml/2006/main">
            <a:off x="6191250" y="2000250"/>
            <a:ext cx="2428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1">
                <a:solidFill>
                  <a:srgbClr val="002676"/>
                </a:solidFill>
                <a:latin typeface="Arial"/>
                <a:ea typeface="Arial"/>
                <a:cs typeface="Arial"/>
              </a:rPr>
              <a:t>Calibration</a:t>
            </a:r>
          </a:p>
        </p:txBody>
      </p:sp>
      <p:sp>
        <p:nvSpPr>
          <p:cNvPr id="11" name="">
            <a:extLst xmlns:a="http://schemas.openxmlformats.org/drawingml/2006/main">
              <a:ext uri="{FF2B5EF4-FFF2-40B4-BE49-F238E27FC236}">
                <a16:creationId xmlns:a16="http://schemas.microsoft.com/office/drawing/2014/main" id="{8DEE1E57-8E16-47C0-BBC3-1928A7BF9A97}"/>
              </a:ext>
            </a:extLst>
          </p:cNvPr>
          <p:cNvSpPr>
            <a:spLocks xmlns:a="http://schemas.openxmlformats.org/drawingml/2006/main" noGrp="1"/>
          </p:cNvSpPr>
          <p:nvPr/>
        </p:nvSpPr>
        <p:spPr>
          <a:xfrm xmlns:a="http://schemas.openxmlformats.org/drawingml/2006/main">
            <a:off x="6191250" y="2857500"/>
            <a:ext cx="2428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a:defPPr>
            <a:lvl1pPr algn="l">
              <a:defRPr sz="1950"/>
            </a:lvl1pPr>
            <a:lvl2pPr algn="l">
              <a:defRPr sz="1950"/>
            </a:lvl2pPr>
            <a:lvl3pPr algn="l">
              <a:defRPr sz="1950"/>
            </a:lvl3pPr>
            <a:lvl4pPr algn="l">
              <a:defRPr sz="1950"/>
            </a:lvl4pPr>
            <a:lvl5pPr algn="l">
              <a:defRPr sz="1950"/>
            </a:lvl5pPr>
            <a:lvl6pPr algn="l">
              <a:defRPr sz="1950"/>
            </a:lvl6pPr>
            <a:lvl7pPr algn="l">
              <a:defRPr sz="1950"/>
            </a:lvl7pPr>
            <a:lvl8pPr algn="l">
              <a:defRPr sz="1950"/>
            </a:lvl8pPr>
            <a:lvl9pPr algn="l">
              <a:defRPr sz="1950"/>
            </a:lvl9pPr>
          </a:lstStyle>
          <a:p xmlns:a="http://schemas.openxmlformats.org/drawingml/2006/main">
            <a:pPr algn="l">
              <a:defRPr sz="1950"/>
            </a:pPr>
            <a:r>
              <a:rPr sz="1950" b="0">
                <a:solidFill>
                  <a:srgbClr val="595959"/>
                </a:solidFill>
                <a:latin typeface="Arial"/>
                <a:ea typeface="Arial"/>
                <a:cs typeface="Arial"/>
              </a:rPr>
              <a:t>1,175 / 4,700</a:t>
            </a:r>
          </a:p>
        </p:txBody>
      </p:sp>
      <p:sp>
        <p:nvSpPr>
          <p:cNvPr id="12" name="">
            <a:extLst xmlns:a="http://schemas.openxmlformats.org/drawingml/2006/main">
              <a:ext uri="{FF2B5EF4-FFF2-40B4-BE49-F238E27FC236}">
                <a16:creationId xmlns:a16="http://schemas.microsoft.com/office/drawing/2014/main" id="{16E7DED7-18F5-4CB4-AC2C-A873247C4B1C}"/>
              </a:ext>
            </a:extLst>
          </p:cNvPr>
          <p:cNvSpPr>
            <a:spLocks xmlns:a="http://schemas.openxmlformats.org/drawingml/2006/main" noGrp="1"/>
          </p:cNvSpPr>
          <p:nvPr/>
        </p:nvSpPr>
        <p:spPr>
          <a:xfrm xmlns:a="http://schemas.openxmlformats.org/drawingml/2006/main">
            <a:off x="8524875" y="2714625"/>
            <a:ext cx="333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400"/>
            </a:defPPr>
            <a:lvl1pPr algn="l">
              <a:defRPr sz="2400"/>
            </a:lvl1pPr>
            <a:lvl2pPr algn="l">
              <a:defRPr sz="2400"/>
            </a:lvl2pPr>
            <a:lvl3pPr algn="l">
              <a:defRPr sz="2400"/>
            </a:lvl3pPr>
            <a:lvl4pPr algn="l">
              <a:defRPr sz="2400"/>
            </a:lvl4pPr>
            <a:lvl5pPr algn="l">
              <a:defRPr sz="2400"/>
            </a:lvl5pPr>
            <a:lvl6pPr algn="l">
              <a:defRPr sz="2400"/>
            </a:lvl6pPr>
            <a:lvl7pPr algn="l">
              <a:defRPr sz="2400"/>
            </a:lvl7pPr>
            <a:lvl8pPr algn="l">
              <a:defRPr sz="2400"/>
            </a:lvl8pPr>
            <a:lvl9pPr algn="l">
              <a:defRPr sz="2400"/>
            </a:lvl9pPr>
          </a:lstStyle>
          <a:p xmlns:a="http://schemas.openxmlformats.org/drawingml/2006/main">
            <a:pPr algn="l">
              <a:defRPr sz="2400"/>
            </a:pPr>
            <a:r>
              <a:rPr sz="2400" b="0">
                <a:solidFill>
                  <a:srgbClr val="002676"/>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7B1ECB06-5F54-45C0-98BB-513B5A90B0EE}"/>
              </a:ext>
            </a:extLst>
          </p:cNvPr>
          <p:cNvSpPr>
            <a:spLocks xmlns:a="http://schemas.openxmlformats.org/drawingml/2006/main" noGrp="1"/>
          </p:cNvSpPr>
          <p:nvPr/>
        </p:nvSpPr>
        <p:spPr>
          <a:xfrm xmlns:a="http://schemas.openxmlformats.org/drawingml/2006/main">
            <a:off x="8953500" y="2000250"/>
            <a:ext cx="2428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1">
                <a:solidFill>
                  <a:srgbClr val="002676"/>
                </a:solidFill>
                <a:latin typeface="Arial"/>
                <a:ea typeface="Arial"/>
                <a:cs typeface="Arial"/>
              </a:rPr>
              <a:t>Official test</a:t>
            </a:r>
          </a:p>
        </p:txBody>
      </p:sp>
      <p:sp>
        <p:nvSpPr>
          <p:cNvPr id="14" name="">
            <a:extLst xmlns:a="http://schemas.openxmlformats.org/drawingml/2006/main">
              <a:ext uri="{FF2B5EF4-FFF2-40B4-BE49-F238E27FC236}">
                <a16:creationId xmlns:a16="http://schemas.microsoft.com/office/drawing/2014/main" id="{FFCE9159-EC64-42A4-A34F-7F6A9BB22963}"/>
              </a:ext>
            </a:extLst>
          </p:cNvPr>
          <p:cNvSpPr>
            <a:spLocks xmlns:a="http://schemas.openxmlformats.org/drawingml/2006/main" noGrp="1"/>
          </p:cNvSpPr>
          <p:nvPr/>
        </p:nvSpPr>
        <p:spPr>
          <a:xfrm xmlns:a="http://schemas.openxmlformats.org/drawingml/2006/main">
            <a:off x="8953500" y="2857500"/>
            <a:ext cx="2428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a:defPPr>
            <a:lvl1pPr algn="l">
              <a:defRPr sz="1950"/>
            </a:lvl1pPr>
            <a:lvl2pPr algn="l">
              <a:defRPr sz="1950"/>
            </a:lvl2pPr>
            <a:lvl3pPr algn="l">
              <a:defRPr sz="1950"/>
            </a:lvl3pPr>
            <a:lvl4pPr algn="l">
              <a:defRPr sz="1950"/>
            </a:lvl4pPr>
            <a:lvl5pPr algn="l">
              <a:defRPr sz="1950"/>
            </a:lvl5pPr>
            <a:lvl6pPr algn="l">
              <a:defRPr sz="1950"/>
            </a:lvl6pPr>
            <a:lvl7pPr algn="l">
              <a:defRPr sz="1950"/>
            </a:lvl7pPr>
            <a:lvl8pPr algn="l">
              <a:defRPr sz="1950"/>
            </a:lvl8pPr>
            <a:lvl9pPr algn="l">
              <a:defRPr sz="1950"/>
            </a:lvl9pPr>
          </a:lstStyle>
          <a:p xmlns:a="http://schemas.openxmlformats.org/drawingml/2006/main">
            <a:pPr algn="l">
              <a:defRPr sz="1950"/>
            </a:pPr>
            <a:r>
              <a:rPr sz="1950" b="0">
                <a:solidFill>
                  <a:srgbClr val="595959"/>
                </a:solidFill>
                <a:latin typeface="Arial"/>
                <a:ea typeface="Arial"/>
                <a:cs typeface="Arial"/>
              </a:rPr>
              <a:t>18,800 images</a:t>
            </a:r>
          </a:p>
        </p:txBody>
      </p:sp>
      <p:sp>
        <p:nvSpPr>
          <p:cNvPr id="15" name="">
            <a:extLst xmlns:a="http://schemas.openxmlformats.org/drawingml/2006/main">
              <a:ext uri="{FF2B5EF4-FFF2-40B4-BE49-F238E27FC236}">
                <a16:creationId xmlns:a16="http://schemas.microsoft.com/office/drawing/2014/main" id="{1F9F336E-2D81-49CE-9BD5-C0FE3399CA03}"/>
              </a:ext>
            </a:extLst>
          </p:cNvPr>
          <p:cNvSpPr>
            <a:spLocks xmlns:a="http://schemas.openxmlformats.org/drawingml/2006/main" noGrp="1"/>
          </p:cNvSpPr>
          <p:nvPr/>
        </p:nvSpPr>
        <p:spPr>
          <a:xfrm xmlns:a="http://schemas.openxmlformats.org/drawingml/2006/main">
            <a:off x="666750" y="4238625"/>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a:defPPr>
            <a:lvl1pPr algn="l">
              <a:defRPr sz="2175"/>
            </a:lvl1pPr>
            <a:lvl2pPr algn="l">
              <a:defRPr sz="2175"/>
            </a:lvl2pPr>
            <a:lvl3pPr algn="l">
              <a:defRPr sz="2175"/>
            </a:lvl3pPr>
            <a:lvl4pPr algn="l">
              <a:defRPr sz="2175"/>
            </a:lvl4pPr>
            <a:lvl5pPr algn="l">
              <a:defRPr sz="2175"/>
            </a:lvl5pPr>
            <a:lvl6pPr algn="l">
              <a:defRPr sz="2175"/>
            </a:lvl6pPr>
            <a:lvl7pPr algn="l">
              <a:defRPr sz="2175"/>
            </a:lvl7pPr>
            <a:lvl8pPr algn="l">
              <a:defRPr sz="2175"/>
            </a:lvl8pPr>
            <a:lvl9pPr algn="l">
              <a:defRPr sz="2175"/>
            </a:lvl9pPr>
          </a:lstStyle>
          <a:p xmlns:a="http://schemas.openxmlformats.org/drawingml/2006/main">
            <a:pPr algn="l">
              <a:defRPr sz="2175"/>
            </a:pPr>
            <a:r>
              <a:rPr sz="2175" b="0">
                <a:solidFill>
                  <a:srgbClr val="595959"/>
                </a:solidFill>
                <a:latin typeface="Arial"/>
                <a:ea typeface="Arial"/>
                <a:cs typeface="Arial"/>
              </a:rPr>
              <a:t>Validation selects the checkpoint; calibration selects the confidence rule.</a:t>
            </a:r>
            <a:br>
              <a:rPr sz="2175" b="0">
                <a:solidFill>
                  <a:srgbClr val="595959"/>
                </a:solidFill>
                <a:latin typeface="Arial"/>
                <a:ea typeface="Arial"/>
                <a:cs typeface="Arial"/>
              </a:rPr>
            </a:br>
            <a:r>
              <a:rPr sz="2175" b="0">
                <a:solidFill>
                  <a:srgbClr val="595959"/>
                </a:solidFill>
                <a:latin typeface="Arial"/>
                <a:ea typeface="Arial"/>
                <a:cs typeface="Arial"/>
              </a:rPr>
              <a:t>The standard calibration set is nested inside the enlarged set.</a:t>
            </a:r>
          </a:p>
        </p:txBody>
      </p:sp>
      <p:sp>
        <p:nvSpPr>
          <p:cNvPr id="16" name="">
            <a:extLst xmlns:a="http://schemas.openxmlformats.org/drawingml/2006/main">
              <a:ext uri="{FF2B5EF4-FFF2-40B4-BE49-F238E27FC236}">
                <a16:creationId xmlns:a16="http://schemas.microsoft.com/office/drawing/2014/main" id="{EAA35EDF-CE82-419E-8B5B-C6F5A165CAD9}"/>
              </a:ext>
            </a:extLst>
          </p:cNvPr>
          <p:cNvSpPr>
            <a:spLocks xmlns:a="http://schemas.openxmlformats.org/drawingml/2006/main" noGrp="1"/>
          </p:cNvSpPr>
          <p:nvPr/>
        </p:nvSpPr>
        <p:spPr>
          <a:xfrm xmlns:a="http://schemas.openxmlformats.org/drawingml/2006/main">
            <a:off x="666750" y="58578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a:defPPr>
            <a:lvl1pPr algn="l">
              <a:defRPr sz="1575"/>
            </a:lvl1pPr>
            <a:lvl2pPr algn="l">
              <a:defRPr sz="1575"/>
            </a:lvl2pPr>
            <a:lvl3pPr algn="l">
              <a:defRPr sz="1575"/>
            </a:lvl3pPr>
            <a:lvl4pPr algn="l">
              <a:defRPr sz="1575"/>
            </a:lvl4pPr>
            <a:lvl5pPr algn="l">
              <a:defRPr sz="1575"/>
            </a:lvl5pPr>
            <a:lvl6pPr algn="l">
              <a:defRPr sz="1575"/>
            </a:lvl6pPr>
            <a:lvl7pPr algn="l">
              <a:defRPr sz="1575"/>
            </a:lvl7pPr>
            <a:lvl8pPr algn="l">
              <a:defRPr sz="1575"/>
            </a:lvl8pPr>
            <a:lvl9pPr algn="l">
              <a:defRPr sz="1575"/>
            </a:lvl9pPr>
          </a:lstStyle>
          <a:p xmlns:a="http://schemas.openxmlformats.org/drawingml/2006/main">
            <a:pPr algn="l">
              <a:defRPr sz="1575"/>
            </a:pPr>
            <a:r>
              <a:rPr sz="1575" b="0">
                <a:solidFill>
                  <a:srgbClr val="595959"/>
                </a:solidFill>
                <a:latin typeface="Arial"/>
                <a:ea typeface="Arial"/>
                <a:cs typeface="Arial"/>
              </a:rPr>
              <a:t>Compute: local MPS with CPU/CUDA support. No cloud deployment is claimed.</a:t>
            </a:r>
          </a:p>
        </p:txBody>
      </p:sp>
    </p:spTree>
    <p:extLst>
      <p:ext uri="{BB962C8B-B14F-4D97-AF65-F5344CB8AC3E}">
        <p14:creationId xmlns:p14="http://schemas.microsoft.com/office/powerpoint/2010/main" val="207331150"/>
      </p:ext>
    </p:extLst>
  </p:cSld>
</p:sld>
</file>

<file path=ppt/slides/slide6.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1B0EE18-30E0-4702-82AD-009E21508C58}"/>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550E6C-DC63-4FED-8AEB-4DF6BADDE212}"/>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Temperature scaling lowers clean calibration error</a:t>
            </a:r>
          </a:p>
        </p:txBody>
      </p:sp>
      <p:graphicFrame>
        <p:nvGraphicFramePr>
          <p:cNvPr id="3" name="Chart">
            <a:extLst xmlns:a="http://schemas.openxmlformats.org/drawingml/2006/main">
              <a:ext uri="{FF2B5EF4-FFF2-40B4-BE49-F238E27FC236}">
                <a16:creationId xmlns:a16="http://schemas.microsoft.com/office/drawing/2014/main" id="{1FE49781-2382-4733-A970-462CD3D90372}"/>
              </a:ext>
            </a:extLst>
          </p:cNvPr>
          <p:cNvGraphicFramePr/>
          <p:nvPr/>
        </p:nvGraphicFramePr>
        <p:xfrm>
          <a:off xmlns:a="http://schemas.openxmlformats.org/drawingml/2006/main" x="666750" y="1666875"/>
          <a:ext xmlns:a="http://schemas.openxmlformats.org/drawingml/2006/main" cx="10763250" cy="3905250"/>
        </p:xfrm>
        <a:graphic xmlns:a="http://schemas.openxmlformats.org/drawingml/2006/main">
          <a:graphicData uri="http://schemas.openxmlformats.org/drawingml/2006/chart">
            <c:chart xmlns:r="http://schemas.openxmlformats.org/officeDocument/2006/relationships" xmlns:c="http://schemas.openxmlformats.org/drawingml/2006/chart" r:id="R87e732572765481a"/>
          </a:graphicData>
        </a:graphic>
      </p:graphicFrame>
      <p:sp>
        <p:nvSpPr>
          <p:cNvPr id="4" name="">
            <a:extLst xmlns:a="http://schemas.openxmlformats.org/drawingml/2006/main">
              <a:ext uri="{FF2B5EF4-FFF2-40B4-BE49-F238E27FC236}">
                <a16:creationId xmlns:a16="http://schemas.microsoft.com/office/drawing/2014/main" id="{85F0A859-9EB6-4DA7-984C-61A4796079F0}"/>
              </a:ext>
            </a:extLst>
          </p:cNvPr>
          <p:cNvSpPr>
            <a:spLocks xmlns:a="http://schemas.openxmlformats.org/drawingml/2006/main" noGrp="1"/>
          </p:cNvSpPr>
          <p:nvPr/>
        </p:nvSpPr>
        <p:spPr>
          <a:xfrm xmlns:a="http://schemas.openxmlformats.org/drawingml/2006/main">
            <a:off x="666750" y="58102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a:defPPr>
            <a:lvl1pPr algn="l">
              <a:defRPr sz="1725"/>
            </a:lvl1pPr>
            <a:lvl2pPr algn="l">
              <a:defRPr sz="1725"/>
            </a:lvl2pPr>
            <a:lvl3pPr algn="l">
              <a:defRPr sz="1725"/>
            </a:lvl3pPr>
            <a:lvl4pPr algn="l">
              <a:defRPr sz="1725"/>
            </a:lvl4pPr>
            <a:lvl5pPr algn="l">
              <a:defRPr sz="1725"/>
            </a:lvl5pPr>
            <a:lvl6pPr algn="l">
              <a:defRPr sz="1725"/>
            </a:lvl6pPr>
            <a:lvl7pPr algn="l">
              <a:defRPr sz="1725"/>
            </a:lvl7pPr>
            <a:lvl8pPr algn="l">
              <a:defRPr sz="1725"/>
            </a:lvl8pPr>
            <a:lvl9pPr algn="l">
              <a:defRPr sz="1725"/>
            </a:lvl9pPr>
          </a:lstStyle>
          <a:p xmlns:a="http://schemas.openxmlformats.org/drawingml/2006/main">
            <a:pPr algn="l">
              <a:defRPr sz="1725"/>
            </a:pPr>
            <a:r>
              <a:rPr sz="1725" b="0">
                <a:solidFill>
                  <a:srgbClr val="595959"/>
                </a:solidFill>
                <a:latin typeface="Arial"/>
                <a:ea typeface="Arial"/>
                <a:cs typeface="Arial"/>
              </a:rPr>
              <a:t>15-bin ECE (%) · same checkpoint and class predictions within each task</a:t>
            </a:r>
          </a:p>
        </p:txBody>
      </p:sp>
    </p:spTree>
    <p:extLst>
      <p:ext uri="{BB962C8B-B14F-4D97-AF65-F5344CB8AC3E}">
        <p14:creationId xmlns:p14="http://schemas.microsoft.com/office/powerpoint/2010/main" val="1912482621"/>
      </p:ext>
    </p:extLst>
  </p:cSld>
</p:sld>
</file>

<file path=ppt/slides/slide7.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AE92364-77B6-4BA9-948D-BD3B8153C64C}"/>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D5C2E9-A277-4D94-BCE3-2A47C7617C68}"/>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Five completed ConvNeXt tasks show mixed SDM coverage</a:t>
            </a:r>
          </a:p>
        </p:txBody>
      </p:sp>
      <p:graphicFrame>
        <p:nvGraphicFramePr>
          <p:cNvPr id="3" name="">
            <a:extLst xmlns:a="http://schemas.openxmlformats.org/drawingml/2006/main">
              <a:ext uri="{FF2B5EF4-FFF2-40B4-BE49-F238E27FC236}">
                <a16:creationId xmlns:a16="http://schemas.microsoft.com/office/drawing/2014/main" id="{96E6B567-B9E1-4DE6-BED1-2D8178AB7947}"/>
              </a:ext>
            </a:extLst>
          </p:cNvPr>
          <p:cNvGraphicFramePr/>
          <p:nvPr/>
        </p:nvGraphicFramePr>
        <p:xfrm>
          <a:off xmlns:a="http://schemas.openxmlformats.org/drawingml/2006/main" x="666750" y="1714500"/>
          <a:ext xmlns:a="http://schemas.openxmlformats.org/drawingml/2006/main" cx="10858500" cy="3714750"/>
        </p:xfrm>
        <a:graphic xmlns:a="http://schemas.openxmlformats.org/drawingml/2006/main">
          <a:graphicData uri="http://schemas.openxmlformats.org/drawingml/2006/table">
            <a:tbl>
              <a:tblPr/>
              <a:tblGrid>
                <a:gridCol w="2667000"/>
                <a:gridCol w="1238250"/>
                <a:gridCol w="1714500"/>
                <a:gridCol w="1619250"/>
                <a:gridCol w="3619500"/>
              </a:tblGrid>
              <a:tr h="619125">
                <a:tc>
                  <a:txBody>
                    <a:bodyPr lIns="114300" tIns="114300" rIns="114300" bIns="114300"/>
                    <a:lstStyle/>
                    <a:p>
                      <a:r>
                        <a:rPr sz="1725" b="1">
                          <a:solidFill>
                            <a:srgbClr val="FFFFFF"/>
                          </a:solidFill>
                          <a:latin typeface="Arial"/>
                          <a:ea typeface="Arial"/>
                          <a:cs typeface="Arial"/>
                        </a:rPr>
                        <a:t>Dataset</a:t>
                      </a:r>
                    </a:p>
                  </a:txBody>
                  <a:tcPr marL="91440" marR="91440" marT="45720" marB="45720" anchor="ctr">
                    <a:lnL w="5715">
                      <a:solidFill>
                        <a:srgbClr val="DDDDDD"/>
                      </a:solidFill>
                      <a:prstDash val="solid"/>
                    </a:lnL>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c>
                  <a:txBody>
                    <a:bodyPr lIns="114300" tIns="114300" rIns="114300" bIns="114300"/>
                    <a:lstStyle/>
                    <a:p>
                      <a:r>
                        <a:rPr sz="1725" b="1">
                          <a:solidFill>
                            <a:srgbClr val="FFFFFF"/>
                          </a:solidFill>
                          <a:latin typeface="Arial"/>
                          <a:ea typeface="Arial"/>
                          <a:cs typeface="Arial"/>
                        </a:rPr>
                        <a:t>Classes</a:t>
                      </a:r>
                    </a:p>
                  </a:txBody>
                  <a:tcPr marL="91440" marR="91440" marT="45720" marB="45720" anchor="ctr">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c>
                  <a:txBody>
                    <a:bodyPr lIns="114300" tIns="114300" rIns="114300" bIns="114300"/>
                    <a:lstStyle/>
                    <a:p>
                      <a:r>
                        <a:rPr sz="1725" b="1">
                          <a:solidFill>
                            <a:srgbClr val="FFFFFF"/>
                          </a:solidFill>
                          <a:latin typeface="Arial"/>
                          <a:ea typeface="Arial"/>
                          <a:cs typeface="Arial"/>
                        </a:rPr>
                        <a:t>Test images</a:t>
                      </a:r>
                    </a:p>
                  </a:txBody>
                  <a:tcPr marL="91440" marR="91440" marT="45720" marB="45720" anchor="ctr">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c>
                  <a:txBody>
                    <a:bodyPr lIns="114300" tIns="114300" rIns="114300" bIns="114300"/>
                    <a:lstStyle/>
                    <a:p>
                      <a:r>
                        <a:rPr sz="1725" b="1">
                          <a:solidFill>
                            <a:srgbClr val="FFFFFF"/>
                          </a:solidFill>
                          <a:latin typeface="Arial"/>
                          <a:ea typeface="Arial"/>
                          <a:cs typeface="Arial"/>
                        </a:rPr>
                        <a:t>Accuracy</a:t>
                      </a:r>
                    </a:p>
                  </a:txBody>
                  <a:tcPr marL="91440" marR="91440" marT="45720" marB="45720" anchor="ctr">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c>
                  <a:txBody>
                    <a:bodyPr lIns="114300" tIns="114300" rIns="114300" bIns="114300"/>
                    <a:lstStyle/>
                    <a:p>
                      <a:r>
                        <a:rPr sz="1725" b="1">
                          <a:solidFill>
                            <a:srgbClr val="FFFFFF"/>
                          </a:solidFill>
                          <a:latin typeface="Arial"/>
                          <a:ea typeface="Arial"/>
                          <a:cs typeface="Arial"/>
                        </a:rPr>
                        <a:t>SDM coverage</a:t>
                      </a:r>
                      <a:br>
                        <a:rPr sz="1725" b="1">
                          <a:solidFill>
                            <a:srgbClr val="FFFFFF"/>
                          </a:solidFill>
                          <a:latin typeface="Arial"/>
                          <a:ea typeface="Arial"/>
                          <a:cs typeface="Arial"/>
                        </a:rPr>
                      </a:br>
                      <a:r>
                        <a:rPr sz="1725" b="1">
                          <a:solidFill>
                            <a:srgbClr val="FFFFFF"/>
                          </a:solidFill>
                          <a:latin typeface="Arial"/>
                          <a:ea typeface="Arial"/>
                          <a:cs typeface="Arial"/>
                        </a:rPr>
                        <a:t>25 / 100 per class</a:t>
                      </a:r>
                    </a:p>
                  </a:txBody>
                  <a:tcPr marL="91440" marR="91440" marT="45720" marB="45720" anchor="ctr">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r>
              <a:tr h="619125">
                <a:tc>
                  <a:txBody>
                    <a:bodyPr lIns="114300" tIns="114300" rIns="114300" bIns="114300"/>
                    <a:lstStyle/>
                    <a:p>
                      <a:r>
                        <a:rPr sz="1725" b="0">
                          <a:solidFill>
                            <a:srgbClr val="222222"/>
                          </a:solidFill>
                          <a:latin typeface="Arial"/>
                          <a:ea typeface="Arial"/>
                          <a:cs typeface="Arial"/>
                        </a:rPr>
                        <a:t>CIFAR-100</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100</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10,000</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88.45%</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0.00% / 0.00%</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619125">
                <a:tc>
                  <a:txBody>
                    <a:bodyPr lIns="114300" tIns="114300" rIns="114300" bIns="114300"/>
                    <a:lstStyle/>
                    <a:p>
                      <a:r>
                        <a:rPr sz="1725" b="0">
                          <a:solidFill>
                            <a:srgbClr val="222222"/>
                          </a:solidFill>
                          <a:latin typeface="Arial"/>
                          <a:ea typeface="Arial"/>
                          <a:cs typeface="Arial"/>
                        </a:rPr>
                        <a:t>MNIST</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10</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10,000</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99.65%</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60.69% / 49.81%</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619125">
                <a:tc>
                  <a:txBody>
                    <a:bodyPr lIns="114300" tIns="114300" rIns="114300" bIns="114300"/>
                    <a:lstStyle/>
                    <a:p>
                      <a:r>
                        <a:rPr sz="1725" b="0">
                          <a:solidFill>
                            <a:srgbClr val="222222"/>
                          </a:solidFill>
                          <a:latin typeface="Arial"/>
                          <a:ea typeface="Arial"/>
                          <a:cs typeface="Arial"/>
                        </a:rPr>
                        <a:t>Fashion-MNIST</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10</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10,000</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95.02%</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0.00% / 0.00%</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619125">
                <a:tc>
                  <a:txBody>
                    <a:bodyPr lIns="114300" tIns="114300" rIns="114300" bIns="114300"/>
                    <a:lstStyle/>
                    <a:p>
                      <a:r>
                        <a:rPr sz="1725" b="0">
                          <a:solidFill>
                            <a:srgbClr val="222222"/>
                          </a:solidFill>
                          <a:latin typeface="Arial"/>
                          <a:ea typeface="Arial"/>
                          <a:cs typeface="Arial"/>
                        </a:rPr>
                        <a:t>KMNIST</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10</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10,000</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98.45%</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33.14% / 39.92%</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619125">
                <a:tc>
                  <a:txBody>
                    <a:bodyPr lIns="114300" tIns="114300" rIns="114300" bIns="114300"/>
                    <a:lstStyle/>
                    <a:p>
                      <a:r>
                        <a:rPr sz="1725" b="0">
                          <a:solidFill>
                            <a:srgbClr val="222222"/>
                          </a:solidFill>
                          <a:latin typeface="Arial"/>
                          <a:ea typeface="Arial"/>
                          <a:cs typeface="Arial"/>
                        </a:rPr>
                        <a:t>EMNIST Balanced</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47</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18,800</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90.38%</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0.00% / 0.00%</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F87785E-B6E0-46F7-9AF8-600FEE987E8A}"/>
              </a:ext>
            </a:extLst>
          </p:cNvPr>
          <p:cNvSpPr>
            <a:spLocks xmlns:a="http://schemas.openxmlformats.org/drawingml/2006/main" noGrp="1"/>
          </p:cNvSpPr>
          <p:nvPr/>
        </p:nvSpPr>
        <p:spPr>
          <a:xfrm xmlns:a="http://schemas.openxmlformats.org/drawingml/2006/main">
            <a:off x="666750" y="57150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a:defPPr>
            <a:lvl1pPr algn="l">
              <a:defRPr sz="1725"/>
            </a:lvl1pPr>
            <a:lvl2pPr algn="l">
              <a:defRPr sz="1725"/>
            </a:lvl2pPr>
            <a:lvl3pPr algn="l">
              <a:defRPr sz="1725"/>
            </a:lvl3pPr>
            <a:lvl4pPr algn="l">
              <a:defRPr sz="1725"/>
            </a:lvl4pPr>
            <a:lvl5pPr algn="l">
              <a:defRPr sz="1725"/>
            </a:lvl5pPr>
            <a:lvl6pPr algn="l">
              <a:defRPr sz="1725"/>
            </a:lvl6pPr>
            <a:lvl7pPr algn="l">
              <a:defRPr sz="1725"/>
            </a:lvl7pPr>
            <a:lvl8pPr algn="l">
              <a:defRPr sz="1725"/>
            </a:lvl8pPr>
            <a:lvl9pPr algn="l">
              <a:defRPr sz="1725"/>
            </a:lvl9pPr>
          </a:lstStyle>
          <a:p xmlns:a="http://schemas.openxmlformats.org/drawingml/2006/main">
            <a:pPr algn="l">
              <a:defRPr sz="1725"/>
            </a:pPr>
            <a:r>
              <a:rPr sz="1725" b="0">
                <a:solidFill>
                  <a:srgbClr val="595959"/>
                </a:solidFill>
                <a:latin typeface="Arial"/>
                <a:ea typeface="Arial"/>
                <a:cs typeface="Arial"/>
              </a:rPr>
              <a:t>ResNet is reported separately on validation; its results are not pooled with these test populations.</a:t>
            </a:r>
          </a:p>
        </p:txBody>
      </p:sp>
    </p:spTree>
    <p:extLst>
      <p:ext uri="{BB962C8B-B14F-4D97-AF65-F5344CB8AC3E}">
        <p14:creationId xmlns:p14="http://schemas.microsoft.com/office/powerpoint/2010/main" val="1656784063"/>
      </p:ext>
    </p:extLst>
  </p:cSld>
</p:sld>
</file>

<file path=ppt/slides/slide8.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D322D4F-01D5-4D1A-B6E6-E353BF078816}"/>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EF1AD3-734B-4919-A2BF-3F16ED7B7DDF}"/>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EMNIST ranking improves while both SDM regions stay empty</a:t>
            </a:r>
          </a:p>
        </p:txBody>
      </p:sp>
      <p:pic>
        <p:nvPicPr>
          <p:cNvPr id="3" name="">
            <a:extLst xmlns:a="http://schemas.openxmlformats.org/drawingml/2006/main">
              <a:ext uri="{FF2B5EF4-FFF2-40B4-BE49-F238E27FC236}">
                <a16:creationId xmlns:a16="http://schemas.microsoft.com/office/drawing/2014/main" id="{77BC512C-D2DE-44C6-891C-6F6B6C874ED5}"/>
              </a:ext>
            </a:extLst>
          </p:cNvPr>
          <p:cNvPicPr>
            <a:picLocks xmlns:a="http://schemas.openxmlformats.org/drawingml/2006/main" noChangeAspect="1"/>
          </p:cNvPicPr>
          <p:nvPr/>
        </p:nvPicPr>
        <p:blipFill>
          <a:blip xmlns:r="http://schemas.openxmlformats.org/officeDocument/2006/relationships" xmlns:a="http://schemas.openxmlformats.org/drawingml/2006/main" r:embed="R7f4b2b2412db438a"/>
          <a:stretch xmlns:a="http://schemas.openxmlformats.org/drawingml/2006/main"/>
        </p:blipFill>
        <p:spPr>
          <a:xfrm xmlns:a="http://schemas.openxmlformats.org/drawingml/2006/main">
            <a:off x="1190743" y="1524000"/>
            <a:ext cx="9810513" cy="4333875"/>
          </a:xfrm>
          <a:prstGeom xmlns:a="http://schemas.openxmlformats.org/drawingml/2006/main" prst="rect">
            <a:avLst/>
          </a:prstGeom>
        </p:spPr>
      </p:pic>
    </p:spTree>
    <p:extLst>
      <p:ext uri="{BB962C8B-B14F-4D97-AF65-F5344CB8AC3E}">
        <p14:creationId xmlns:p14="http://schemas.microsoft.com/office/powerpoint/2010/main" val="1050523994"/>
      </p:ext>
    </p:extLst>
  </p:cSld>
</p:sld>
</file>

<file path=ppt/slides/slide9.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D3E903D-7C6B-487B-B26E-3B19FB9060B7}"/>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FE39B0-FCBF-423E-8E5A-5C391E7D3310}"/>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A 95% calibration target can miss on held-out data</a:t>
            </a:r>
          </a:p>
        </p:txBody>
      </p:sp>
      <p:graphicFrame>
        <p:nvGraphicFramePr>
          <p:cNvPr id="3" name="">
            <a:extLst xmlns:a="http://schemas.openxmlformats.org/drawingml/2006/main">
              <a:ext uri="{FF2B5EF4-FFF2-40B4-BE49-F238E27FC236}">
                <a16:creationId xmlns:a16="http://schemas.microsoft.com/office/drawing/2014/main" id="{3CF66A5C-3107-4F79-81BF-A87B3571E5E2}"/>
              </a:ext>
            </a:extLst>
          </p:cNvPr>
          <p:cNvGraphicFramePr/>
          <p:nvPr/>
        </p:nvGraphicFramePr>
        <p:xfrm>
          <a:off xmlns:a="http://schemas.openxmlformats.org/drawingml/2006/main" x="666750" y="1714500"/>
          <a:ext xmlns:a="http://schemas.openxmlformats.org/drawingml/2006/main" cx="10858500" cy="3714750"/>
        </p:xfrm>
        <a:graphic xmlns:a="http://schemas.openxmlformats.org/drawingml/2006/main">
          <a:graphicData uri="http://schemas.openxmlformats.org/drawingml/2006/table">
            <a:tbl>
              <a:tblPr/>
              <a:tblGrid>
                <a:gridCol w="2762250"/>
                <a:gridCol w="2000250"/>
                <a:gridCol w="2000250"/>
                <a:gridCol w="2047875"/>
                <a:gridCol w="2047875"/>
              </a:tblGrid>
              <a:tr h="619125">
                <a:tc>
                  <a:txBody>
                    <a:bodyPr lIns="114300" tIns="114300" rIns="114300" bIns="114300"/>
                    <a:lstStyle/>
                    <a:p>
                      <a:r>
                        <a:rPr sz="1725" b="1">
                          <a:solidFill>
                            <a:srgbClr val="FFFFFF"/>
                          </a:solidFill>
                          <a:latin typeface="Arial"/>
                          <a:ea typeface="Arial"/>
                          <a:cs typeface="Arial"/>
                        </a:rPr>
                        <a:t>Dataset</a:t>
                      </a:r>
                    </a:p>
                  </a:txBody>
                  <a:tcPr marL="91440" marR="91440" marT="45720" marB="45720" anchor="ctr">
                    <a:lnL w="5715">
                      <a:solidFill>
                        <a:srgbClr val="DDDDDD"/>
                      </a:solidFill>
                      <a:prstDash val="solid"/>
                    </a:lnL>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c>
                  <a:txBody>
                    <a:bodyPr lIns="114300" tIns="114300" rIns="114300" bIns="114300"/>
                    <a:lstStyle/>
                    <a:p>
                      <a:r>
                        <a:rPr sz="1725" b="1">
                          <a:solidFill>
                            <a:srgbClr val="FFFFFF"/>
                          </a:solidFill>
                          <a:latin typeface="Arial"/>
                          <a:ea typeface="Arial"/>
                          <a:cs typeface="Arial"/>
                        </a:rPr>
                        <a:t>Coverage</a:t>
                      </a:r>
                      <a:br>
                        <a:rPr sz="1725" b="1">
                          <a:solidFill>
                            <a:srgbClr val="FFFFFF"/>
                          </a:solidFill>
                          <a:latin typeface="Arial"/>
                          <a:ea typeface="Arial"/>
                          <a:cs typeface="Arial"/>
                        </a:rPr>
                      </a:br>
                      <a:r>
                        <a:rPr sz="1725" b="1">
                          <a:solidFill>
                            <a:srgbClr val="FFFFFF"/>
                          </a:solidFill>
                          <a:latin typeface="Arial"/>
                          <a:ea typeface="Arial"/>
                          <a:cs typeface="Arial"/>
                        </a:rPr>
                        <a:t>25/class</a:t>
                      </a:r>
                    </a:p>
                  </a:txBody>
                  <a:tcPr marL="91440" marR="91440" marT="45720" marB="45720" anchor="ctr">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c>
                  <a:txBody>
                    <a:bodyPr lIns="114300" tIns="114300" rIns="114300" bIns="114300"/>
                    <a:lstStyle/>
                    <a:p>
                      <a:r>
                        <a:rPr sz="1725" b="1">
                          <a:solidFill>
                            <a:srgbClr val="FFFFFF"/>
                          </a:solidFill>
                          <a:latin typeface="Arial"/>
                          <a:ea typeface="Arial"/>
                          <a:cs typeface="Arial"/>
                        </a:rPr>
                        <a:t>Accuracy</a:t>
                      </a:r>
                      <a:br>
                        <a:rPr sz="1725" b="1">
                          <a:solidFill>
                            <a:srgbClr val="FFFFFF"/>
                          </a:solidFill>
                          <a:latin typeface="Arial"/>
                          <a:ea typeface="Arial"/>
                          <a:cs typeface="Arial"/>
                        </a:rPr>
                      </a:br>
                      <a:r>
                        <a:rPr sz="1725" b="1">
                          <a:solidFill>
                            <a:srgbClr val="FFFFFF"/>
                          </a:solidFill>
                          <a:latin typeface="Arial"/>
                          <a:ea typeface="Arial"/>
                          <a:cs typeface="Arial"/>
                        </a:rPr>
                        <a:t>25/class</a:t>
                      </a:r>
                    </a:p>
                  </a:txBody>
                  <a:tcPr marL="91440" marR="91440" marT="45720" marB="45720" anchor="ctr">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c>
                  <a:txBody>
                    <a:bodyPr lIns="114300" tIns="114300" rIns="114300" bIns="114300"/>
                    <a:lstStyle/>
                    <a:p>
                      <a:r>
                        <a:rPr sz="1725" b="1">
                          <a:solidFill>
                            <a:srgbClr val="FFFFFF"/>
                          </a:solidFill>
                          <a:latin typeface="Arial"/>
                          <a:ea typeface="Arial"/>
                          <a:cs typeface="Arial"/>
                        </a:rPr>
                        <a:t>Coverage</a:t>
                      </a:r>
                      <a:br>
                        <a:rPr sz="1725" b="1">
                          <a:solidFill>
                            <a:srgbClr val="FFFFFF"/>
                          </a:solidFill>
                          <a:latin typeface="Arial"/>
                          <a:ea typeface="Arial"/>
                          <a:cs typeface="Arial"/>
                        </a:rPr>
                      </a:br>
                      <a:r>
                        <a:rPr sz="1725" b="1">
                          <a:solidFill>
                            <a:srgbClr val="FFFFFF"/>
                          </a:solidFill>
                          <a:latin typeface="Arial"/>
                          <a:ea typeface="Arial"/>
                          <a:cs typeface="Arial"/>
                        </a:rPr>
                        <a:t>100/class</a:t>
                      </a:r>
                    </a:p>
                  </a:txBody>
                  <a:tcPr marL="91440" marR="91440" marT="45720" marB="45720" anchor="ctr">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c>
                  <a:txBody>
                    <a:bodyPr lIns="114300" tIns="114300" rIns="114300" bIns="114300"/>
                    <a:lstStyle/>
                    <a:p>
                      <a:r>
                        <a:rPr sz="1725" b="1">
                          <a:solidFill>
                            <a:srgbClr val="FFFFFF"/>
                          </a:solidFill>
                          <a:latin typeface="Arial"/>
                          <a:ea typeface="Arial"/>
                          <a:cs typeface="Arial"/>
                        </a:rPr>
                        <a:t>Accuracy</a:t>
                      </a:r>
                      <a:br>
                        <a:rPr sz="1725" b="1">
                          <a:solidFill>
                            <a:srgbClr val="FFFFFF"/>
                          </a:solidFill>
                          <a:latin typeface="Arial"/>
                          <a:ea typeface="Arial"/>
                          <a:cs typeface="Arial"/>
                        </a:rPr>
                      </a:br>
                      <a:r>
                        <a:rPr sz="1725" b="1">
                          <a:solidFill>
                            <a:srgbClr val="FFFFFF"/>
                          </a:solidFill>
                          <a:latin typeface="Arial"/>
                          <a:ea typeface="Arial"/>
                          <a:cs typeface="Arial"/>
                        </a:rPr>
                        <a:t>100/class</a:t>
                      </a:r>
                    </a:p>
                  </a:txBody>
                  <a:tcPr marL="91440" marR="91440" marT="45720" marB="45720" anchor="ctr">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r>
              <a:tr h="619125">
                <a:tc>
                  <a:txBody>
                    <a:bodyPr lIns="114300" tIns="114300" rIns="114300" bIns="114300"/>
                    <a:lstStyle/>
                    <a:p>
                      <a:r>
                        <a:rPr sz="1725" b="0">
                          <a:solidFill>
                            <a:srgbClr val="222222"/>
                          </a:solidFill>
                          <a:latin typeface="Arial"/>
                          <a:ea typeface="Arial"/>
                          <a:cs typeface="Arial"/>
                        </a:rPr>
                        <a:t>CIFAR-100</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85.09%</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95.06%</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84.88%</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95.11%</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619125">
                <a:tc>
                  <a:txBody>
                    <a:bodyPr lIns="114300" tIns="114300" rIns="114300" bIns="114300"/>
                    <a:lstStyle/>
                    <a:p>
                      <a:r>
                        <a:rPr sz="1725" b="0">
                          <a:solidFill>
                            <a:srgbClr val="222222"/>
                          </a:solidFill>
                          <a:latin typeface="Arial"/>
                          <a:ea typeface="Arial"/>
                          <a:cs typeface="Arial"/>
                        </a:rPr>
                        <a:t>MNIST</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99.81%</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99.70%</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99.97%</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99.66%</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619125">
                <a:tc>
                  <a:txBody>
                    <a:bodyPr lIns="114300" tIns="114300" rIns="114300" bIns="114300"/>
                    <a:lstStyle/>
                    <a:p>
                      <a:r>
                        <a:rPr sz="1725" b="0">
                          <a:solidFill>
                            <a:srgbClr val="222222"/>
                          </a:solidFill>
                          <a:latin typeface="Arial"/>
                          <a:ea typeface="Arial"/>
                          <a:cs typeface="Arial"/>
                        </a:rPr>
                        <a:t>Fashion-MNIST</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99.60%</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95.24%</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98.05%</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96.03%</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619125">
                <a:tc>
                  <a:txBody>
                    <a:bodyPr lIns="114300" tIns="114300" rIns="114300" bIns="114300"/>
                    <a:lstStyle/>
                    <a:p>
                      <a:r>
                        <a:rPr sz="1725" b="0">
                          <a:solidFill>
                            <a:srgbClr val="222222"/>
                          </a:solidFill>
                          <a:latin typeface="Arial"/>
                          <a:ea typeface="Arial"/>
                          <a:cs typeface="Arial"/>
                        </a:rPr>
                        <a:t>KMNIST</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99.48%</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98.73%</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99.85%</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98.57%</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619125">
                <a:tc>
                  <a:txBody>
                    <a:bodyPr lIns="114300" tIns="114300" rIns="114300" bIns="114300"/>
                    <a:lstStyle/>
                    <a:p>
                      <a:r>
                        <a:rPr sz="1725" b="0">
                          <a:solidFill>
                            <a:srgbClr val="222222"/>
                          </a:solidFill>
                          <a:latin typeface="Arial"/>
                          <a:ea typeface="Arial"/>
                          <a:cs typeface="Arial"/>
                        </a:rPr>
                        <a:t>EMNIST Balanced</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84.63%</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96.17%</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89.81%</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94.56%</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5C00643-3444-41D2-A911-2803C86921A0}"/>
              </a:ext>
            </a:extLst>
          </p:cNvPr>
          <p:cNvSpPr>
            <a:spLocks xmlns:a="http://schemas.openxmlformats.org/drawingml/2006/main" noGrp="1"/>
          </p:cNvSpPr>
          <p:nvPr/>
        </p:nvSpPr>
        <p:spPr>
          <a:xfrm xmlns:a="http://schemas.openxmlformats.org/drawingml/2006/main">
            <a:off x="666750" y="57435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a:defPPr>
            <a:lvl1pPr algn="l">
              <a:defRPr sz="1725"/>
            </a:lvl1pPr>
            <a:lvl2pPr algn="l">
              <a:defRPr sz="1725"/>
            </a:lvl2pPr>
            <a:lvl3pPr algn="l">
              <a:defRPr sz="1725"/>
            </a:lvl3pPr>
            <a:lvl4pPr algn="l">
              <a:defRPr sz="1725"/>
            </a:lvl4pPr>
            <a:lvl5pPr algn="l">
              <a:defRPr sz="1725"/>
            </a:lvl5pPr>
            <a:lvl6pPr algn="l">
              <a:defRPr sz="1725"/>
            </a:lvl6pPr>
            <a:lvl7pPr algn="l">
              <a:defRPr sz="1725"/>
            </a:lvl7pPr>
            <a:lvl8pPr algn="l">
              <a:defRPr sz="1725"/>
            </a:lvl8pPr>
            <a:lvl9pPr algn="l">
              <a:defRPr sz="1725"/>
            </a:lvl9pPr>
          </a:lstStyle>
          <a:p xmlns:a="http://schemas.openxmlformats.org/drawingml/2006/main">
            <a:pPr algn="l">
              <a:defRPr sz="1725"/>
            </a:pPr>
            <a:r>
              <a:rPr sz="1725" b="0">
                <a:solidFill>
                  <a:srgbClr val="595959"/>
                </a:solidFill>
                <a:latin typeface="Arial"/>
                <a:ea typeface="Arial"/>
                <a:cs typeface="Arial"/>
              </a:rPr>
              <a:t>Temperature-scaled softmax rules; exact counts and Wilson intervals are in the write-up.</a:t>
            </a:r>
          </a:p>
        </p:txBody>
      </p:sp>
    </p:spTree>
    <p:extLst>
      <p:ext uri="{BB962C8B-B14F-4D97-AF65-F5344CB8AC3E}">
        <p14:creationId xmlns:p14="http://schemas.microsoft.com/office/powerpoint/2010/main" val="682142927"/>
      </p:ext>
    </p:extLst>
  </p:cSld>
</p:sld>
</file>

<file path=ppt/slides/slide10.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B9D1C61-D6EB-41AD-B237-969C253403F9}"/>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C3F72C-41E8-4932-9DB5-2D17B2111B06}"/>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High-confidence CIFAR errors remain after temperature scaling</a:t>
            </a:r>
          </a:p>
        </p:txBody>
      </p:sp>
      <p:pic>
        <p:nvPicPr>
          <p:cNvPr id="3" name="">
            <a:extLst xmlns:a="http://schemas.openxmlformats.org/drawingml/2006/main">
              <a:ext uri="{FF2B5EF4-FFF2-40B4-BE49-F238E27FC236}">
                <a16:creationId xmlns:a16="http://schemas.microsoft.com/office/drawing/2014/main" id="{85CB2801-2092-448B-93D6-A0B6FC3367EA}"/>
              </a:ext>
            </a:extLst>
          </p:cNvPr>
          <p:cNvPicPr>
            <a:picLocks xmlns:a="http://schemas.openxmlformats.org/drawingml/2006/main" noChangeAspect="1"/>
          </p:cNvPicPr>
          <p:nvPr/>
        </p:nvPicPr>
        <p:blipFill>
          <a:blip xmlns:r="http://schemas.openxmlformats.org/officeDocument/2006/relationships" xmlns:a="http://schemas.openxmlformats.org/drawingml/2006/main" r:embed="R9b62c9c8e26245df"/>
          <a:stretch xmlns:a="http://schemas.openxmlformats.org/drawingml/2006/main"/>
        </p:blipFill>
        <p:spPr>
          <a:xfrm xmlns:a="http://schemas.openxmlformats.org/drawingml/2006/main">
            <a:off x="738188" y="1666875"/>
            <a:ext cx="10715625" cy="4048125"/>
          </a:xfrm>
          <a:prstGeom xmlns:a="http://schemas.openxmlformats.org/drawingml/2006/main" prst="rect">
            <a:avLst/>
          </a:prstGeom>
        </p:spPr>
      </p:pic>
    </p:spTree>
    <p:extLst>
      <p:ext uri="{BB962C8B-B14F-4D97-AF65-F5344CB8AC3E}">
        <p14:creationId xmlns:p14="http://schemas.microsoft.com/office/powerpoint/2010/main" val="975101754"/>
      </p:ext>
    </p:extLst>
  </p:cSld>
</p:sld>
</file>

<file path=ppt/slides/slide11.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CC66C4-9900-47CB-8568-1418162FD0A9}"/>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D363121-41BC-4A6D-9C1D-7B5535B0F254}"/>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The audit changed how the evidence can be used</a:t>
            </a:r>
          </a:p>
        </p:txBody>
      </p:sp>
      <p:sp>
        <p:nvSpPr>
          <p:cNvPr id="3" name="">
            <a:extLst xmlns:a="http://schemas.openxmlformats.org/drawingml/2006/main">
              <a:ext uri="{FF2B5EF4-FFF2-40B4-BE49-F238E27FC236}">
                <a16:creationId xmlns:a16="http://schemas.microsoft.com/office/drawing/2014/main" id="{11BCEC07-1583-4282-A019-408D77F63E64}"/>
              </a:ext>
            </a:extLst>
          </p:cNvPr>
          <p:cNvSpPr>
            <a:spLocks xmlns:a="http://schemas.openxmlformats.org/drawingml/2006/main" noGrp="1"/>
          </p:cNvSpPr>
          <p:nvPr/>
        </p:nvSpPr>
        <p:spPr>
          <a:xfrm xmlns:a="http://schemas.openxmlformats.org/drawingml/2006/main">
            <a:off x="666750" y="18097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1">
                <a:solidFill>
                  <a:srgbClr val="002676"/>
                </a:solidFill>
                <a:latin typeface="Arial"/>
                <a:ea typeface="Arial"/>
                <a:cs typeface="Arial"/>
              </a:rPr>
              <a:t>Corrected</a:t>
            </a:r>
          </a:p>
        </p:txBody>
      </p:sp>
      <p:sp>
        <p:nvSpPr>
          <p:cNvPr id="4" name="">
            <a:extLst xmlns:a="http://schemas.openxmlformats.org/drawingml/2006/main">
              <a:ext uri="{FF2B5EF4-FFF2-40B4-BE49-F238E27FC236}">
                <a16:creationId xmlns:a16="http://schemas.microsoft.com/office/drawing/2014/main" id="{3EE2EDFB-1C7A-427C-8466-DA11B48D744F}"/>
              </a:ext>
            </a:extLst>
          </p:cNvPr>
          <p:cNvSpPr>
            <a:spLocks xmlns:a="http://schemas.openxmlformats.org/drawingml/2006/main" noGrp="1"/>
          </p:cNvSpPr>
          <p:nvPr/>
        </p:nvSpPr>
        <p:spPr>
          <a:xfrm xmlns:a="http://schemas.openxmlformats.org/drawingml/2006/main">
            <a:off x="666750" y="2667000"/>
            <a:ext cx="5143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a:defPPr>
            <a:lvl1pPr algn="l">
              <a:defRPr sz="2175"/>
            </a:lvl1pPr>
            <a:lvl2pPr algn="l">
              <a:defRPr sz="2175"/>
            </a:lvl2pPr>
            <a:lvl3pPr algn="l">
              <a:defRPr sz="2175"/>
            </a:lvl3pPr>
            <a:lvl4pPr algn="l">
              <a:defRPr sz="2175"/>
            </a:lvl4pPr>
            <a:lvl5pPr algn="l">
              <a:defRPr sz="2175"/>
            </a:lvl5pPr>
            <a:lvl6pPr algn="l">
              <a:defRPr sz="2175"/>
            </a:lvl6pPr>
            <a:lvl7pPr algn="l">
              <a:defRPr sz="2175"/>
            </a:lvl7pPr>
            <a:lvl8pPr algn="l">
              <a:defRPr sz="2175"/>
            </a:lvl8pPr>
            <a:lvl9pPr algn="l">
              <a:defRPr sz="2175"/>
            </a:lvl9pPr>
          </a:lstStyle>
          <a:p xmlns:a="http://schemas.openxmlformats.org/drawingml/2006/main">
            <a:pPr algn="l">
              <a:defRPr sz="2175"/>
            </a:pPr>
            <a:r>
              <a:rPr sz="2175" b="0">
                <a:solidFill>
                  <a:srgbClr val="595959"/>
                </a:solidFill>
                <a:latin typeface="Arial"/>
                <a:ea typeface="Arial"/>
                <a:cs typeface="Arial"/>
              </a:rPr>
              <a:t>Whole-score-group thresholds and risk curves</a:t>
            </a:r>
            <a:br>
              <a:rPr sz="2175" b="0">
                <a:solidFill>
                  <a:srgbClr val="595959"/>
                </a:solidFill>
                <a:latin typeface="Arial"/>
                <a:ea typeface="Arial"/>
                <a:cs typeface="Arial"/>
              </a:rPr>
            </a:br>
            <a:r>
              <a:rPr sz="2175" b="0">
                <a:solidFill>
                  <a:srgbClr val="595959"/>
                </a:solidFill>
                <a:latin typeface="Arial"/>
                <a:ea typeface="Arial"/>
                <a:cs typeface="Arial"/>
              </a:rPr>
              <a:t>Calibration-only matched coverage</a:t>
            </a:r>
            <a:br>
              <a:rPr sz="2175" b="0">
                <a:solidFill>
                  <a:srgbClr val="595959"/>
                </a:solidFill>
                <a:latin typeface="Arial"/>
                <a:ea typeface="Arial"/>
                <a:cs typeface="Arial"/>
              </a:rPr>
            </a:br>
            <a:r>
              <a:rPr sz="2175" b="0">
                <a:solidFill>
                  <a:srgbClr val="595959"/>
                </a:solidFill>
                <a:latin typeface="Arial"/>
                <a:ea typeface="Arial"/>
                <a:cs typeface="Arial"/>
              </a:rPr>
              <a:t>Cached calibration identity checks</a:t>
            </a:r>
            <a:br>
              <a:rPr sz="2175" b="0">
                <a:solidFill>
                  <a:srgbClr val="595959"/>
                </a:solidFill>
                <a:latin typeface="Arial"/>
                <a:ea typeface="Arial"/>
                <a:cs typeface="Arial"/>
              </a:rPr>
            </a:br>
            <a:r>
              <a:rPr sz="2175" b="0">
                <a:solidFill>
                  <a:srgbClr val="595959"/>
                </a:solidFill>
                <a:latin typeface="Arial"/>
                <a:ea typeface="Arial"/>
                <a:cs typeface="Arial"/>
              </a:rPr>
              <a:t>Empty regions and small galleries</a:t>
            </a:r>
          </a:p>
        </p:txBody>
      </p:sp>
      <p:sp>
        <p:nvSpPr>
          <p:cNvPr id="5" name="">
            <a:extLst xmlns:a="http://schemas.openxmlformats.org/drawingml/2006/main">
              <a:ext uri="{FF2B5EF4-FFF2-40B4-BE49-F238E27FC236}">
                <a16:creationId xmlns:a16="http://schemas.microsoft.com/office/drawing/2014/main" id="{AD09FC0C-B0B3-4652-AF85-235E4CFC930A}"/>
              </a:ext>
            </a:extLst>
          </p:cNvPr>
          <p:cNvSpPr>
            <a:spLocks xmlns:a="http://schemas.openxmlformats.org/drawingml/2006/main" noGrp="1"/>
          </p:cNvSpPr>
          <p:nvPr/>
        </p:nvSpPr>
        <p:spPr>
          <a:xfrm xmlns:a="http://schemas.openxmlformats.org/drawingml/2006/main">
            <a:off x="6477000" y="18097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1">
                <a:solidFill>
                  <a:srgbClr val="002676"/>
                </a:solidFill>
                <a:latin typeface="Arial"/>
                <a:ea typeface="Arial"/>
                <a:cs typeface="Arial"/>
              </a:rPr>
              <a:t>Still limited</a:t>
            </a:r>
          </a:p>
        </p:txBody>
      </p:sp>
      <p:sp>
        <p:nvSpPr>
          <p:cNvPr id="6" name="">
            <a:extLst xmlns:a="http://schemas.openxmlformats.org/drawingml/2006/main">
              <a:ext uri="{FF2B5EF4-FFF2-40B4-BE49-F238E27FC236}">
                <a16:creationId xmlns:a16="http://schemas.microsoft.com/office/drawing/2014/main" id="{A23C86DD-3B24-4C17-A1DF-19591C2F8348}"/>
              </a:ext>
            </a:extLst>
          </p:cNvPr>
          <p:cNvSpPr>
            <a:spLocks xmlns:a="http://schemas.openxmlformats.org/drawingml/2006/main" noGrp="1"/>
          </p:cNvSpPr>
          <p:nvPr/>
        </p:nvSpPr>
        <p:spPr>
          <a:xfrm xmlns:a="http://schemas.openxmlformats.org/drawingml/2006/main">
            <a:off x="6477000" y="2667000"/>
            <a:ext cx="4762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a:defPPr>
            <a:lvl1pPr algn="l">
              <a:defRPr sz="2175"/>
            </a:lvl1pPr>
            <a:lvl2pPr algn="l">
              <a:defRPr sz="2175"/>
            </a:lvl2pPr>
            <a:lvl3pPr algn="l">
              <a:defRPr sz="2175"/>
            </a:lvl3pPr>
            <a:lvl4pPr algn="l">
              <a:defRPr sz="2175"/>
            </a:lvl4pPr>
            <a:lvl5pPr algn="l">
              <a:defRPr sz="2175"/>
            </a:lvl5pPr>
            <a:lvl6pPr algn="l">
              <a:defRPr sz="2175"/>
            </a:lvl6pPr>
            <a:lvl7pPr algn="l">
              <a:defRPr sz="2175"/>
            </a:lvl7pPr>
            <a:lvl8pPr algn="l">
              <a:defRPr sz="2175"/>
            </a:lvl8pPr>
            <a:lvl9pPr algn="l">
              <a:defRPr sz="2175"/>
            </a:lvl9pPr>
          </a:lstStyle>
          <a:p xmlns:a="http://schemas.openxmlformats.org/drawingml/2006/main">
            <a:pPr algn="l">
              <a:defRPr sz="2175"/>
            </a:pPr>
            <a:r>
              <a:rPr sz="2175" b="0">
                <a:solidFill>
                  <a:srgbClr val="595959"/>
                </a:solidFill>
                <a:latin typeface="Arial"/>
                <a:ea typeface="Arial"/>
                <a:cs typeface="Arial"/>
              </a:rPr>
              <a:t>One seed per completed task</a:t>
            </a:r>
            <a:br>
              <a:rPr sz="2175" b="0">
                <a:solidFill>
                  <a:srgbClr val="595959"/>
                </a:solidFill>
                <a:latin typeface="Arial"/>
                <a:ea typeface="Arial"/>
                <a:cs typeface="Arial"/>
              </a:rPr>
            </a:br>
            <a:r>
              <a:rPr sz="2175" b="0">
                <a:solidFill>
                  <a:srgbClr val="595959"/>
                </a:solidFill>
                <a:latin typeface="Arial"/>
                <a:ea typeface="Arial"/>
                <a:cs typeface="Arial"/>
              </a:rPr>
              <a:t>Different ResNet / ConvNeXt populations</a:t>
            </a:r>
            <a:br>
              <a:rPr sz="2175" b="0">
                <a:solidFill>
                  <a:srgbClr val="595959"/>
                </a:solidFill>
                <a:latin typeface="Arial"/>
                <a:ea typeface="Arial"/>
                <a:cs typeface="Arial"/>
              </a:rPr>
            </a:br>
            <a:r>
              <a:rPr sz="2175" b="0">
                <a:solidFill>
                  <a:srgbClr val="595959"/>
                </a:solidFill>
                <a:latin typeface="Arial"/>
                <a:ea typeface="Arial"/>
                <a:cs typeface="Arial"/>
              </a:rPr>
              <a:t>Historical test exploration</a:t>
            </a:r>
            <a:br>
              <a:rPr sz="2175" b="0">
                <a:solidFill>
                  <a:srgbClr val="595959"/>
                </a:solidFill>
                <a:latin typeface="Arial"/>
                <a:ea typeface="Arial"/>
                <a:cs typeface="Arial"/>
              </a:rPr>
            </a:br>
            <a:r>
              <a:rPr sz="2175" b="0">
                <a:solidFill>
                  <a:srgbClr val="595959"/>
                </a:solidFill>
                <a:latin typeface="Arial"/>
                <a:ea typeface="Arial"/>
                <a:cs typeface="Arial"/>
              </a:rPr>
              <a:t>No completed matched shift benchmark</a:t>
            </a:r>
          </a:p>
        </p:txBody>
      </p:sp>
    </p:spTree>
    <p:extLst>
      <p:ext uri="{BB962C8B-B14F-4D97-AF65-F5344CB8AC3E}">
        <p14:creationId xmlns:p14="http://schemas.microsoft.com/office/powerpoint/2010/main" val="177883222"/>
      </p:ext>
    </p:extLst>
  </p:cSld>
</p:sld>
</file>

<file path=ppt/slides/slide12.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130BC3F-B36E-4746-BBD7-6A8DE6C9E7A2}"/>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1A5B3C-8A2B-4F90-8B96-4DC3E8B1307E}"/>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Remaining work and proposed owners</a:t>
            </a:r>
          </a:p>
        </p:txBody>
      </p:sp>
      <p:graphicFrame>
        <p:nvGraphicFramePr>
          <p:cNvPr id="3" name="">
            <a:extLst xmlns:a="http://schemas.openxmlformats.org/drawingml/2006/main">
              <a:ext uri="{FF2B5EF4-FFF2-40B4-BE49-F238E27FC236}">
                <a16:creationId xmlns:a16="http://schemas.microsoft.com/office/drawing/2014/main" id="{01C918BE-41A7-4B04-B50B-CFBD9A268293}"/>
              </a:ext>
            </a:extLst>
          </p:cNvPr>
          <p:cNvGraphicFramePr/>
          <p:nvPr/>
        </p:nvGraphicFramePr>
        <p:xfrm>
          <a:off xmlns:a="http://schemas.openxmlformats.org/drawingml/2006/main" x="666750" y="1809750"/>
          <a:ext xmlns:a="http://schemas.openxmlformats.org/drawingml/2006/main" cx="10858500" cy="3048000"/>
        </p:xfrm>
        <a:graphic xmlns:a="http://schemas.openxmlformats.org/drawingml/2006/main">
          <a:graphicData uri="http://schemas.openxmlformats.org/drawingml/2006/table">
            <a:tbl>
              <a:tblPr/>
              <a:tblGrid>
                <a:gridCol w="2762250"/>
                <a:gridCol w="2095500"/>
                <a:gridCol w="6000750"/>
              </a:tblGrid>
              <a:tr h="762000">
                <a:tc>
                  <a:txBody>
                    <a:bodyPr lIns="114300" tIns="114300" rIns="114300" bIns="114300"/>
                    <a:lstStyle/>
                    <a:p>
                      <a:r>
                        <a:rPr sz="1725" b="1">
                          <a:solidFill>
                            <a:srgbClr val="FFFFFF"/>
                          </a:solidFill>
                          <a:latin typeface="Arial"/>
                          <a:ea typeface="Arial"/>
                          <a:cs typeface="Arial"/>
                        </a:rPr>
                        <a:t>Workstream</a:t>
                      </a:r>
                    </a:p>
                  </a:txBody>
                  <a:tcPr marL="91440" marR="91440" marT="45720" marB="45720" anchor="ctr">
                    <a:lnL w="5715">
                      <a:solidFill>
                        <a:srgbClr val="DDDDDD"/>
                      </a:solidFill>
                      <a:prstDash val="solid"/>
                    </a:lnL>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c>
                  <a:txBody>
                    <a:bodyPr lIns="114300" tIns="114300" rIns="114300" bIns="114300"/>
                    <a:lstStyle/>
                    <a:p>
                      <a:r>
                        <a:rPr sz="1725" b="1">
                          <a:solidFill>
                            <a:srgbClr val="FFFFFF"/>
                          </a:solidFill>
                          <a:latin typeface="Arial"/>
                          <a:ea typeface="Arial"/>
                          <a:cs typeface="Arial"/>
                        </a:rPr>
                        <a:t>Proposed owner</a:t>
                      </a:r>
                    </a:p>
                  </a:txBody>
                  <a:tcPr marL="91440" marR="91440" marT="45720" marB="45720" anchor="ctr">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c>
                  <a:txBody>
                    <a:bodyPr lIns="114300" tIns="114300" rIns="114300" bIns="114300"/>
                    <a:lstStyle/>
                    <a:p>
                      <a:r>
                        <a:rPr sz="1725" b="1">
                          <a:solidFill>
                            <a:srgbClr val="FFFFFF"/>
                          </a:solidFill>
                          <a:latin typeface="Arial"/>
                          <a:ea typeface="Arial"/>
                          <a:cs typeface="Arial"/>
                        </a:rPr>
                        <a:t>Next deliverable</a:t>
                      </a:r>
                    </a:p>
                  </a:txBody>
                  <a:tcPr marL="91440" marR="91440" marT="45720" marB="45720" anchor="ctr">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r>
              <a:tr h="762000">
                <a:tc>
                  <a:txBody>
                    <a:bodyPr lIns="114300" tIns="114300" rIns="114300" bIns="114300"/>
                    <a:lstStyle/>
                    <a:p>
                      <a:r>
                        <a:rPr sz="1725" b="0">
                          <a:solidFill>
                            <a:srgbClr val="222222"/>
                          </a:solidFill>
                          <a:latin typeface="Arial"/>
                          <a:ea typeface="Arial"/>
                          <a:cs typeface="Arial"/>
                        </a:rPr>
                        <a:t>SDM and protocol</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Yiwen</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Freeze choices and explain region diagnostics</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762000">
                <a:tc>
                  <a:txBody>
                    <a:bodyPr lIns="114300" tIns="114300" rIns="114300" bIns="114300"/>
                    <a:lstStyle/>
                    <a:p>
                      <a:r>
                        <a:rPr sz="1725" b="0">
                          <a:solidFill>
                            <a:srgbClr val="222222"/>
                          </a:solidFill>
                          <a:latin typeface="Arial"/>
                          <a:ea typeface="Arial"/>
                          <a:cs typeface="Arial"/>
                        </a:rPr>
                        <a:t>Dataset comparisons</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Randell</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Reconcile run artifacts and coverage results</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762000">
                <a:tc>
                  <a:txBody>
                    <a:bodyPr lIns="114300" tIns="114300" rIns="114300" bIns="114300"/>
                    <a:lstStyle/>
                    <a:p>
                      <a:r>
                        <a:rPr sz="1725" b="0">
                          <a:solidFill>
                            <a:srgbClr val="222222"/>
                          </a:solidFill>
                          <a:latin typeface="Arial"/>
                          <a:ea typeface="Arial"/>
                          <a:cs typeface="Arial"/>
                        </a:rPr>
                        <a:t>Baselines and paper</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Karim</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Integrate comparisons, figures and limitations</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573078F-D884-4EC3-98A4-D104104873BA}"/>
              </a:ext>
            </a:extLst>
          </p:cNvPr>
          <p:cNvSpPr>
            <a:spLocks xmlns:a="http://schemas.openxmlformats.org/drawingml/2006/main" noGrp="1"/>
          </p:cNvSpPr>
          <p:nvPr/>
        </p:nvSpPr>
        <p:spPr>
          <a:xfrm xmlns:a="http://schemas.openxmlformats.org/drawingml/2006/main">
            <a:off x="666750" y="52387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a:defPPr>
            <a:lvl1pPr algn="l">
              <a:defRPr sz="2025"/>
            </a:lvl1pPr>
            <a:lvl2pPr algn="l">
              <a:defRPr sz="2025"/>
            </a:lvl2pPr>
            <a:lvl3pPr algn="l">
              <a:defRPr sz="2025"/>
            </a:lvl3pPr>
            <a:lvl4pPr algn="l">
              <a:defRPr sz="2025"/>
            </a:lvl4pPr>
            <a:lvl5pPr algn="l">
              <a:defRPr sz="2025"/>
            </a:lvl5pPr>
            <a:lvl6pPr algn="l">
              <a:defRPr sz="2025"/>
            </a:lvl6pPr>
            <a:lvl7pPr algn="l">
              <a:defRPr sz="2025"/>
            </a:lvl7pPr>
            <a:lvl8pPr algn="l">
              <a:defRPr sz="2025"/>
            </a:lvl8pPr>
            <a:lvl9pPr algn="l">
              <a:defRPr sz="2025"/>
            </a:lvl9pPr>
          </a:lstStyle>
          <a:p xmlns:a="http://schemas.openxmlformats.org/drawingml/2006/main">
            <a:pPr algn="l">
              <a:defRPr sz="2025"/>
            </a:pPr>
            <a:r>
              <a:rPr sz="2025" b="0">
                <a:solidFill>
                  <a:srgbClr val="595959"/>
                </a:solidFill>
                <a:latin typeface="Arial"/>
                <a:ea typeface="Arial"/>
                <a:cs typeface="Arial"/>
              </a:rPr>
              <a:t>Priority: matched CIFAR corruption/OOD evaluation, then unfinished dataset checks. Full runs remain paused.</a:t>
            </a:r>
          </a:p>
        </p:txBody>
      </p:sp>
    </p:spTree>
    <p:extLst>
      <p:ext uri="{BB962C8B-B14F-4D97-AF65-F5344CB8AC3E}">
        <p14:creationId xmlns:p14="http://schemas.microsoft.com/office/powerpoint/2010/main" val="1451842114"/>
      </p:ext>
    </p:extLst>
  </p:cSld>
</p:sld>
</file>

<file path=ppt/slides/slide13.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7B443B1-E3E3-4AA4-808E-F3FC3E058B86}"/>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AE446E3-0C44-4A19-87AA-54C53FCF0B35}"/>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Our mission</a:t>
            </a:r>
          </a:p>
        </p:txBody>
      </p:sp>
      <p:sp>
        <p:nvSpPr>
          <p:cNvPr id="3" name="">
            <a:extLst xmlns:a="http://schemas.openxmlformats.org/drawingml/2006/main">
              <a:ext uri="{FF2B5EF4-FFF2-40B4-BE49-F238E27FC236}">
                <a16:creationId xmlns:a16="http://schemas.microsoft.com/office/drawing/2014/main" id="{6E5D7AAB-9F56-4327-871F-1D2670790E98}"/>
              </a:ext>
            </a:extLst>
          </p:cNvPr>
          <p:cNvSpPr>
            <a:spLocks xmlns:a="http://schemas.openxmlformats.org/drawingml/2006/main" noGrp="1"/>
          </p:cNvSpPr>
          <p:nvPr/>
        </p:nvSpPr>
        <p:spPr>
          <a:xfrm xmlns:a="http://schemas.openxmlformats.org/drawingml/2006/main">
            <a:off x="857250" y="2190750"/>
            <a:ext cx="10287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450"/>
            </a:defPPr>
            <a:lvl1pPr algn="l">
              <a:defRPr sz="3450"/>
            </a:lvl1pPr>
            <a:lvl2pPr algn="l">
              <a:defRPr sz="3450"/>
            </a:lvl2pPr>
            <a:lvl3pPr algn="l">
              <a:defRPr sz="3450"/>
            </a:lvl3pPr>
            <a:lvl4pPr algn="l">
              <a:defRPr sz="3450"/>
            </a:lvl4pPr>
            <a:lvl5pPr algn="l">
              <a:defRPr sz="3450"/>
            </a:lvl5pPr>
            <a:lvl6pPr algn="l">
              <a:defRPr sz="3450"/>
            </a:lvl6pPr>
            <a:lvl7pPr algn="l">
              <a:defRPr sz="3450"/>
            </a:lvl7pPr>
            <a:lvl8pPr algn="l">
              <a:defRPr sz="3450"/>
            </a:lvl8pPr>
            <a:lvl9pPr algn="l">
              <a:defRPr sz="3450"/>
            </a:lvl9pPr>
          </a:lstStyle>
          <a:p xmlns:a="http://schemas.openxmlformats.org/drawingml/2006/main">
            <a:pPr algn="l">
              <a:defRPr sz="3450"/>
            </a:pPr>
            <a:r>
              <a:rPr sz="3450" b="0">
                <a:solidFill>
                  <a:srgbClr val="002676"/>
                </a:solidFill>
                <a:latin typeface="Arial"/>
                <a:ea typeface="Arial"/>
                <a:cs typeface="Arial"/>
              </a:rPr>
              <a:t>Give vision practitioners reproducible evidence for when a classifier should answer, abstain, or defer to human review.</a:t>
            </a:r>
          </a:p>
        </p:txBody>
      </p:sp>
      <p:sp>
        <p:nvSpPr>
          <p:cNvPr id="4" name="">
            <a:extLst xmlns:a="http://schemas.openxmlformats.org/drawingml/2006/main">
              <a:ext uri="{FF2B5EF4-FFF2-40B4-BE49-F238E27FC236}">
                <a16:creationId xmlns:a16="http://schemas.microsoft.com/office/drawing/2014/main" id="{9FBC6E0D-AFB1-47B8-9A3F-524EB597F7B8}"/>
              </a:ext>
            </a:extLst>
          </p:cNvPr>
          <p:cNvSpPr>
            <a:spLocks xmlns:a="http://schemas.openxmlformats.org/drawingml/2006/main" noGrp="1"/>
          </p:cNvSpPr>
          <p:nvPr/>
        </p:nvSpPr>
        <p:spPr>
          <a:xfrm xmlns:a="http://schemas.openxmlformats.org/drawingml/2006/main">
            <a:off x="857250" y="5286375"/>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0">
                <a:solidFill>
                  <a:srgbClr val="595959"/>
                </a:solidFill>
                <a:latin typeface="Arial"/>
                <a:ea typeface="Arial"/>
                <a:cs typeface="Arial"/>
              </a:rPr>
              <a:t>Reliable accepted predictions at useful coverage</a:t>
            </a:r>
          </a:p>
        </p:txBody>
      </p:sp>
    </p:spTree>
    <p:extLst>
      <p:ext uri="{BB962C8B-B14F-4D97-AF65-F5344CB8AC3E}">
        <p14:creationId xmlns:p14="http://schemas.microsoft.com/office/powerpoint/2010/main" val="1646361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2026-10-29T20:03:39.7280000Z</dcterms:created>
  <dcterms:modified xsi:type="dcterms:W3CDTF">2026-10-29T20:03:39.7280000Z</dcterms:modified>
</coreProperties>
</file>